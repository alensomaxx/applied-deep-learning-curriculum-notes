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6256000" cy="9144000"/>
  <p:notesSz cx="6858000" cy="9144000"/>
  <p:embeddedFontLst>
    <p:embeddedFont>
      <p:font typeface="Calibri" panose="020F0502020204030204" pitchFamily="34" charset="0"/>
      <p:regular r:id="rId39"/>
      <p:bold r:id="rId40"/>
      <p:italic r:id="rId41"/>
      <p:boldItalic r:id="rId42"/>
    </p:embeddedFont>
    <p:embeddedFont>
      <p:font typeface="Open Sans" panose="020B0606030504020204" pitchFamily="34" charset="0"/>
      <p:regular r:id="rId43"/>
      <p:bold r:id="rId44"/>
      <p:italic r:id="rId45"/>
      <p:boldItalic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modifyVerifier cryptProviderType="rsaAES" cryptAlgorithmClass="hash" cryptAlgorithmType="typeAny" cryptAlgorithmSid="14" spinCount="100000" saltData="fv3PcmnaIakpW+PglsXuvQ==" hashData="np14q74Do2hIIOraL+eGWBUjoJIKp+VC1ARXCAl/7nOLftG6ELI639ixLQugI7mXUUlqw5G1plSX1poNDZ8Jlw=="/>
  <p:extLst>
    <p:ext uri="{EFAFB233-063F-42B5-8137-9DF3F51BA10A}">
      <p15:sldGuideLst xmlns:p15="http://schemas.microsoft.com/office/powerpoint/2012/main">
        <p15:guide id="1" pos="4757">
          <p15:clr>
            <a:srgbClr val="A4A3A4"/>
          </p15:clr>
        </p15:guide>
        <p15:guide id="2" orient="horz" pos="431">
          <p15:clr>
            <a:srgbClr val="A4A3A4"/>
          </p15:clr>
        </p15:guide>
        <p15:guide id="3" pos="546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7" roundtripDataSignature="AMtx7mjvhFccsmjavcEhcWKnoq/QxH8C2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D866A2-BF44-40DB-847F-FC6C7E356A4D}" v="1" dt="2023-12-29T08:58:55.335"/>
  </p1510:revLst>
</p1510:revInfo>
</file>

<file path=ppt/tableStyles.xml><?xml version="1.0" encoding="utf-8"?>
<a:tblStyleLst xmlns:a="http://schemas.openxmlformats.org/drawingml/2006/main" def="{3451E598-09E1-43EC-B2AC-09E2A2E3DA04}">
  <a:tblStyle styleId="{3451E598-09E1-43EC-B2AC-09E2A2E3DA04}" styleName="Table_0">
    <a:wholeTbl>
      <a:tcTxStyle b="off" i="off">
        <a:font>
          <a:latin typeface="Open Sans"/>
          <a:ea typeface="Open Sans"/>
          <a:cs typeface="Open San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Open Sans"/>
          <a:ea typeface="Open Sans"/>
          <a:cs typeface="Open San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Open Sans"/>
          <a:ea typeface="Open Sans"/>
          <a:cs typeface="Open San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Open Sans"/>
          <a:ea typeface="Open Sans"/>
          <a:cs typeface="Open San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Open Sans"/>
          <a:ea typeface="Open Sans"/>
          <a:cs typeface="Open San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47D01E6-4629-4F39-B131-EA1D3E16BC4B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858" y="66"/>
      </p:cViewPr>
      <p:guideLst>
        <p:guide pos="4757"/>
        <p:guide orient="horz" pos="431"/>
        <p:guide pos="546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4.fntdata"/><Relationship Id="rId47" Type="http://customschemas.google.com/relationships/presentationmetadata" Target="meta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2.fntdata"/><Relationship Id="rId45" Type="http://schemas.openxmlformats.org/officeDocument/2006/relationships/font" Target="fonts/font7.fntdata"/><Relationship Id="rId53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6.fntdata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5.fntdata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46" Type="http://schemas.openxmlformats.org/officeDocument/2006/relationships/font" Target="fonts/font8.fntdata"/><Relationship Id="rId20" Type="http://schemas.openxmlformats.org/officeDocument/2006/relationships/slide" Target="slides/slide19.xml"/><Relationship Id="rId41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kas Singh" userId="41e88e25-583f-4ea6-978b-2322b3c60e9f" providerId="ADAL" clId="{B0D866A2-BF44-40DB-847F-FC6C7E356A4D}"/>
    <pc:docChg chg="addSld delSld modSld">
      <pc:chgData name="Vikas Singh" userId="41e88e25-583f-4ea6-978b-2322b3c60e9f" providerId="ADAL" clId="{B0D866A2-BF44-40DB-847F-FC6C7E356A4D}" dt="2023-12-29T08:58:55.226" v="1"/>
      <pc:docMkLst>
        <pc:docMk/>
      </pc:docMkLst>
      <pc:sldChg chg="add del setBg">
        <pc:chgData name="Vikas Singh" userId="41e88e25-583f-4ea6-978b-2322b3c60e9f" providerId="ADAL" clId="{B0D866A2-BF44-40DB-847F-FC6C7E356A4D}" dt="2023-12-29T08:58:55.226" v="1"/>
        <pc:sldMkLst>
          <pc:docMk/>
          <pc:sldMk cId="0" sldId="284"/>
        </pc:sldMkLst>
      </pc:sldChg>
      <pc:sldChg chg="add del">
        <pc:chgData name="Vikas Singh" userId="41e88e25-583f-4ea6-978b-2322b3c60e9f" providerId="ADAL" clId="{B0D866A2-BF44-40DB-847F-FC6C7E356A4D}" dt="2023-12-29T08:58:55.226" v="1"/>
        <pc:sldMkLst>
          <pc:docMk/>
          <pc:sldMk cId="0" sldId="285"/>
        </pc:sldMkLst>
      </pc:sldChg>
      <pc:sldChg chg="add del">
        <pc:chgData name="Vikas Singh" userId="41e88e25-583f-4ea6-978b-2322b3c60e9f" providerId="ADAL" clId="{B0D866A2-BF44-40DB-847F-FC6C7E356A4D}" dt="2023-12-29T08:58:55.226" v="1"/>
        <pc:sldMkLst>
          <pc:docMk/>
          <pc:sldMk cId="0" sldId="286"/>
        </pc:sldMkLst>
      </pc:sldChg>
      <pc:sldChg chg="add del">
        <pc:chgData name="Vikas Singh" userId="41e88e25-583f-4ea6-978b-2322b3c60e9f" providerId="ADAL" clId="{B0D866A2-BF44-40DB-847F-FC6C7E356A4D}" dt="2023-12-29T08:58:55.226" v="1"/>
        <pc:sldMkLst>
          <pc:docMk/>
          <pc:sldMk cId="0" sldId="287"/>
        </pc:sldMkLst>
      </pc:sldChg>
      <pc:sldChg chg="add del">
        <pc:chgData name="Vikas Singh" userId="41e88e25-583f-4ea6-978b-2322b3c60e9f" providerId="ADAL" clId="{B0D866A2-BF44-40DB-847F-FC6C7E356A4D}" dt="2023-12-29T08:58:55.226" v="1"/>
        <pc:sldMkLst>
          <pc:docMk/>
          <pc:sldMk cId="0" sldId="288"/>
        </pc:sldMkLst>
      </pc:sldChg>
      <pc:sldChg chg="add del">
        <pc:chgData name="Vikas Singh" userId="41e88e25-583f-4ea6-978b-2322b3c60e9f" providerId="ADAL" clId="{B0D866A2-BF44-40DB-847F-FC6C7E356A4D}" dt="2023-12-29T08:58:55.226" v="1"/>
        <pc:sldMkLst>
          <pc:docMk/>
          <pc:sldMk cId="0" sldId="289"/>
        </pc:sldMkLst>
      </pc:sldChg>
      <pc:sldChg chg="add del">
        <pc:chgData name="Vikas Singh" userId="41e88e25-583f-4ea6-978b-2322b3c60e9f" providerId="ADAL" clId="{B0D866A2-BF44-40DB-847F-FC6C7E356A4D}" dt="2023-12-29T08:58:55.226" v="1"/>
        <pc:sldMkLst>
          <pc:docMk/>
          <pc:sldMk cId="0" sldId="290"/>
        </pc:sldMkLst>
      </pc:sldChg>
      <pc:sldMasterChg chg="delSldLayout">
        <pc:chgData name="Vikas Singh" userId="41e88e25-583f-4ea6-978b-2322b3c60e9f" providerId="ADAL" clId="{B0D866A2-BF44-40DB-847F-FC6C7E356A4D}" dt="2023-12-29T08:58:52.734" v="0" actId="47"/>
        <pc:sldMasterMkLst>
          <pc:docMk/>
          <pc:sldMasterMk cId="0" sldId="2147483648"/>
        </pc:sldMasterMkLst>
        <pc:sldLayoutChg chg="del">
          <pc:chgData name="Vikas Singh" userId="41e88e25-583f-4ea6-978b-2322b3c60e9f" providerId="ADAL" clId="{B0D866A2-BF44-40DB-847F-FC6C7E356A4D}" dt="2023-12-29T08:58:52.734" v="0" actId="47"/>
          <pc:sldLayoutMkLst>
            <pc:docMk/>
            <pc:sldMasterMk cId="0" sldId="2147483648"/>
            <pc:sldLayoutMk cId="0" sldId="2147483656"/>
          </pc:sldLayoutMkLst>
        </pc:sldLayoutChg>
        <pc:sldLayoutChg chg="del">
          <pc:chgData name="Vikas Singh" userId="41e88e25-583f-4ea6-978b-2322b3c60e9f" providerId="ADAL" clId="{B0D866A2-BF44-40DB-847F-FC6C7E356A4D}" dt="2023-12-29T08:58:52.734" v="0" actId="47"/>
          <pc:sldLayoutMkLst>
            <pc:docMk/>
            <pc:sldMasterMk cId="0" sldId="2147483648"/>
            <pc:sldLayoutMk cId="0" sldId="2147483657"/>
          </pc:sldLayoutMkLst>
        </pc:sldLayoutChg>
        <pc:sldLayoutChg chg="del">
          <pc:chgData name="Vikas Singh" userId="41e88e25-583f-4ea6-978b-2322b3c60e9f" providerId="ADAL" clId="{B0D866A2-BF44-40DB-847F-FC6C7E356A4D}" dt="2023-12-29T08:58:52.734" v="0" actId="47"/>
          <pc:sldLayoutMkLst>
            <pc:docMk/>
            <pc:sldMasterMk cId="0" sldId="2147483648"/>
            <pc:sldLayoutMk cId="0" sldId="2147483658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Book1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Book1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strRef>
              <c:f>Sheet1!$F$9</c:f>
              <c:strCache>
                <c:ptCount val="1"/>
                <c:pt idx="0">
                  <c:v>evolution</c:v>
                </c:pt>
              </c:strCache>
            </c:strRef>
          </c:tx>
          <c:spPr>
            <a:ln w="25400">
              <a:noFill/>
            </a:ln>
          </c:spPr>
          <c:marker>
            <c:symbol val="circle"/>
            <c:size val="12"/>
          </c:marker>
          <c:dPt>
            <c:idx val="0"/>
            <c:marker>
              <c:spPr>
                <a:solidFill>
                  <a:srgbClr val="C55A11"/>
                </a:solidFill>
                <a:ln w="9525">
                  <a:noFill/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0C6D-3345-87E8-DEE1C02ABAC4}"/>
              </c:ext>
            </c:extLst>
          </c:dPt>
          <c:dPt>
            <c:idx val="1"/>
            <c:marker>
              <c:spPr>
                <a:solidFill>
                  <a:srgbClr val="02B14E"/>
                </a:solidFill>
                <a:ln w="9525">
                  <a:noFill/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0C6D-3345-87E8-DEE1C02ABAC4}"/>
              </c:ext>
            </c:extLst>
          </c:dPt>
          <c:dPt>
            <c:idx val="2"/>
            <c:marker>
              <c:spPr>
                <a:solidFill>
                  <a:srgbClr val="C55A11"/>
                </a:solidFill>
                <a:ln w="25400">
                  <a:noFill/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0C6D-3345-87E8-DEE1C02ABAC4}"/>
              </c:ext>
            </c:extLst>
          </c:dPt>
          <c:dPt>
            <c:idx val="3"/>
            <c:marker>
              <c:spPr>
                <a:solidFill>
                  <a:srgbClr val="02B14E"/>
                </a:solidFill>
                <a:ln w="25400">
                  <a:noFill/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7-0C6D-3345-87E8-DEE1C02ABAC4}"/>
              </c:ext>
            </c:extLst>
          </c:dPt>
          <c:dPt>
            <c:idx val="4"/>
            <c:marker>
              <c:spPr>
                <a:solidFill>
                  <a:srgbClr val="C55A11"/>
                </a:solidFill>
                <a:ln w="9525">
                  <a:noFill/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0C6D-3345-87E8-DEE1C02ABAC4}"/>
              </c:ext>
            </c:extLst>
          </c:dPt>
          <c:xVal>
            <c:numRef>
              <c:f>Sheet1!$G$8:$K$8</c:f>
              <c:numCache>
                <c:formatCode>General</c:formatCode>
                <c:ptCount val="5"/>
                <c:pt idx="0">
                  <c:v>250</c:v>
                </c:pt>
                <c:pt idx="1">
                  <c:v>48</c:v>
                </c:pt>
                <c:pt idx="2">
                  <c:v>280</c:v>
                </c:pt>
                <c:pt idx="3">
                  <c:v>64</c:v>
                </c:pt>
                <c:pt idx="4">
                  <c:v>450</c:v>
                </c:pt>
              </c:numCache>
            </c:numRef>
          </c:xVal>
          <c:yVal>
            <c:numRef>
              <c:f>Sheet1!$G$9:$K$9</c:f>
              <c:numCache>
                <c:formatCode>General</c:formatCode>
                <c:ptCount val="5"/>
                <c:pt idx="0">
                  <c:v>50</c:v>
                </c:pt>
                <c:pt idx="1">
                  <c:v>280</c:v>
                </c:pt>
                <c:pt idx="2">
                  <c:v>30</c:v>
                </c:pt>
                <c:pt idx="3">
                  <c:v>380</c:v>
                </c:pt>
                <c:pt idx="4">
                  <c:v>12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A-0C6D-3345-87E8-DEE1C02ABA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04103615"/>
        <c:axId val="1482332063"/>
      </c:scatterChart>
      <c:valAx>
        <c:axId val="170410361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 sz="200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Count of word </a:t>
                </a:r>
                <a:r>
                  <a:rPr lang="en-GB" sz="2000" b="1" i="1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classification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out"/>
        <c:minorTickMark val="none"/>
        <c:tickLblPos val="nextTo"/>
        <c:spPr>
          <a:noFill/>
          <a:ln w="222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pPr>
            <a:endParaRPr lang="en-US"/>
          </a:p>
        </c:txPr>
        <c:crossAx val="1482332063"/>
        <c:crosses val="autoZero"/>
        <c:crossBetween val="midCat"/>
      </c:valAx>
      <c:valAx>
        <c:axId val="1482332063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 sz="200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Count of word </a:t>
                </a:r>
                <a:r>
                  <a:rPr lang="en-GB" sz="2000" b="1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evolution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out"/>
        <c:minorTickMark val="none"/>
        <c:tickLblPos val="nextTo"/>
        <c:spPr>
          <a:noFill/>
          <a:ln w="222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pPr>
            <a:endParaRPr lang="en-US"/>
          </a:p>
        </c:txPr>
        <c:crossAx val="1704103615"/>
        <c:crosses val="autoZero"/>
        <c:crossBetween val="midCat"/>
        <c:majorUnit val="100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strRef>
              <c:f>Sheet1!$F$9</c:f>
              <c:strCache>
                <c:ptCount val="1"/>
                <c:pt idx="0">
                  <c:v>evolution</c:v>
                </c:pt>
              </c:strCache>
            </c:strRef>
          </c:tx>
          <c:spPr>
            <a:ln w="25400">
              <a:noFill/>
            </a:ln>
          </c:spPr>
          <c:marker>
            <c:symbol val="circle"/>
            <c:size val="12"/>
          </c:marker>
          <c:dPt>
            <c:idx val="0"/>
            <c:marker>
              <c:spPr>
                <a:solidFill>
                  <a:srgbClr val="C55A11"/>
                </a:solidFill>
                <a:ln w="9525">
                  <a:noFill/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245C-B644-84A0-E63C7DFB120C}"/>
              </c:ext>
            </c:extLst>
          </c:dPt>
          <c:dPt>
            <c:idx val="1"/>
            <c:marker>
              <c:spPr>
                <a:solidFill>
                  <a:srgbClr val="02B14E"/>
                </a:solidFill>
                <a:ln w="9525">
                  <a:noFill/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245C-B644-84A0-E63C7DFB120C}"/>
              </c:ext>
            </c:extLst>
          </c:dPt>
          <c:dPt>
            <c:idx val="2"/>
            <c:marker>
              <c:spPr>
                <a:solidFill>
                  <a:srgbClr val="C55A11"/>
                </a:solidFill>
                <a:ln w="25400">
                  <a:noFill/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245C-B644-84A0-E63C7DFB120C}"/>
              </c:ext>
            </c:extLst>
          </c:dPt>
          <c:dPt>
            <c:idx val="3"/>
            <c:marker>
              <c:spPr>
                <a:solidFill>
                  <a:srgbClr val="02B14E"/>
                </a:solidFill>
                <a:ln w="25400">
                  <a:noFill/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7-245C-B644-84A0-E63C7DFB120C}"/>
              </c:ext>
            </c:extLst>
          </c:dPt>
          <c:dPt>
            <c:idx val="4"/>
            <c:marker>
              <c:spPr>
                <a:solidFill>
                  <a:srgbClr val="C55A11"/>
                </a:solidFill>
                <a:ln w="9525">
                  <a:noFill/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245C-B644-84A0-E63C7DFB120C}"/>
              </c:ext>
            </c:extLst>
          </c:dPt>
          <c:xVal>
            <c:numRef>
              <c:f>Sheet1!$G$8:$K$8</c:f>
              <c:numCache>
                <c:formatCode>General</c:formatCode>
                <c:ptCount val="5"/>
                <c:pt idx="0">
                  <c:v>250</c:v>
                </c:pt>
                <c:pt idx="1">
                  <c:v>48</c:v>
                </c:pt>
                <c:pt idx="2">
                  <c:v>280</c:v>
                </c:pt>
                <c:pt idx="3">
                  <c:v>64</c:v>
                </c:pt>
                <c:pt idx="4">
                  <c:v>450</c:v>
                </c:pt>
              </c:numCache>
            </c:numRef>
          </c:xVal>
          <c:yVal>
            <c:numRef>
              <c:f>Sheet1!$G$9:$K$9</c:f>
              <c:numCache>
                <c:formatCode>General</c:formatCode>
                <c:ptCount val="5"/>
                <c:pt idx="0">
                  <c:v>50</c:v>
                </c:pt>
                <c:pt idx="1">
                  <c:v>280</c:v>
                </c:pt>
                <c:pt idx="2">
                  <c:v>30</c:v>
                </c:pt>
                <c:pt idx="3">
                  <c:v>380</c:v>
                </c:pt>
                <c:pt idx="4">
                  <c:v>12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A-245C-B644-84A0-E63C7DFB12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04103615"/>
        <c:axId val="1482332063"/>
      </c:scatterChart>
      <c:valAx>
        <c:axId val="170410361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 sz="200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Count of word </a:t>
                </a:r>
                <a:r>
                  <a:rPr lang="en-GB" sz="2000" b="1" i="1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classification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out"/>
        <c:minorTickMark val="none"/>
        <c:tickLblPos val="nextTo"/>
        <c:spPr>
          <a:noFill/>
          <a:ln w="222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pPr>
            <a:endParaRPr lang="en-US"/>
          </a:p>
        </c:txPr>
        <c:crossAx val="1482332063"/>
        <c:crosses val="autoZero"/>
        <c:crossBetween val="midCat"/>
      </c:valAx>
      <c:valAx>
        <c:axId val="1482332063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 sz="200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Count of word </a:t>
                </a:r>
                <a:r>
                  <a:rPr lang="en-GB" sz="2000" b="1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evolution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out"/>
        <c:minorTickMark val="none"/>
        <c:tickLblPos val="nextTo"/>
        <c:spPr>
          <a:noFill/>
          <a:ln w="222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pPr>
            <a:endParaRPr lang="en-US"/>
          </a:p>
        </c:txPr>
        <c:crossAx val="1704103615"/>
        <c:crosses val="autoZero"/>
        <c:crossBetween val="midCat"/>
        <c:majorUnit val="100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Open Sans"/>
              <a:buNone/>
            </a:pPr>
            <a:r>
              <a:rPr lang="en-US" sz="1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RGB : R-221, G-234, B-246</a:t>
            </a:r>
            <a:endParaRPr/>
          </a:p>
        </p:txBody>
      </p:sp>
      <p:sp>
        <p:nvSpPr>
          <p:cNvPr id="220" name="Google Shape;220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6" name="Google Shape;576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1" name="Google Shape;581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3" name="Google Shape;59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6" name="Google Shape;616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2" name="Google Shape;632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6" name="Google Shape;646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6" name="Google Shape;656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8" name="Google Shape;668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0" name="Google Shape;690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0" name="Google Shape;700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2" name="Google Shape;712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urse Name">
  <p:cSld name="Course Nam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8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8"/>
          <p:cNvSpPr txBox="1">
            <a:spLocks noGrp="1"/>
          </p:cNvSpPr>
          <p:nvPr>
            <p:ph type="body" idx="1"/>
          </p:nvPr>
        </p:nvSpPr>
        <p:spPr>
          <a:xfrm>
            <a:off x="653386" y="4114800"/>
            <a:ext cx="7835706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sson Name">
  <p:cSld name="Lesson Nam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9"/>
          <p:cNvSpPr txBox="1">
            <a:spLocks noGrp="1"/>
          </p:cNvSpPr>
          <p:nvPr>
            <p:ph type="body" idx="1"/>
          </p:nvPr>
        </p:nvSpPr>
        <p:spPr>
          <a:xfrm>
            <a:off x="653386" y="4114800"/>
            <a:ext cx="7835706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5120">
          <p15:clr>
            <a:srgbClr val="00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arning Objectives">
  <p:cSld name="Learning Objective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0"/>
          <p:cNvSpPr/>
          <p:nvPr/>
        </p:nvSpPr>
        <p:spPr>
          <a:xfrm>
            <a:off x="2747395" y="274390"/>
            <a:ext cx="4819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</a:pPr>
            <a:r>
              <a:rPr lang="en-US" sz="2800" b="1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Learning Objectives</a:t>
            </a:r>
            <a:endParaRPr sz="14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40"/>
          <p:cNvSpPr/>
          <p:nvPr/>
        </p:nvSpPr>
        <p:spPr>
          <a:xfrm>
            <a:off x="718944" y="1933649"/>
            <a:ext cx="7888027" cy="55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By the end of this lesson, you will be able to:</a:t>
            </a:r>
            <a:endParaRPr sz="1800" b="0" i="0" u="none" strike="noStrike" cap="non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" name="Google Shape;22;p40"/>
          <p:cNvSpPr/>
          <p:nvPr/>
        </p:nvSpPr>
        <p:spPr>
          <a:xfrm>
            <a:off x="2967652" y="837660"/>
            <a:ext cx="4391501" cy="3810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25000">
                <a:srgbClr val="3645A9"/>
              </a:gs>
              <a:gs pos="50000">
                <a:srgbClr val="3645A9"/>
              </a:gs>
              <a:gs pos="75000">
                <a:srgbClr val="3645A9"/>
              </a:gs>
              <a:gs pos="100000">
                <a:srgbClr val="FFFFFF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" name="Google Shape;23;p40"/>
          <p:cNvSpPr txBox="1">
            <a:spLocks noGrp="1"/>
          </p:cNvSpPr>
          <p:nvPr>
            <p:ph type="body" idx="1"/>
          </p:nvPr>
        </p:nvSpPr>
        <p:spPr>
          <a:xfrm>
            <a:off x="1332875" y="2758746"/>
            <a:ext cx="9036000" cy="10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>
                <a:solidFill>
                  <a:srgbClr val="3F3F3F"/>
                </a:solidFill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0"/>
          <p:cNvSpPr txBox="1">
            <a:spLocks noGrp="1"/>
          </p:cNvSpPr>
          <p:nvPr>
            <p:ph type="body" idx="2"/>
          </p:nvPr>
        </p:nvSpPr>
        <p:spPr>
          <a:xfrm>
            <a:off x="1332356" y="3558751"/>
            <a:ext cx="9036000" cy="10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>
                <a:solidFill>
                  <a:srgbClr val="3F3F3F"/>
                </a:solidFill>
              </a:defRPr>
            </a:lvl1pPr>
            <a:lvl2pPr marL="914400" lvl="1" indent="-3683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Char char="•"/>
              <a:defRPr/>
            </a:lvl2pPr>
            <a:lvl3pPr marL="1371600" lvl="2" indent="-3683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40"/>
          <p:cNvSpPr txBox="1">
            <a:spLocks noGrp="1"/>
          </p:cNvSpPr>
          <p:nvPr>
            <p:ph type="body" idx="3"/>
          </p:nvPr>
        </p:nvSpPr>
        <p:spPr>
          <a:xfrm>
            <a:off x="1331837" y="4383470"/>
            <a:ext cx="9036000" cy="10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>
                <a:solidFill>
                  <a:srgbClr val="3F3F3F"/>
                </a:solidFill>
              </a:defRPr>
            </a:lvl1pPr>
            <a:lvl2pPr marL="914400" lvl="1" indent="-3683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Char char="•"/>
              <a:defRPr/>
            </a:lvl2pPr>
            <a:lvl3pPr marL="1371600" lvl="2" indent="-3683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40"/>
          <p:cNvSpPr txBox="1">
            <a:spLocks noGrp="1"/>
          </p:cNvSpPr>
          <p:nvPr>
            <p:ph type="body" idx="4"/>
          </p:nvPr>
        </p:nvSpPr>
        <p:spPr>
          <a:xfrm>
            <a:off x="1332873" y="5195833"/>
            <a:ext cx="9034445" cy="1010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>
                <a:solidFill>
                  <a:srgbClr val="3F3F3F"/>
                </a:solidFill>
              </a:defRPr>
            </a:lvl1pPr>
            <a:lvl2pPr marL="914400" lvl="1" indent="-3683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Char char="•"/>
              <a:defRPr/>
            </a:lvl2pPr>
            <a:lvl3pPr marL="1371600" lvl="2" indent="-3683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opic Name">
  <p:cSld name="Topic Name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8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1"/>
          <p:cNvSpPr txBox="1">
            <a:spLocks noGrp="1"/>
          </p:cNvSpPr>
          <p:nvPr>
            <p:ph type="body" idx="1"/>
          </p:nvPr>
        </p:nvSpPr>
        <p:spPr>
          <a:xfrm>
            <a:off x="0" y="4114800"/>
            <a:ext cx="16256001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  <a:defRPr sz="2800" b="1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">
  <p:cSld name="Content Slide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4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2"/>
          <p:cNvSpPr txBox="1">
            <a:spLocks noGrp="1"/>
          </p:cNvSpPr>
          <p:nvPr>
            <p:ph type="body" idx="1"/>
          </p:nvPr>
        </p:nvSpPr>
        <p:spPr>
          <a:xfrm>
            <a:off x="1291858" y="2603120"/>
            <a:ext cx="13696998" cy="5527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42"/>
          <p:cNvSpPr txBox="1">
            <a:spLocks noGrp="1"/>
          </p:cNvSpPr>
          <p:nvPr>
            <p:ph type="body" idx="2"/>
          </p:nvPr>
        </p:nvSpPr>
        <p:spPr>
          <a:xfrm>
            <a:off x="1291857" y="1512833"/>
            <a:ext cx="13696999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  <a:def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34" name="Google Shape;34;p42" descr="A picture containing colorfulness, pattern, rectangle, screensho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66008" y="913238"/>
            <a:ext cx="1219478" cy="7291461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42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llet_Content_Slide">
  <p:cSld name="Bullet_Content_Slide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4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3"/>
          <p:cNvSpPr txBox="1">
            <a:spLocks noGrp="1"/>
          </p:cNvSpPr>
          <p:nvPr>
            <p:ph type="body" idx="1"/>
          </p:nvPr>
        </p:nvSpPr>
        <p:spPr>
          <a:xfrm>
            <a:off x="1291857" y="1512833"/>
            <a:ext cx="13696999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39" name="Google Shape;39;p43" descr="A picture containing colorfulness, pattern, rectangle, screensho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66008" y="897196"/>
            <a:ext cx="1219478" cy="7291461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43"/>
          <p:cNvSpPr txBox="1">
            <a:spLocks noGrp="1"/>
          </p:cNvSpPr>
          <p:nvPr>
            <p:ph type="body" idx="2"/>
          </p:nvPr>
        </p:nvSpPr>
        <p:spPr>
          <a:xfrm>
            <a:off x="1285825" y="2612636"/>
            <a:ext cx="13697000" cy="5517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>
                <a:solidFill>
                  <a:srgbClr val="3F3F3F"/>
                </a:solidFill>
              </a:defRPr>
            </a:lvl1pPr>
            <a:lvl2pPr marL="914400" lvl="1" indent="-3683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Char char="•"/>
              <a:defRPr>
                <a:solidFill>
                  <a:srgbClr val="3F3F3F"/>
                </a:solidFill>
              </a:defRPr>
            </a:lvl2pPr>
            <a:lvl3pPr marL="1371600" lvl="2" indent="-3683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Courier New"/>
              <a:buChar char="o"/>
              <a:defRPr>
                <a:solidFill>
                  <a:srgbClr val="3F3F3F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43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ey Takeaways">
  <p:cSld name="Key Takeaways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4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44"/>
          <p:cNvSpPr/>
          <p:nvPr/>
        </p:nvSpPr>
        <p:spPr>
          <a:xfrm>
            <a:off x="2747395" y="274390"/>
            <a:ext cx="4819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286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</a:pPr>
            <a:r>
              <a:rPr lang="en-US" sz="2800" b="1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Key Takeaways</a:t>
            </a:r>
            <a:endParaRPr sz="14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44"/>
          <p:cNvSpPr/>
          <p:nvPr/>
        </p:nvSpPr>
        <p:spPr>
          <a:xfrm>
            <a:off x="3559993" y="837660"/>
            <a:ext cx="3377485" cy="3810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25000">
                <a:srgbClr val="3645A9"/>
              </a:gs>
              <a:gs pos="50000">
                <a:srgbClr val="3645A9"/>
              </a:gs>
              <a:gs pos="75000">
                <a:srgbClr val="3645A9"/>
              </a:gs>
              <a:gs pos="100000">
                <a:srgbClr val="FFFFFF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6" name="Google Shape;46;p44"/>
          <p:cNvSpPr txBox="1">
            <a:spLocks noGrp="1"/>
          </p:cNvSpPr>
          <p:nvPr>
            <p:ph type="body" idx="1"/>
          </p:nvPr>
        </p:nvSpPr>
        <p:spPr>
          <a:xfrm>
            <a:off x="1332875" y="1967907"/>
            <a:ext cx="9036000" cy="10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>
                <a:solidFill>
                  <a:srgbClr val="3F3F3F"/>
                </a:solidFill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44"/>
          <p:cNvSpPr txBox="1">
            <a:spLocks noGrp="1"/>
          </p:cNvSpPr>
          <p:nvPr>
            <p:ph type="body" idx="2"/>
          </p:nvPr>
        </p:nvSpPr>
        <p:spPr>
          <a:xfrm>
            <a:off x="1332356" y="2755555"/>
            <a:ext cx="9036000" cy="10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>
                <a:solidFill>
                  <a:srgbClr val="3F3F3F"/>
                </a:solidFill>
              </a:defRPr>
            </a:lvl1pPr>
            <a:lvl2pPr marL="914400" lvl="1" indent="-3683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Char char="•"/>
              <a:defRPr/>
            </a:lvl2pPr>
            <a:lvl3pPr marL="1371600" lvl="2" indent="-3683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44"/>
          <p:cNvSpPr txBox="1">
            <a:spLocks noGrp="1"/>
          </p:cNvSpPr>
          <p:nvPr>
            <p:ph type="body" idx="3"/>
          </p:nvPr>
        </p:nvSpPr>
        <p:spPr>
          <a:xfrm>
            <a:off x="1331837" y="3567917"/>
            <a:ext cx="9036000" cy="10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>
                <a:solidFill>
                  <a:srgbClr val="3F3F3F"/>
                </a:solidFill>
              </a:defRPr>
            </a:lvl1pPr>
            <a:lvl2pPr marL="914400" lvl="1" indent="-3683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Char char="•"/>
              <a:defRPr/>
            </a:lvl2pPr>
            <a:lvl3pPr marL="1371600" lvl="2" indent="-3683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44"/>
          <p:cNvSpPr txBox="1">
            <a:spLocks noGrp="1"/>
          </p:cNvSpPr>
          <p:nvPr>
            <p:ph type="body" idx="4"/>
          </p:nvPr>
        </p:nvSpPr>
        <p:spPr>
          <a:xfrm>
            <a:off x="1332873" y="4392637"/>
            <a:ext cx="9034445" cy="1010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>
                <a:solidFill>
                  <a:srgbClr val="3F3F3F"/>
                </a:solidFill>
              </a:defRPr>
            </a:lvl1pPr>
            <a:lvl2pPr marL="914400" lvl="1" indent="-3683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Char char="•"/>
              <a:defRPr/>
            </a:lvl2pPr>
            <a:lvl3pPr marL="1371600" lvl="2" indent="-3683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You Already Know">
  <p:cSld name="You Already Know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4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48"/>
          <p:cNvSpPr/>
          <p:nvPr/>
        </p:nvSpPr>
        <p:spPr>
          <a:xfrm>
            <a:off x="5718038" y="322216"/>
            <a:ext cx="48199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You Already Know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48"/>
          <p:cNvSpPr txBox="1">
            <a:spLocks noGrp="1"/>
          </p:cNvSpPr>
          <p:nvPr>
            <p:ph type="body" idx="1"/>
          </p:nvPr>
        </p:nvSpPr>
        <p:spPr>
          <a:xfrm>
            <a:off x="1291858" y="2603120"/>
            <a:ext cx="13696998" cy="5527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48"/>
          <p:cNvSpPr txBox="1">
            <a:spLocks noGrp="1"/>
          </p:cNvSpPr>
          <p:nvPr>
            <p:ph type="body" idx="2"/>
          </p:nvPr>
        </p:nvSpPr>
        <p:spPr>
          <a:xfrm>
            <a:off x="1291857" y="1512833"/>
            <a:ext cx="13696999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  <a:def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120">
          <p15:clr>
            <a:srgbClr val="00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llet_You_already_know">
  <p:cSld name="Bullet_You_already_know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4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49"/>
          <p:cNvSpPr/>
          <p:nvPr/>
        </p:nvSpPr>
        <p:spPr>
          <a:xfrm>
            <a:off x="5718038" y="322216"/>
            <a:ext cx="48199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You Already Know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49"/>
          <p:cNvSpPr txBox="1">
            <a:spLocks noGrp="1"/>
          </p:cNvSpPr>
          <p:nvPr>
            <p:ph type="body" idx="1"/>
          </p:nvPr>
        </p:nvSpPr>
        <p:spPr>
          <a:xfrm>
            <a:off x="1250783" y="1512887"/>
            <a:ext cx="13732042" cy="6618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>
                <a:solidFill>
                  <a:srgbClr val="3F3F3F"/>
                </a:solidFill>
              </a:defRPr>
            </a:lvl1pPr>
            <a:lvl2pPr marL="914400" lvl="1" indent="-3683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Char char="•"/>
              <a:defRPr>
                <a:solidFill>
                  <a:srgbClr val="3F3F3F"/>
                </a:solidFill>
              </a:defRPr>
            </a:lvl2pPr>
            <a:lvl3pPr marL="1371600" lvl="2" indent="-3683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Courier New"/>
              <a:buChar char="o"/>
              <a:defRPr>
                <a:solidFill>
                  <a:srgbClr val="3F3F3F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cap">
  <p:cSld name="Recap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5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256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50"/>
          <p:cNvSpPr/>
          <p:nvPr/>
        </p:nvSpPr>
        <p:spPr>
          <a:xfrm>
            <a:off x="352712" y="438867"/>
            <a:ext cx="240496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Recap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50"/>
          <p:cNvSpPr txBox="1">
            <a:spLocks noGrp="1"/>
          </p:cNvSpPr>
          <p:nvPr>
            <p:ph type="body" idx="1"/>
          </p:nvPr>
        </p:nvSpPr>
        <p:spPr>
          <a:xfrm>
            <a:off x="844889" y="1622017"/>
            <a:ext cx="10807533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3" name="Google Shape;103;p50"/>
          <p:cNvSpPr txBox="1">
            <a:spLocks noGrp="1"/>
          </p:cNvSpPr>
          <p:nvPr>
            <p:ph type="body" idx="2"/>
          </p:nvPr>
        </p:nvSpPr>
        <p:spPr>
          <a:xfrm>
            <a:off x="812800" y="2712304"/>
            <a:ext cx="10839622" cy="5527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 day in the life">
  <p:cSld name="A day in the life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5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8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51"/>
          <p:cNvSpPr txBox="1">
            <a:spLocks noGrp="1"/>
          </p:cNvSpPr>
          <p:nvPr>
            <p:ph type="body" idx="1"/>
          </p:nvPr>
        </p:nvSpPr>
        <p:spPr>
          <a:xfrm>
            <a:off x="844889" y="1622017"/>
            <a:ext cx="10807533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7" name="Google Shape;107;p51"/>
          <p:cNvSpPr txBox="1">
            <a:spLocks noGrp="1"/>
          </p:cNvSpPr>
          <p:nvPr>
            <p:ph type="body" idx="2"/>
          </p:nvPr>
        </p:nvSpPr>
        <p:spPr>
          <a:xfrm>
            <a:off x="812800" y="2712304"/>
            <a:ext cx="10839622" cy="5527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51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llets_for_Aday_Recap">
  <p:cSld name="Bullets_for_Aday_Recap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2"/>
          <p:cNvSpPr txBox="1">
            <a:spLocks noGrp="1"/>
          </p:cNvSpPr>
          <p:nvPr>
            <p:ph type="body" idx="1"/>
          </p:nvPr>
        </p:nvSpPr>
        <p:spPr>
          <a:xfrm>
            <a:off x="844889" y="1512833"/>
            <a:ext cx="10807533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>
                <a:solidFill>
                  <a:srgbClr val="3F3F3F"/>
                </a:solidFill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1" name="Google Shape;111;p52"/>
          <p:cNvSpPr txBox="1">
            <a:spLocks noGrp="1"/>
          </p:cNvSpPr>
          <p:nvPr>
            <p:ph type="body" idx="2"/>
          </p:nvPr>
        </p:nvSpPr>
        <p:spPr>
          <a:xfrm>
            <a:off x="844550" y="2603500"/>
            <a:ext cx="10807700" cy="5538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>
                <a:solidFill>
                  <a:srgbClr val="3F3F3F"/>
                </a:solidFill>
              </a:defRPr>
            </a:lvl1pPr>
            <a:lvl2pPr marL="914400" lvl="1" indent="-3683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Char char="•"/>
              <a:defRPr>
                <a:solidFill>
                  <a:srgbClr val="3F3F3F"/>
                </a:solidFill>
              </a:defRPr>
            </a:lvl2pPr>
            <a:lvl3pPr marL="1371600" lvl="2" indent="-3683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Courier New"/>
              <a:buChar char="o"/>
              <a:defRPr>
                <a:solidFill>
                  <a:srgbClr val="3F3F3F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es_Ans_IS">
  <p:cSld name="Ques_Ans_IS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5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1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53"/>
          <p:cNvSpPr txBox="1"/>
          <p:nvPr/>
        </p:nvSpPr>
        <p:spPr>
          <a:xfrm>
            <a:off x="670034" y="7369706"/>
            <a:ext cx="274905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The correct answer is</a:t>
            </a: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15" name="Google Shape;115;p53"/>
          <p:cNvCxnSpPr/>
          <p:nvPr/>
        </p:nvCxnSpPr>
        <p:spPr>
          <a:xfrm>
            <a:off x="670034" y="7854368"/>
            <a:ext cx="1316736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6" name="Google Shape;116;p53"/>
          <p:cNvCxnSpPr/>
          <p:nvPr/>
        </p:nvCxnSpPr>
        <p:spPr>
          <a:xfrm>
            <a:off x="649436" y="7265358"/>
            <a:ext cx="1316736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7" name="Google Shape;117;p53"/>
          <p:cNvSpPr txBox="1">
            <a:spLocks noGrp="1"/>
          </p:cNvSpPr>
          <p:nvPr>
            <p:ph type="body" idx="1"/>
          </p:nvPr>
        </p:nvSpPr>
        <p:spPr>
          <a:xfrm>
            <a:off x="3251201" y="7277661"/>
            <a:ext cx="8834438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24F93"/>
              </a:buClr>
              <a:buSzPts val="2000"/>
              <a:buNone/>
              <a:defRPr sz="2000" b="1">
                <a:solidFill>
                  <a:srgbClr val="024F93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53"/>
          <p:cNvSpPr txBox="1">
            <a:spLocks noGrp="1"/>
          </p:cNvSpPr>
          <p:nvPr>
            <p:ph type="body" idx="2"/>
          </p:nvPr>
        </p:nvSpPr>
        <p:spPr>
          <a:xfrm>
            <a:off x="669925" y="7935913"/>
            <a:ext cx="13095288" cy="1004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 b="1"/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53"/>
          <p:cNvSpPr/>
          <p:nvPr/>
        </p:nvSpPr>
        <p:spPr>
          <a:xfrm>
            <a:off x="1281113" y="584654"/>
            <a:ext cx="1685902" cy="1438275"/>
          </a:xfrm>
          <a:prstGeom prst="rect">
            <a:avLst/>
          </a:prstGeom>
          <a:solidFill>
            <a:srgbClr val="3D9C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0" name="Google Shape;120;p53"/>
          <p:cNvSpPr txBox="1"/>
          <p:nvPr/>
        </p:nvSpPr>
        <p:spPr>
          <a:xfrm>
            <a:off x="1280469" y="732325"/>
            <a:ext cx="169890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Knowledge Check</a:t>
            </a:r>
            <a:endParaRPr sz="2000" b="1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1" name="Google Shape;121;p53"/>
          <p:cNvSpPr/>
          <p:nvPr/>
        </p:nvSpPr>
        <p:spPr>
          <a:xfrm>
            <a:off x="1275907" y="580480"/>
            <a:ext cx="14093455" cy="1446622"/>
          </a:xfrm>
          <a:prstGeom prst="rect">
            <a:avLst/>
          </a:prstGeom>
          <a:noFill/>
          <a:ln w="12700" cap="flat" cmpd="sng">
            <a:solidFill>
              <a:srgbClr val="3D9C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2" name="Google Shape;122;p53"/>
          <p:cNvSpPr txBox="1"/>
          <p:nvPr/>
        </p:nvSpPr>
        <p:spPr>
          <a:xfrm>
            <a:off x="1717154" y="5511422"/>
            <a:ext cx="465463" cy="421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D.</a:t>
            </a:r>
            <a:endParaRPr/>
          </a:p>
        </p:txBody>
      </p:sp>
      <p:sp>
        <p:nvSpPr>
          <p:cNvPr id="123" name="Google Shape;123;p53"/>
          <p:cNvSpPr txBox="1"/>
          <p:nvPr/>
        </p:nvSpPr>
        <p:spPr>
          <a:xfrm>
            <a:off x="1713038" y="4568181"/>
            <a:ext cx="465463" cy="421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C.</a:t>
            </a:r>
            <a:endParaRPr/>
          </a:p>
        </p:txBody>
      </p:sp>
      <p:sp>
        <p:nvSpPr>
          <p:cNvPr id="124" name="Google Shape;124;p53"/>
          <p:cNvSpPr txBox="1"/>
          <p:nvPr/>
        </p:nvSpPr>
        <p:spPr>
          <a:xfrm>
            <a:off x="1713038" y="3629064"/>
            <a:ext cx="465463" cy="421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B.</a:t>
            </a:r>
            <a:endParaRPr/>
          </a:p>
        </p:txBody>
      </p:sp>
      <p:sp>
        <p:nvSpPr>
          <p:cNvPr id="125" name="Google Shape;125;p53"/>
          <p:cNvSpPr txBox="1"/>
          <p:nvPr/>
        </p:nvSpPr>
        <p:spPr>
          <a:xfrm>
            <a:off x="1708922" y="2698180"/>
            <a:ext cx="465463" cy="421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A.</a:t>
            </a:r>
            <a:endParaRPr/>
          </a:p>
        </p:txBody>
      </p:sp>
      <p:sp>
        <p:nvSpPr>
          <p:cNvPr id="126" name="Google Shape;126;p53"/>
          <p:cNvSpPr txBox="1">
            <a:spLocks noGrp="1"/>
          </p:cNvSpPr>
          <p:nvPr>
            <p:ph type="body" idx="3"/>
          </p:nvPr>
        </p:nvSpPr>
        <p:spPr>
          <a:xfrm>
            <a:off x="2338682" y="5511422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7" name="Google Shape;127;p53"/>
          <p:cNvSpPr txBox="1">
            <a:spLocks noGrp="1"/>
          </p:cNvSpPr>
          <p:nvPr>
            <p:ph type="body" idx="4"/>
          </p:nvPr>
        </p:nvSpPr>
        <p:spPr>
          <a:xfrm>
            <a:off x="2334566" y="4568181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8" name="Google Shape;128;p53"/>
          <p:cNvSpPr txBox="1">
            <a:spLocks noGrp="1"/>
          </p:cNvSpPr>
          <p:nvPr>
            <p:ph type="body" idx="5"/>
          </p:nvPr>
        </p:nvSpPr>
        <p:spPr>
          <a:xfrm>
            <a:off x="2334566" y="3629064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9" name="Google Shape;129;p53"/>
          <p:cNvSpPr txBox="1">
            <a:spLocks noGrp="1"/>
          </p:cNvSpPr>
          <p:nvPr>
            <p:ph type="body" idx="6"/>
          </p:nvPr>
        </p:nvSpPr>
        <p:spPr>
          <a:xfrm>
            <a:off x="2330450" y="2698180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0" name="Google Shape;130;p53"/>
          <p:cNvSpPr txBox="1">
            <a:spLocks noGrp="1"/>
          </p:cNvSpPr>
          <p:nvPr>
            <p:ph type="body" idx="7"/>
          </p:nvPr>
        </p:nvSpPr>
        <p:spPr>
          <a:xfrm>
            <a:off x="2967015" y="580287"/>
            <a:ext cx="12401573" cy="1447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 b="1">
                <a:solidFill>
                  <a:srgbClr val="3F3F3F"/>
                </a:solidFill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1" name="Google Shape;131;p53"/>
          <p:cNvSpPr txBox="1">
            <a:spLocks noGrp="1"/>
          </p:cNvSpPr>
          <p:nvPr>
            <p:ph type="body" idx="8"/>
          </p:nvPr>
        </p:nvSpPr>
        <p:spPr>
          <a:xfrm>
            <a:off x="1562390" y="1193800"/>
            <a:ext cx="1135063" cy="83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b="1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ssisted Practice">
  <p:cSld name="Assisted Practice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5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8" cy="9143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255999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54"/>
          <p:cNvSpPr txBox="1">
            <a:spLocks noGrp="1"/>
          </p:cNvSpPr>
          <p:nvPr>
            <p:ph type="title"/>
          </p:nvPr>
        </p:nvSpPr>
        <p:spPr>
          <a:xfrm>
            <a:off x="1297626" y="436395"/>
            <a:ext cx="9696532" cy="665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28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54"/>
          <p:cNvSpPr txBox="1">
            <a:spLocks noGrp="1"/>
          </p:cNvSpPr>
          <p:nvPr>
            <p:ph type="body" idx="1"/>
          </p:nvPr>
        </p:nvSpPr>
        <p:spPr>
          <a:xfrm>
            <a:off x="1291857" y="2854366"/>
            <a:ext cx="13696999" cy="5389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7" name="Google Shape;137;p54"/>
          <p:cNvSpPr txBox="1">
            <a:spLocks noGrp="1"/>
          </p:cNvSpPr>
          <p:nvPr>
            <p:ph type="body" idx="2"/>
          </p:nvPr>
        </p:nvSpPr>
        <p:spPr>
          <a:xfrm>
            <a:off x="1291857" y="1795807"/>
            <a:ext cx="13696999" cy="814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nassisted Practice">
  <p:cSld name="Unassisted Practice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5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8" cy="9143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255999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55"/>
          <p:cNvSpPr txBox="1">
            <a:spLocks noGrp="1"/>
          </p:cNvSpPr>
          <p:nvPr>
            <p:ph type="title"/>
          </p:nvPr>
        </p:nvSpPr>
        <p:spPr>
          <a:xfrm>
            <a:off x="1297626" y="436395"/>
            <a:ext cx="9696532" cy="665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28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55"/>
          <p:cNvSpPr txBox="1">
            <a:spLocks noGrp="1"/>
          </p:cNvSpPr>
          <p:nvPr>
            <p:ph type="body" idx="1"/>
          </p:nvPr>
        </p:nvSpPr>
        <p:spPr>
          <a:xfrm>
            <a:off x="1291857" y="2854366"/>
            <a:ext cx="13696999" cy="5389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3" name="Google Shape;143;p55"/>
          <p:cNvSpPr txBox="1">
            <a:spLocks noGrp="1"/>
          </p:cNvSpPr>
          <p:nvPr>
            <p:ph type="body" idx="2"/>
          </p:nvPr>
        </p:nvSpPr>
        <p:spPr>
          <a:xfrm>
            <a:off x="1291857" y="1795807"/>
            <a:ext cx="13696999" cy="814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llet_for_Practise">
  <p:cSld name="Bullet_for_Practise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6"/>
          <p:cNvSpPr txBox="1">
            <a:spLocks noGrp="1"/>
          </p:cNvSpPr>
          <p:nvPr>
            <p:ph type="body" idx="1"/>
          </p:nvPr>
        </p:nvSpPr>
        <p:spPr>
          <a:xfrm>
            <a:off x="1291857" y="1788696"/>
            <a:ext cx="13696999" cy="821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p56"/>
          <p:cNvSpPr txBox="1">
            <a:spLocks noGrp="1"/>
          </p:cNvSpPr>
          <p:nvPr>
            <p:ph type="body" idx="2"/>
          </p:nvPr>
        </p:nvSpPr>
        <p:spPr>
          <a:xfrm>
            <a:off x="1285825" y="2872126"/>
            <a:ext cx="13697000" cy="5406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>
                <a:solidFill>
                  <a:srgbClr val="3F3F3F"/>
                </a:solidFill>
              </a:defRPr>
            </a:lvl1pPr>
            <a:lvl2pPr marL="914400" lvl="1" indent="-3683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Char char="•"/>
              <a:defRPr>
                <a:solidFill>
                  <a:srgbClr val="3F3F3F"/>
                </a:solidFill>
              </a:defRPr>
            </a:lvl2pPr>
            <a:lvl3pPr marL="1371600" lvl="2" indent="-3683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Courier New"/>
              <a:buChar char="o"/>
              <a:defRPr>
                <a:solidFill>
                  <a:srgbClr val="3F3F3F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-End Project">
  <p:cSld name="Section-End Project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5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8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57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57"/>
          <p:cNvSpPr txBox="1">
            <a:spLocks noGrp="1"/>
          </p:cNvSpPr>
          <p:nvPr>
            <p:ph type="body" idx="1"/>
          </p:nvPr>
        </p:nvSpPr>
        <p:spPr>
          <a:xfrm>
            <a:off x="4834890" y="1364776"/>
            <a:ext cx="10314124" cy="6823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sson-end Project">
  <p:cSld name="Lesson-end Project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5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8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58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58"/>
          <p:cNvSpPr txBox="1">
            <a:spLocks noGrp="1"/>
          </p:cNvSpPr>
          <p:nvPr>
            <p:ph type="body" idx="1"/>
          </p:nvPr>
        </p:nvSpPr>
        <p:spPr>
          <a:xfrm>
            <a:off x="4834890" y="1364776"/>
            <a:ext cx="10314124" cy="6823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ase-End Project">
  <p:cSld name="Phase-End Project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5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8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59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59"/>
          <p:cNvSpPr txBox="1">
            <a:spLocks noGrp="1"/>
          </p:cNvSpPr>
          <p:nvPr>
            <p:ph type="body" idx="1"/>
          </p:nvPr>
        </p:nvSpPr>
        <p:spPr>
          <a:xfrm>
            <a:off x="4834890" y="1364776"/>
            <a:ext cx="10314124" cy="6823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llet_for_projects">
  <p:cSld name="Bullet_for_projects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0"/>
          <p:cNvSpPr txBox="1">
            <a:spLocks noGrp="1"/>
          </p:cNvSpPr>
          <p:nvPr>
            <p:ph type="body" idx="1"/>
          </p:nvPr>
        </p:nvSpPr>
        <p:spPr>
          <a:xfrm>
            <a:off x="4834890" y="1377162"/>
            <a:ext cx="10314607" cy="681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>
                <a:solidFill>
                  <a:srgbClr val="3F3F3F"/>
                </a:solidFill>
              </a:defRPr>
            </a:lvl1pPr>
            <a:lvl2pPr marL="914400" lvl="1" indent="-3683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Char char="•"/>
              <a:defRPr>
                <a:solidFill>
                  <a:srgbClr val="3F3F3F"/>
                </a:solidFill>
              </a:defRPr>
            </a:lvl2pPr>
            <a:lvl3pPr marL="1371600" lvl="2" indent="-3683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Courier New"/>
              <a:buChar char="o"/>
              <a:defRPr>
                <a:solidFill>
                  <a:srgbClr val="3F3F3F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se Study">
  <p:cSld name="Case Study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6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61"/>
          <p:cNvSpPr txBox="1">
            <a:spLocks noGrp="1"/>
          </p:cNvSpPr>
          <p:nvPr>
            <p:ph type="body" idx="1"/>
          </p:nvPr>
        </p:nvSpPr>
        <p:spPr>
          <a:xfrm>
            <a:off x="9752023" y="4114800"/>
            <a:ext cx="434807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64" name="Google Shape;164;p61" descr="A picture containing child art, table, illustration, desig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22176" y="2171113"/>
            <a:ext cx="4823955" cy="4555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5120">
          <p15:clr>
            <a:srgbClr val="00000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cussion">
  <p:cSld name="Discussion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6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9" cy="914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6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03264" y="2051538"/>
            <a:ext cx="4661781" cy="4794738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62"/>
          <p:cNvSpPr txBox="1">
            <a:spLocks noGrp="1"/>
          </p:cNvSpPr>
          <p:nvPr>
            <p:ph type="body" idx="1"/>
          </p:nvPr>
        </p:nvSpPr>
        <p:spPr>
          <a:xfrm>
            <a:off x="9752023" y="4114800"/>
            <a:ext cx="434807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5120">
          <p15:clr>
            <a:srgbClr val="00000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cussion-Content">
  <p:cSld name="Discussion-Content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6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9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63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72" name="Google Shape;172;p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2450" y="2249238"/>
            <a:ext cx="4290990" cy="4413372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63"/>
          <p:cNvSpPr txBox="1">
            <a:spLocks noGrp="1"/>
          </p:cNvSpPr>
          <p:nvPr>
            <p:ph type="body" idx="1"/>
          </p:nvPr>
        </p:nvSpPr>
        <p:spPr>
          <a:xfrm>
            <a:off x="5394960" y="1761785"/>
            <a:ext cx="10346786" cy="6260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5120">
          <p15:clr>
            <a:srgbClr val="00000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ole-Play Activities">
  <p:cSld name="Role-Play Activities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6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64"/>
          <p:cNvSpPr txBox="1">
            <a:spLocks noGrp="1"/>
          </p:cNvSpPr>
          <p:nvPr>
            <p:ph type="body" idx="1"/>
          </p:nvPr>
        </p:nvSpPr>
        <p:spPr>
          <a:xfrm>
            <a:off x="9752023" y="4114800"/>
            <a:ext cx="434807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 algn="ctr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77" name="Google Shape;177;p64" descr="A group of people reading books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7129" y="2323120"/>
            <a:ext cx="5664389" cy="4497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5120">
          <p15:clr>
            <a:srgbClr val="00000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urse-end Project">
  <p:cSld name="Course-end Project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6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" y="0"/>
            <a:ext cx="16255996" cy="9143998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65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65"/>
          <p:cNvSpPr txBox="1">
            <a:spLocks noGrp="1"/>
          </p:cNvSpPr>
          <p:nvPr>
            <p:ph type="body" idx="1"/>
          </p:nvPr>
        </p:nvSpPr>
        <p:spPr>
          <a:xfrm>
            <a:off x="4845052" y="1364776"/>
            <a:ext cx="10303962" cy="6823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efore the Next Class">
  <p:cSld name="Before the Next Class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6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66"/>
          <p:cNvSpPr/>
          <p:nvPr/>
        </p:nvSpPr>
        <p:spPr>
          <a:xfrm>
            <a:off x="2464058" y="762715"/>
            <a:ext cx="48199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Open Sans"/>
              <a:buNone/>
            </a:pPr>
            <a:r>
              <a:rPr lang="en-US"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Before the Next Class</a:t>
            </a:r>
            <a:endParaRPr sz="2800" b="1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5" name="Google Shape;185;p66"/>
          <p:cNvSpPr txBox="1">
            <a:spLocks noGrp="1"/>
          </p:cNvSpPr>
          <p:nvPr>
            <p:ph type="body" idx="1"/>
          </p:nvPr>
        </p:nvSpPr>
        <p:spPr>
          <a:xfrm>
            <a:off x="655084" y="1364776"/>
            <a:ext cx="8439490" cy="6823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hat Next?">
  <p:cSld name="What Next?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6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67"/>
          <p:cNvSpPr/>
          <p:nvPr/>
        </p:nvSpPr>
        <p:spPr>
          <a:xfrm>
            <a:off x="2464058" y="762715"/>
            <a:ext cx="48199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Open Sans"/>
              <a:buNone/>
            </a:pPr>
            <a:r>
              <a:rPr lang="en-US"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What’s Next?</a:t>
            </a:r>
            <a:endParaRPr sz="2800" b="1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9" name="Google Shape;189;p67"/>
          <p:cNvSpPr txBox="1">
            <a:spLocks noGrp="1"/>
          </p:cNvSpPr>
          <p:nvPr>
            <p:ph type="body" idx="1"/>
          </p:nvPr>
        </p:nvSpPr>
        <p:spPr>
          <a:xfrm>
            <a:off x="655084" y="1364776"/>
            <a:ext cx="8439490" cy="6823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llets_for_whatnext_nextclass">
  <p:cSld name="Bullets_for_whatnext_nextclass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68"/>
          <p:cNvSpPr txBox="1">
            <a:spLocks noGrp="1"/>
          </p:cNvSpPr>
          <p:nvPr>
            <p:ph type="body" idx="1"/>
          </p:nvPr>
        </p:nvSpPr>
        <p:spPr>
          <a:xfrm>
            <a:off x="670649" y="1377162"/>
            <a:ext cx="8439490" cy="681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>
                <a:solidFill>
                  <a:srgbClr val="3F3F3F"/>
                </a:solidFill>
              </a:defRPr>
            </a:lvl1pPr>
            <a:lvl2pPr marL="914400" lvl="1" indent="-3683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Char char="•"/>
              <a:defRPr>
                <a:solidFill>
                  <a:srgbClr val="3F3F3F"/>
                </a:solidFill>
              </a:defRPr>
            </a:lvl2pPr>
            <a:lvl3pPr marL="1371600" lvl="2" indent="-3683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Courier New"/>
              <a:buChar char="o"/>
              <a:defRPr>
                <a:solidFill>
                  <a:srgbClr val="3F3F3F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nowledge Check ">
  <p:cSld name="Knowledge Check 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8" cy="9143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45" descr="A picture containing arrow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256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45"/>
          <p:cNvSpPr/>
          <p:nvPr/>
        </p:nvSpPr>
        <p:spPr>
          <a:xfrm>
            <a:off x="8955907" y="4310390"/>
            <a:ext cx="48199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Knowledge Check</a:t>
            </a:r>
            <a:endParaRPr sz="14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8728949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estion">
  <p:cSld name="Ques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4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1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46"/>
          <p:cNvSpPr/>
          <p:nvPr/>
        </p:nvSpPr>
        <p:spPr>
          <a:xfrm>
            <a:off x="1281113" y="584654"/>
            <a:ext cx="1685902" cy="1438275"/>
          </a:xfrm>
          <a:prstGeom prst="rect">
            <a:avLst/>
          </a:prstGeom>
          <a:solidFill>
            <a:srgbClr val="3D9C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7" name="Google Shape;57;p46"/>
          <p:cNvSpPr txBox="1"/>
          <p:nvPr/>
        </p:nvSpPr>
        <p:spPr>
          <a:xfrm>
            <a:off x="1280469" y="732325"/>
            <a:ext cx="169890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Knowledge Check</a:t>
            </a:r>
            <a:endParaRPr sz="2000" b="1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8" name="Google Shape;58;p46"/>
          <p:cNvSpPr/>
          <p:nvPr/>
        </p:nvSpPr>
        <p:spPr>
          <a:xfrm>
            <a:off x="1275907" y="580480"/>
            <a:ext cx="14093455" cy="1446622"/>
          </a:xfrm>
          <a:prstGeom prst="rect">
            <a:avLst/>
          </a:prstGeom>
          <a:noFill/>
          <a:ln w="12700" cap="flat" cmpd="sng">
            <a:solidFill>
              <a:srgbClr val="3D9C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" name="Google Shape;59;p46"/>
          <p:cNvSpPr txBox="1"/>
          <p:nvPr/>
        </p:nvSpPr>
        <p:spPr>
          <a:xfrm>
            <a:off x="1708922" y="2698180"/>
            <a:ext cx="465463" cy="421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A.</a:t>
            </a:r>
            <a:endParaRPr/>
          </a:p>
        </p:txBody>
      </p:sp>
      <p:sp>
        <p:nvSpPr>
          <p:cNvPr id="60" name="Google Shape;60;p46"/>
          <p:cNvSpPr txBox="1">
            <a:spLocks noGrp="1"/>
          </p:cNvSpPr>
          <p:nvPr>
            <p:ph type="body" idx="1"/>
          </p:nvPr>
        </p:nvSpPr>
        <p:spPr>
          <a:xfrm>
            <a:off x="2330450" y="2698180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46"/>
          <p:cNvSpPr txBox="1"/>
          <p:nvPr/>
        </p:nvSpPr>
        <p:spPr>
          <a:xfrm>
            <a:off x="1713038" y="3629064"/>
            <a:ext cx="465463" cy="421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B.</a:t>
            </a:r>
            <a:endParaRPr/>
          </a:p>
        </p:txBody>
      </p:sp>
      <p:sp>
        <p:nvSpPr>
          <p:cNvPr id="62" name="Google Shape;62;p46"/>
          <p:cNvSpPr txBox="1">
            <a:spLocks noGrp="1"/>
          </p:cNvSpPr>
          <p:nvPr>
            <p:ph type="body" idx="2"/>
          </p:nvPr>
        </p:nvSpPr>
        <p:spPr>
          <a:xfrm>
            <a:off x="2334566" y="3629064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46"/>
          <p:cNvSpPr txBox="1"/>
          <p:nvPr/>
        </p:nvSpPr>
        <p:spPr>
          <a:xfrm>
            <a:off x="1713038" y="4568181"/>
            <a:ext cx="465463" cy="421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C.</a:t>
            </a:r>
            <a:endParaRPr/>
          </a:p>
        </p:txBody>
      </p:sp>
      <p:sp>
        <p:nvSpPr>
          <p:cNvPr id="64" name="Google Shape;64;p46"/>
          <p:cNvSpPr txBox="1">
            <a:spLocks noGrp="1"/>
          </p:cNvSpPr>
          <p:nvPr>
            <p:ph type="body" idx="3"/>
          </p:nvPr>
        </p:nvSpPr>
        <p:spPr>
          <a:xfrm>
            <a:off x="2334566" y="4568181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46"/>
          <p:cNvSpPr txBox="1"/>
          <p:nvPr/>
        </p:nvSpPr>
        <p:spPr>
          <a:xfrm>
            <a:off x="1717154" y="5511422"/>
            <a:ext cx="465463" cy="421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D.</a:t>
            </a:r>
            <a:endParaRPr/>
          </a:p>
        </p:txBody>
      </p:sp>
      <p:sp>
        <p:nvSpPr>
          <p:cNvPr id="66" name="Google Shape;66;p46"/>
          <p:cNvSpPr txBox="1">
            <a:spLocks noGrp="1"/>
          </p:cNvSpPr>
          <p:nvPr>
            <p:ph type="body" idx="4"/>
          </p:nvPr>
        </p:nvSpPr>
        <p:spPr>
          <a:xfrm>
            <a:off x="2338682" y="5511422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46"/>
          <p:cNvSpPr txBox="1">
            <a:spLocks noGrp="1"/>
          </p:cNvSpPr>
          <p:nvPr>
            <p:ph type="body" idx="5"/>
          </p:nvPr>
        </p:nvSpPr>
        <p:spPr>
          <a:xfrm>
            <a:off x="2967015" y="580287"/>
            <a:ext cx="12401573" cy="1447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 b="1">
                <a:solidFill>
                  <a:srgbClr val="3F3F3F"/>
                </a:solidFill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46"/>
          <p:cNvSpPr txBox="1">
            <a:spLocks noGrp="1"/>
          </p:cNvSpPr>
          <p:nvPr>
            <p:ph type="body" idx="6"/>
          </p:nvPr>
        </p:nvSpPr>
        <p:spPr>
          <a:xfrm>
            <a:off x="1562390" y="1193800"/>
            <a:ext cx="1135063" cy="83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b="1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5623773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es_Ans_Are">
  <p:cSld name="Ques_Ans_Are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4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1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47"/>
          <p:cNvSpPr txBox="1"/>
          <p:nvPr/>
        </p:nvSpPr>
        <p:spPr>
          <a:xfrm>
            <a:off x="670034" y="7369706"/>
            <a:ext cx="29134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The correct answer are</a:t>
            </a: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72" name="Google Shape;72;p47"/>
          <p:cNvCxnSpPr/>
          <p:nvPr/>
        </p:nvCxnSpPr>
        <p:spPr>
          <a:xfrm>
            <a:off x="670034" y="7854368"/>
            <a:ext cx="1316736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3" name="Google Shape;73;p47"/>
          <p:cNvCxnSpPr/>
          <p:nvPr/>
        </p:nvCxnSpPr>
        <p:spPr>
          <a:xfrm>
            <a:off x="649436" y="7265358"/>
            <a:ext cx="1316736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4" name="Google Shape;74;p47"/>
          <p:cNvSpPr txBox="1">
            <a:spLocks noGrp="1"/>
          </p:cNvSpPr>
          <p:nvPr>
            <p:ph type="body" idx="1"/>
          </p:nvPr>
        </p:nvSpPr>
        <p:spPr>
          <a:xfrm>
            <a:off x="3484605" y="7277661"/>
            <a:ext cx="8601033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24F93"/>
              </a:buClr>
              <a:buSzPts val="2000"/>
              <a:buNone/>
              <a:defRPr sz="2000" b="1">
                <a:solidFill>
                  <a:srgbClr val="024F93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47"/>
          <p:cNvSpPr txBox="1">
            <a:spLocks noGrp="1"/>
          </p:cNvSpPr>
          <p:nvPr>
            <p:ph type="body" idx="2"/>
          </p:nvPr>
        </p:nvSpPr>
        <p:spPr>
          <a:xfrm>
            <a:off x="669925" y="7935913"/>
            <a:ext cx="13095288" cy="1004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 b="1"/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47"/>
          <p:cNvSpPr/>
          <p:nvPr/>
        </p:nvSpPr>
        <p:spPr>
          <a:xfrm>
            <a:off x="1281113" y="584654"/>
            <a:ext cx="1685902" cy="1438275"/>
          </a:xfrm>
          <a:prstGeom prst="rect">
            <a:avLst/>
          </a:prstGeom>
          <a:solidFill>
            <a:srgbClr val="3D9C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7" name="Google Shape;77;p47"/>
          <p:cNvSpPr txBox="1"/>
          <p:nvPr/>
        </p:nvSpPr>
        <p:spPr>
          <a:xfrm>
            <a:off x="1280469" y="732325"/>
            <a:ext cx="169890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Knowledge Check</a:t>
            </a:r>
            <a:endParaRPr sz="2000" b="1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8" name="Google Shape;78;p47"/>
          <p:cNvSpPr/>
          <p:nvPr/>
        </p:nvSpPr>
        <p:spPr>
          <a:xfrm>
            <a:off x="1275907" y="580480"/>
            <a:ext cx="14093455" cy="1446622"/>
          </a:xfrm>
          <a:prstGeom prst="rect">
            <a:avLst/>
          </a:prstGeom>
          <a:noFill/>
          <a:ln w="12700" cap="flat" cmpd="sng">
            <a:solidFill>
              <a:srgbClr val="3D9C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9" name="Google Shape;79;p47"/>
          <p:cNvSpPr txBox="1"/>
          <p:nvPr/>
        </p:nvSpPr>
        <p:spPr>
          <a:xfrm>
            <a:off x="1708922" y="2698180"/>
            <a:ext cx="465463" cy="421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A.</a:t>
            </a:r>
            <a:endParaRPr/>
          </a:p>
        </p:txBody>
      </p:sp>
      <p:sp>
        <p:nvSpPr>
          <p:cNvPr id="80" name="Google Shape;80;p47"/>
          <p:cNvSpPr txBox="1">
            <a:spLocks noGrp="1"/>
          </p:cNvSpPr>
          <p:nvPr>
            <p:ph type="body" idx="3"/>
          </p:nvPr>
        </p:nvSpPr>
        <p:spPr>
          <a:xfrm>
            <a:off x="2330450" y="2698180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47"/>
          <p:cNvSpPr txBox="1"/>
          <p:nvPr/>
        </p:nvSpPr>
        <p:spPr>
          <a:xfrm>
            <a:off x="1713038" y="3629064"/>
            <a:ext cx="465463" cy="421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B.</a:t>
            </a:r>
            <a:endParaRPr/>
          </a:p>
        </p:txBody>
      </p:sp>
      <p:sp>
        <p:nvSpPr>
          <p:cNvPr id="82" name="Google Shape;82;p47"/>
          <p:cNvSpPr txBox="1">
            <a:spLocks noGrp="1"/>
          </p:cNvSpPr>
          <p:nvPr>
            <p:ph type="body" idx="4"/>
          </p:nvPr>
        </p:nvSpPr>
        <p:spPr>
          <a:xfrm>
            <a:off x="2334566" y="3629064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47"/>
          <p:cNvSpPr txBox="1"/>
          <p:nvPr/>
        </p:nvSpPr>
        <p:spPr>
          <a:xfrm>
            <a:off x="1713038" y="4568181"/>
            <a:ext cx="465463" cy="421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C.</a:t>
            </a:r>
            <a:endParaRPr/>
          </a:p>
        </p:txBody>
      </p:sp>
      <p:sp>
        <p:nvSpPr>
          <p:cNvPr id="84" name="Google Shape;84;p47"/>
          <p:cNvSpPr txBox="1">
            <a:spLocks noGrp="1"/>
          </p:cNvSpPr>
          <p:nvPr>
            <p:ph type="body" idx="5"/>
          </p:nvPr>
        </p:nvSpPr>
        <p:spPr>
          <a:xfrm>
            <a:off x="2334566" y="4568181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47"/>
          <p:cNvSpPr txBox="1"/>
          <p:nvPr/>
        </p:nvSpPr>
        <p:spPr>
          <a:xfrm>
            <a:off x="1717154" y="5511422"/>
            <a:ext cx="465463" cy="421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D.</a:t>
            </a:r>
            <a:endParaRPr/>
          </a:p>
        </p:txBody>
      </p:sp>
      <p:sp>
        <p:nvSpPr>
          <p:cNvPr id="86" name="Google Shape;86;p47"/>
          <p:cNvSpPr txBox="1">
            <a:spLocks noGrp="1"/>
          </p:cNvSpPr>
          <p:nvPr>
            <p:ph type="body" idx="6"/>
          </p:nvPr>
        </p:nvSpPr>
        <p:spPr>
          <a:xfrm>
            <a:off x="2338682" y="5511422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47"/>
          <p:cNvSpPr txBox="1">
            <a:spLocks noGrp="1"/>
          </p:cNvSpPr>
          <p:nvPr>
            <p:ph type="body" idx="7"/>
          </p:nvPr>
        </p:nvSpPr>
        <p:spPr>
          <a:xfrm>
            <a:off x="2967015" y="580287"/>
            <a:ext cx="12401573" cy="1447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 b="1">
                <a:solidFill>
                  <a:srgbClr val="3F3F3F"/>
                </a:solidFill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47"/>
          <p:cNvSpPr txBox="1">
            <a:spLocks noGrp="1"/>
          </p:cNvSpPr>
          <p:nvPr>
            <p:ph type="body" idx="8"/>
          </p:nvPr>
        </p:nvSpPr>
        <p:spPr>
          <a:xfrm>
            <a:off x="1562390" y="1193800"/>
            <a:ext cx="1135063" cy="83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b="1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27939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7"/>
          <p:cNvSpPr txBox="1">
            <a:spLocks noGrp="1"/>
          </p:cNvSpPr>
          <p:nvPr>
            <p:ph type="title"/>
          </p:nvPr>
        </p:nvSpPr>
        <p:spPr>
          <a:xfrm>
            <a:off x="1117600" y="487363"/>
            <a:ext cx="14020800" cy="1766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Open Sans"/>
              <a:buNone/>
              <a:defRPr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37"/>
          <p:cNvSpPr txBox="1">
            <a:spLocks noGrp="1"/>
          </p:cNvSpPr>
          <p:nvPr>
            <p:ph type="body" idx="1"/>
          </p:nvPr>
        </p:nvSpPr>
        <p:spPr>
          <a:xfrm>
            <a:off x="1117600" y="2433638"/>
            <a:ext cx="14020800" cy="5802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8300" algn="l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68300" algn="l" rtl="0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68300" algn="l" rtl="0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72" r:id="rId21"/>
    <p:sldLayoutId id="2147483673" r:id="rId22"/>
    <p:sldLayoutId id="2147483674" r:id="rId23"/>
    <p:sldLayoutId id="2147483675" r:id="rId24"/>
    <p:sldLayoutId id="2147483676" r:id="rId25"/>
    <p:sldLayoutId id="2147483677" r:id="rId26"/>
    <p:sldLayoutId id="2147483678" r:id="rId27"/>
    <p:sldLayoutId id="2147483679" r:id="rId28"/>
    <p:sldLayoutId id="2147483680" r:id="rId29"/>
    <p:sldLayoutId id="2147483681" r:id="rId30"/>
    <p:sldLayoutId id="2147483682" r:id="rId3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76">
          <p15:clr>
            <a:srgbClr val="5ACBF0"/>
          </p15:clr>
        </p15:guide>
        <p15:guide id="2" pos="5120">
          <p15:clr>
            <a:srgbClr val="000000"/>
          </p15:clr>
        </p15:guide>
        <p15:guide id="3" orient="horz" pos="2880">
          <p15:clr>
            <a:srgbClr val="000000"/>
          </p15:clr>
        </p15:guide>
        <p15:guide id="4" orient="horz" pos="5184">
          <p15:clr>
            <a:srgbClr val="5ACBF0"/>
          </p15:clr>
        </p15:guide>
        <p15:guide id="5" pos="1016">
          <p15:clr>
            <a:srgbClr val="5ACBF0"/>
          </p15:clr>
        </p15:guide>
        <p15:guide id="6" pos="512">
          <p15:clr>
            <a:srgbClr val="F26B43"/>
          </p15:clr>
        </p15:guide>
        <p15:guide id="7" pos="9224">
          <p15:clr>
            <a:srgbClr val="5ACBF0"/>
          </p15:clr>
        </p15:guide>
        <p15:guide id="8" pos="9728">
          <p15:clr>
            <a:srgbClr val="F26B43"/>
          </p15:clr>
        </p15:guide>
        <p15:guide id="9" orient="horz" pos="288">
          <p15:clr>
            <a:srgbClr val="F26B43"/>
          </p15:clr>
        </p15:guide>
        <p15:guide id="10" orient="horz" pos="5472">
          <p15:clr>
            <a:srgbClr val="F26B43"/>
          </p15:clr>
        </p15:guide>
        <p15:guide id="11" pos="8576">
          <p15:clr>
            <a:srgbClr val="5ACBF0"/>
          </p15:clr>
        </p15:guide>
        <p15:guide id="12" pos="8192">
          <p15:clr>
            <a:srgbClr val="5ACBF0"/>
          </p15:clr>
        </p15:guide>
        <p15:guide id="13" pos="1664">
          <p15:clr>
            <a:srgbClr val="5ACBF0"/>
          </p15:clr>
        </p15:guide>
        <p15:guide id="14" pos="2048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"/>
          <p:cNvSpPr txBox="1">
            <a:spLocks noGrp="1"/>
          </p:cNvSpPr>
          <p:nvPr>
            <p:ph type="body" idx="1"/>
          </p:nvPr>
        </p:nvSpPr>
        <p:spPr>
          <a:xfrm>
            <a:off x="653386" y="4114800"/>
            <a:ext cx="7835706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1333"/>
              </a:spcBef>
              <a:spcAft>
                <a:spcPts val="0"/>
              </a:spcAft>
              <a:buClr>
                <a:srgbClr val="3F3F3F"/>
              </a:buClr>
              <a:buSzPts val="3733"/>
              <a:buNone/>
            </a:pPr>
            <a:r>
              <a:rPr lang="en-US"/>
              <a:t>Natural Language Processing and 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1333"/>
              </a:spcBef>
              <a:spcAft>
                <a:spcPts val="0"/>
              </a:spcAft>
              <a:buClr>
                <a:srgbClr val="3F3F3F"/>
              </a:buClr>
              <a:buSzPts val="3733"/>
              <a:buNone/>
            </a:pPr>
            <a:r>
              <a:rPr lang="en-US"/>
              <a:t>Speech Recognition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"/>
          <p:cNvSpPr txBox="1">
            <a:spLocks noGrp="1"/>
          </p:cNvSpPr>
          <p:nvPr>
            <p:ph type="body" idx="1"/>
          </p:nvPr>
        </p:nvSpPr>
        <p:spPr>
          <a:xfrm>
            <a:off x="653386" y="4114800"/>
            <a:ext cx="7835706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800"/>
              <a:buFont typeface="Arial"/>
              <a:buNone/>
            </a:pPr>
            <a:r>
              <a:rPr lang="en-US" b="1" i="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NLP Text Vectorization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"/>
          <p:cNvSpPr txBox="1">
            <a:spLocks noGrp="1"/>
          </p:cNvSpPr>
          <p:nvPr>
            <p:ph type="body" idx="1"/>
          </p:nvPr>
        </p:nvSpPr>
        <p:spPr>
          <a:xfrm>
            <a:off x="1332875" y="2758746"/>
            <a:ext cx="9036000" cy="10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</a:pPr>
            <a:r>
              <a:rPr lang="en-US"/>
              <a:t>Understand the concept of word vectors</a:t>
            </a:r>
            <a:endParaRPr/>
          </a:p>
          <a:p>
            <a:pPr marL="0" lvl="0" indent="0" algn="l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</a:pPr>
            <a:endParaRPr/>
          </a:p>
        </p:txBody>
      </p:sp>
      <p:sp>
        <p:nvSpPr>
          <p:cNvPr id="207" name="Google Shape;207;p3"/>
          <p:cNvSpPr txBox="1">
            <a:spLocks noGrp="1"/>
          </p:cNvSpPr>
          <p:nvPr>
            <p:ph type="body" idx="2"/>
          </p:nvPr>
        </p:nvSpPr>
        <p:spPr>
          <a:xfrm>
            <a:off x="1332356" y="3558751"/>
            <a:ext cx="9036000" cy="10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</a:pPr>
            <a:r>
              <a:rPr lang="en-US" dirty="0"/>
              <a:t>Explain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various</a:t>
            </a:r>
            <a:r>
              <a:rPr lang="en-US" dirty="0"/>
              <a:t> word vectorization techniques</a:t>
            </a:r>
            <a:endParaRPr dirty="0"/>
          </a:p>
        </p:txBody>
      </p:sp>
      <p:sp>
        <p:nvSpPr>
          <p:cNvPr id="208" name="Google Shape;208;p3"/>
          <p:cNvSpPr txBox="1">
            <a:spLocks noGrp="1"/>
          </p:cNvSpPr>
          <p:nvPr>
            <p:ph type="body" idx="3"/>
          </p:nvPr>
        </p:nvSpPr>
        <p:spPr>
          <a:xfrm>
            <a:off x="1331837" y="4383470"/>
            <a:ext cx="7305977" cy="10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</a:pPr>
            <a:r>
              <a:rPr lang="en-US"/>
              <a:t>Understand creation of vectors using bag-of-words and TF-IDF techniques</a:t>
            </a:r>
            <a:endParaRPr/>
          </a:p>
        </p:txBody>
      </p:sp>
      <p:pic>
        <p:nvPicPr>
          <p:cNvPr id="209" name="Google Shape;209;p3" descr="A blue and white circle with a white circle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636" y="2820824"/>
            <a:ext cx="396244" cy="3879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3" descr="A blue and white circle with a white circle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636" y="4450170"/>
            <a:ext cx="396244" cy="3879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3" descr="A blue and white circle with a white circle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636" y="3615552"/>
            <a:ext cx="396244" cy="3879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"/>
          <p:cNvSpPr txBox="1">
            <a:spLocks noGrp="1"/>
          </p:cNvSpPr>
          <p:nvPr>
            <p:ph type="body" idx="1"/>
          </p:nvPr>
        </p:nvSpPr>
        <p:spPr>
          <a:xfrm>
            <a:off x="0" y="4114800"/>
            <a:ext cx="16256001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/>
              <a:t>Understanding Feature Vectors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5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</a:pPr>
            <a:r>
              <a:rPr lang="en-US"/>
              <a:t>What are Vectors?</a:t>
            </a:r>
            <a:endParaRPr/>
          </a:p>
        </p:txBody>
      </p:sp>
      <p:sp>
        <p:nvSpPr>
          <p:cNvPr id="223" name="Google Shape;223;p5"/>
          <p:cNvSpPr txBox="1">
            <a:spLocks noGrp="1"/>
          </p:cNvSpPr>
          <p:nvPr>
            <p:ph type="body" idx="2"/>
          </p:nvPr>
        </p:nvSpPr>
        <p:spPr>
          <a:xfrm>
            <a:off x="1291857" y="1583173"/>
            <a:ext cx="13696999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</a:pPr>
            <a:r>
              <a:rPr lang="en-US"/>
              <a:t>A vector is a mathematical representation of a word or a sequence of words. </a:t>
            </a:r>
            <a:endParaRPr/>
          </a:p>
        </p:txBody>
      </p:sp>
      <p:sp>
        <p:nvSpPr>
          <p:cNvPr id="224" name="Google Shape;224;p5"/>
          <p:cNvSpPr/>
          <p:nvPr/>
        </p:nvSpPr>
        <p:spPr>
          <a:xfrm>
            <a:off x="6448324" y="816324"/>
            <a:ext cx="3355463" cy="3810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25000">
                <a:srgbClr val="3645A9"/>
              </a:gs>
              <a:gs pos="50000">
                <a:srgbClr val="3645A9"/>
              </a:gs>
              <a:gs pos="75000">
                <a:srgbClr val="3645A9"/>
              </a:gs>
              <a:gs pos="100000">
                <a:srgbClr val="FFFFFF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225" name="Google Shape;225;p5"/>
          <p:cNvGraphicFramePr/>
          <p:nvPr/>
        </p:nvGraphicFramePr>
        <p:xfrm>
          <a:off x="2847764" y="3509180"/>
          <a:ext cx="10284125" cy="3149100"/>
        </p:xfrm>
        <a:graphic>
          <a:graphicData uri="http://schemas.openxmlformats.org/drawingml/2006/table">
            <a:tbl>
              <a:tblPr>
                <a:noFill/>
                <a:tableStyleId>{3451E598-09E1-43EC-B2AC-09E2A2E3DA04}</a:tableStyleId>
              </a:tblPr>
              <a:tblGrid>
                <a:gridCol w="997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1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2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2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3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05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11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53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b="0" i="0" u="none" strike="noStrike" cap="none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Open Sans"/>
                        <a:buNone/>
                      </a:pPr>
                      <a:endParaRPr sz="2000" u="none" strike="noStrike" cap="none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400"/>
                        <a:buFont typeface="Open Sans"/>
                        <a:buNone/>
                      </a:pPr>
                      <a:r>
                        <a:rPr lang="en-US" sz="2400" u="none" strike="noStrike" cap="none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Subject-Area of the research paper</a:t>
                      </a:r>
                      <a:endParaRPr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9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b="0" i="0" u="none" strike="noStrike" cap="none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Count of words</a:t>
                      </a:r>
                      <a:endParaRPr/>
                    </a:p>
                  </a:txBody>
                  <a:tcPr marL="9525" marR="9525" marT="9525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Machine Learning</a:t>
                      </a:r>
                      <a:endParaRPr/>
                    </a:p>
                  </a:txBody>
                  <a:tcPr marL="9525" marR="9525" marT="9525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History</a:t>
                      </a:r>
                      <a:endParaRPr/>
                    </a:p>
                  </a:txBody>
                  <a:tcPr marL="9525" marR="9525" marT="9525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Machine Learning</a:t>
                      </a:r>
                      <a:endParaRPr/>
                    </a:p>
                  </a:txBody>
                  <a:tcPr marL="9525" marR="9525" marT="9525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History</a:t>
                      </a:r>
                      <a:endParaRPr/>
                    </a:p>
                  </a:txBody>
                  <a:tcPr marL="9525" marR="9525" marT="9525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Machine Learning</a:t>
                      </a:r>
                      <a:endParaRPr/>
                    </a:p>
                  </a:txBody>
                  <a:tcPr marL="9525" marR="9525" marT="9525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Words</a:t>
                      </a:r>
                      <a:endParaRPr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97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classification</a:t>
                      </a:r>
                      <a:endParaRPr sz="2000" b="0" i="0" u="none" strike="noStrike" cap="none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250</a:t>
                      </a:r>
                      <a:endParaRPr sz="2000" b="0" i="0" u="none" strike="noStrike" cap="none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48</a:t>
                      </a:r>
                      <a:endParaRPr sz="2000" b="0" i="0" u="none" strike="noStrike" cap="none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280</a:t>
                      </a:r>
                      <a:endParaRPr sz="2000" b="0" i="0" u="none" strike="noStrike" cap="none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64</a:t>
                      </a:r>
                      <a:endParaRPr sz="2000" b="0" i="0" u="none" strike="noStrike" cap="none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450</a:t>
                      </a:r>
                      <a:endParaRPr sz="2000" b="0" i="0" u="none" strike="noStrike" cap="none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72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evolution</a:t>
                      </a:r>
                      <a:endParaRPr sz="2000" b="0" i="0" u="none" strike="noStrike" cap="none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50</a:t>
                      </a:r>
                      <a:endParaRPr sz="2000" b="0" i="0" u="none" strike="noStrike" cap="none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280</a:t>
                      </a:r>
                      <a:endParaRPr sz="2000" b="0" i="0" u="none" strike="noStrike" cap="none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30</a:t>
                      </a:r>
                      <a:endParaRPr sz="2000" b="0" i="0" u="none" strike="noStrike" cap="none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380</a:t>
                      </a:r>
                      <a:endParaRPr sz="2000" b="0" i="0" u="none" strike="noStrike" cap="none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12</a:t>
                      </a:r>
                      <a:endParaRPr sz="2000" b="0" i="0" u="none" strike="noStrike" cap="none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D2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6" name="Google Shape;226;p5"/>
          <p:cNvSpPr/>
          <p:nvPr/>
        </p:nvSpPr>
        <p:spPr>
          <a:xfrm>
            <a:off x="6175912" y="4268188"/>
            <a:ext cx="6955977" cy="873854"/>
          </a:xfrm>
          <a:prstGeom prst="rect">
            <a:avLst/>
          </a:prstGeom>
          <a:noFill/>
          <a:ln w="2857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7" name="Google Shape;227;p5"/>
          <p:cNvSpPr txBox="1"/>
          <p:nvPr/>
        </p:nvSpPr>
        <p:spPr>
          <a:xfrm>
            <a:off x="13697679" y="4406151"/>
            <a:ext cx="464236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1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Y</a:t>
            </a:r>
            <a:endParaRPr/>
          </a:p>
        </p:txBody>
      </p:sp>
      <p:sp>
        <p:nvSpPr>
          <p:cNvPr id="228" name="Google Shape;228;p5"/>
          <p:cNvSpPr/>
          <p:nvPr/>
        </p:nvSpPr>
        <p:spPr>
          <a:xfrm>
            <a:off x="4091102" y="5119488"/>
            <a:ext cx="1787634" cy="1819147"/>
          </a:xfrm>
          <a:prstGeom prst="rect">
            <a:avLst/>
          </a:prstGeom>
          <a:noFill/>
          <a:ln w="2857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9" name="Google Shape;229;p5"/>
          <p:cNvSpPr txBox="1"/>
          <p:nvPr/>
        </p:nvSpPr>
        <p:spPr>
          <a:xfrm>
            <a:off x="4877164" y="6512690"/>
            <a:ext cx="23915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1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X</a:t>
            </a:r>
            <a:endParaRPr/>
          </a:p>
        </p:txBody>
      </p:sp>
      <p:sp>
        <p:nvSpPr>
          <p:cNvPr id="230" name="Google Shape;230;p5"/>
          <p:cNvSpPr txBox="1"/>
          <p:nvPr/>
        </p:nvSpPr>
        <p:spPr>
          <a:xfrm>
            <a:off x="2145555" y="2138117"/>
            <a:ext cx="12043118" cy="840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Given here are the </a:t>
            </a:r>
            <a:r>
              <a:rPr lang="en-US"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frequency counts for the words </a:t>
            </a:r>
            <a:r>
              <a:rPr lang="en-US" sz="2200" b="1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'classification</a:t>
            </a:r>
            <a:r>
              <a:rPr lang="en-US"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' and </a:t>
            </a:r>
            <a:r>
              <a:rPr lang="en-US" sz="2200" b="1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'evolution</a:t>
            </a:r>
            <a:r>
              <a:rPr lang="en-US"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' in five distinct research papers.</a:t>
            </a:r>
            <a:endParaRPr/>
          </a:p>
        </p:txBody>
      </p:sp>
      <p:sp>
        <p:nvSpPr>
          <p:cNvPr id="231" name="Google Shape;231;p5"/>
          <p:cNvSpPr txBox="1"/>
          <p:nvPr/>
        </p:nvSpPr>
        <p:spPr>
          <a:xfrm>
            <a:off x="2983989" y="7455504"/>
            <a:ext cx="10366251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The subject areas covered in these research papers span </a:t>
            </a:r>
            <a:r>
              <a:rPr lang="en-US" sz="2200" b="1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Machine Learning </a:t>
            </a:r>
            <a:r>
              <a:rPr lang="en-US"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and </a:t>
            </a:r>
            <a:r>
              <a:rPr lang="en-US" sz="2200" b="1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History</a:t>
            </a:r>
            <a:r>
              <a:rPr lang="en-US"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/>
          </a:p>
        </p:txBody>
      </p:sp>
      <p:sp>
        <p:nvSpPr>
          <p:cNvPr id="232" name="Google Shape;232;p5"/>
          <p:cNvSpPr/>
          <p:nvPr/>
        </p:nvSpPr>
        <p:spPr>
          <a:xfrm>
            <a:off x="2128493" y="7266350"/>
            <a:ext cx="11551451" cy="10230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58AF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3" name="Google Shape;233;p5"/>
          <p:cNvGrpSpPr/>
          <p:nvPr/>
        </p:nvGrpSpPr>
        <p:grpSpPr>
          <a:xfrm>
            <a:off x="2440313" y="6979275"/>
            <a:ext cx="573875" cy="573875"/>
            <a:chOff x="2432750" y="3001150"/>
            <a:chExt cx="748500" cy="748500"/>
          </a:xfrm>
        </p:grpSpPr>
        <p:sp>
          <p:nvSpPr>
            <p:cNvPr id="234" name="Google Shape;234;p5"/>
            <p:cNvSpPr/>
            <p:nvPr/>
          </p:nvSpPr>
          <p:spPr>
            <a:xfrm>
              <a:off x="2432750" y="3001150"/>
              <a:ext cx="748500" cy="748500"/>
            </a:xfrm>
            <a:prstGeom prst="ellipse">
              <a:avLst/>
            </a:prstGeom>
            <a:solidFill>
              <a:srgbClr val="44AA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35" name="Google Shape;235;p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609797" y="3094375"/>
              <a:ext cx="394400" cy="5620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6"/>
          <p:cNvSpPr/>
          <p:nvPr/>
        </p:nvSpPr>
        <p:spPr>
          <a:xfrm>
            <a:off x="8377881" y="3153000"/>
            <a:ext cx="6610975" cy="3681288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1" name="Google Shape;241;p6"/>
          <p:cNvSpPr txBox="1">
            <a:spLocks noGrp="1"/>
          </p:cNvSpPr>
          <p:nvPr>
            <p:ph type="body" idx="2"/>
          </p:nvPr>
        </p:nvSpPr>
        <p:spPr>
          <a:xfrm>
            <a:off x="1291857" y="1583173"/>
            <a:ext cx="13696999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>
                <a:latin typeface="Open Sans"/>
                <a:ea typeface="Open Sans"/>
                <a:cs typeface="Open Sans"/>
                <a:sym typeface="Open Sans"/>
              </a:rPr>
              <a:t>The research papers are plot based on the count of the words – </a:t>
            </a:r>
            <a:r>
              <a:rPr lang="en-US" b="1">
                <a:latin typeface="Open Sans"/>
                <a:ea typeface="Open Sans"/>
                <a:cs typeface="Open Sans"/>
                <a:sym typeface="Open Sans"/>
              </a:rPr>
              <a:t>classification </a:t>
            </a:r>
            <a:r>
              <a:rPr lang="en-US">
                <a:latin typeface="Open Sans"/>
                <a:ea typeface="Open Sans"/>
                <a:cs typeface="Open Sans"/>
                <a:sym typeface="Open Sans"/>
              </a:rPr>
              <a:t>and </a:t>
            </a:r>
            <a:r>
              <a:rPr lang="en-US" b="1">
                <a:latin typeface="Open Sans"/>
                <a:ea typeface="Open Sans"/>
                <a:cs typeface="Open Sans"/>
                <a:sym typeface="Open Sans"/>
              </a:rPr>
              <a:t>evolution</a:t>
            </a:r>
            <a:r>
              <a:rPr lang="en-US"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/>
          </a:p>
        </p:txBody>
      </p:sp>
      <p:sp>
        <p:nvSpPr>
          <p:cNvPr id="242" name="Google Shape;242;p6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</a:pPr>
            <a:r>
              <a:rPr lang="en-US">
                <a:latin typeface="Open Sans"/>
                <a:ea typeface="Open Sans"/>
                <a:cs typeface="Open Sans"/>
                <a:sym typeface="Open Sans"/>
              </a:rPr>
              <a:t>What are Vectors?</a:t>
            </a:r>
            <a:endParaRPr/>
          </a:p>
        </p:txBody>
      </p:sp>
      <p:sp>
        <p:nvSpPr>
          <p:cNvPr id="243" name="Google Shape;243;p6"/>
          <p:cNvSpPr txBox="1"/>
          <p:nvPr/>
        </p:nvSpPr>
        <p:spPr>
          <a:xfrm>
            <a:off x="9593167" y="3658471"/>
            <a:ext cx="5395689" cy="16124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This representation is used to capture the semantic meaning of words and their relationships in a numerical format.</a:t>
            </a:r>
            <a:endParaRPr dirty="0"/>
          </a:p>
        </p:txBody>
      </p:sp>
      <p:grpSp>
        <p:nvGrpSpPr>
          <p:cNvPr id="244" name="Google Shape;244;p6"/>
          <p:cNvGrpSpPr/>
          <p:nvPr/>
        </p:nvGrpSpPr>
        <p:grpSpPr>
          <a:xfrm>
            <a:off x="2357994" y="7628901"/>
            <a:ext cx="4671229" cy="478234"/>
            <a:chOff x="6228653" y="3166165"/>
            <a:chExt cx="4671229" cy="478234"/>
          </a:xfrm>
        </p:grpSpPr>
        <p:sp>
          <p:nvSpPr>
            <p:cNvPr id="245" name="Google Shape;245;p6"/>
            <p:cNvSpPr/>
            <p:nvPr/>
          </p:nvSpPr>
          <p:spPr>
            <a:xfrm>
              <a:off x="9502462" y="3275223"/>
              <a:ext cx="216000" cy="216000"/>
            </a:xfrm>
            <a:prstGeom prst="ellipse">
              <a:avLst/>
            </a:prstGeom>
            <a:solidFill>
              <a:srgbClr val="03B04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46" name="Google Shape;246;p6"/>
            <p:cNvSpPr/>
            <p:nvPr/>
          </p:nvSpPr>
          <p:spPr>
            <a:xfrm>
              <a:off x="6228653" y="3258234"/>
              <a:ext cx="216000" cy="216000"/>
            </a:xfrm>
            <a:prstGeom prst="ellipse">
              <a:avLst/>
            </a:prstGeom>
            <a:solidFill>
              <a:srgbClr val="C55A1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47" name="Google Shape;247;p6"/>
            <p:cNvSpPr txBox="1"/>
            <p:nvPr/>
          </p:nvSpPr>
          <p:spPr>
            <a:xfrm>
              <a:off x="6529968" y="3166167"/>
              <a:ext cx="2603572" cy="4782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0" i="0" u="none" strike="noStrike" cap="none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/>
                  <a:ea typeface="Open Sans"/>
                  <a:cs typeface="Open Sans"/>
                  <a:sym typeface="Open Sans"/>
                </a:rPr>
                <a:t>Machine learning</a:t>
              </a:r>
              <a:endParaRPr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48" name="Google Shape;248;p6"/>
            <p:cNvSpPr txBox="1"/>
            <p:nvPr/>
          </p:nvSpPr>
          <p:spPr>
            <a:xfrm>
              <a:off x="9772650" y="3166165"/>
              <a:ext cx="1127232" cy="4546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0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History</a:t>
              </a:r>
              <a:endParaRPr/>
            </a:p>
          </p:txBody>
        </p:sp>
      </p:grpSp>
      <p:pic>
        <p:nvPicPr>
          <p:cNvPr id="249" name="Google Shape;249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42286" y="3735365"/>
            <a:ext cx="431800" cy="44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42286" y="5510667"/>
            <a:ext cx="431800" cy="444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6"/>
          <p:cNvSpPr txBox="1"/>
          <p:nvPr/>
        </p:nvSpPr>
        <p:spPr>
          <a:xfrm>
            <a:off x="9593167" y="5510667"/>
            <a:ext cx="5184465" cy="840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This format can be easily processed by machine learning algorithms.</a:t>
            </a:r>
            <a:endParaRPr dirty="0"/>
          </a:p>
        </p:txBody>
      </p:sp>
      <p:graphicFrame>
        <p:nvGraphicFramePr>
          <p:cNvPr id="252" name="Google Shape;252;p6"/>
          <p:cNvGraphicFramePr/>
          <p:nvPr/>
        </p:nvGraphicFramePr>
        <p:xfrm>
          <a:off x="1918826" y="2856279"/>
          <a:ext cx="5531535" cy="47576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53" name="Google Shape;253;p6"/>
          <p:cNvSpPr/>
          <p:nvPr/>
        </p:nvSpPr>
        <p:spPr>
          <a:xfrm>
            <a:off x="6448324" y="816324"/>
            <a:ext cx="3355463" cy="3810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25000">
                <a:srgbClr val="3645A9"/>
              </a:gs>
              <a:gs pos="50000">
                <a:srgbClr val="3645A9"/>
              </a:gs>
              <a:gs pos="75000">
                <a:srgbClr val="3645A9"/>
              </a:gs>
              <a:gs pos="100000">
                <a:srgbClr val="FFFFFF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7"/>
          <p:cNvSpPr/>
          <p:nvPr/>
        </p:nvSpPr>
        <p:spPr>
          <a:xfrm>
            <a:off x="8377881" y="3957750"/>
            <a:ext cx="6610975" cy="2554718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9" name="Google Shape;259;p7"/>
          <p:cNvSpPr txBox="1">
            <a:spLocks noGrp="1"/>
          </p:cNvSpPr>
          <p:nvPr>
            <p:ph type="body" idx="2"/>
          </p:nvPr>
        </p:nvSpPr>
        <p:spPr>
          <a:xfrm>
            <a:off x="1291857" y="1583173"/>
            <a:ext cx="13696999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>
                <a:latin typeface="Open Sans"/>
                <a:ea typeface="Open Sans"/>
                <a:cs typeface="Open Sans"/>
                <a:sym typeface="Open Sans"/>
              </a:rPr>
              <a:t>The research papers are plot based on the count of the words – </a:t>
            </a:r>
            <a:r>
              <a:rPr lang="en-US" b="1">
                <a:latin typeface="Open Sans"/>
                <a:ea typeface="Open Sans"/>
                <a:cs typeface="Open Sans"/>
                <a:sym typeface="Open Sans"/>
              </a:rPr>
              <a:t>classification </a:t>
            </a:r>
            <a:r>
              <a:rPr lang="en-US">
                <a:latin typeface="Open Sans"/>
                <a:ea typeface="Open Sans"/>
                <a:cs typeface="Open Sans"/>
                <a:sym typeface="Open Sans"/>
              </a:rPr>
              <a:t>and </a:t>
            </a:r>
            <a:r>
              <a:rPr lang="en-US" b="1">
                <a:latin typeface="Open Sans"/>
                <a:ea typeface="Open Sans"/>
                <a:cs typeface="Open Sans"/>
                <a:sym typeface="Open Sans"/>
              </a:rPr>
              <a:t>evolution</a:t>
            </a:r>
            <a:r>
              <a:rPr lang="en-US"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/>
          </a:p>
        </p:txBody>
      </p:sp>
      <p:sp>
        <p:nvSpPr>
          <p:cNvPr id="260" name="Google Shape;260;p7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</a:pPr>
            <a:r>
              <a:rPr lang="en-US">
                <a:latin typeface="Open Sans"/>
                <a:ea typeface="Open Sans"/>
                <a:cs typeface="Open Sans"/>
                <a:sym typeface="Open Sans"/>
              </a:rPr>
              <a:t>What are Vectors?</a:t>
            </a:r>
            <a:endParaRPr/>
          </a:p>
        </p:txBody>
      </p:sp>
      <p:sp>
        <p:nvSpPr>
          <p:cNvPr id="261" name="Google Shape;261;p7"/>
          <p:cNvSpPr txBox="1"/>
          <p:nvPr/>
        </p:nvSpPr>
        <p:spPr>
          <a:xfrm>
            <a:off x="9538491" y="4470096"/>
            <a:ext cx="4798683" cy="1636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Predictions can be made for any new research paper using the line separating the two types of research papers.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262" name="Google Shape;262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42286" y="4501628"/>
            <a:ext cx="431800" cy="444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3" name="Google Shape;263;p7"/>
          <p:cNvCxnSpPr/>
          <p:nvPr/>
        </p:nvCxnSpPr>
        <p:spPr>
          <a:xfrm rot="10800000" flipH="1">
            <a:off x="3216166" y="3373821"/>
            <a:ext cx="2352388" cy="3736427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64" name="Google Shape;264;p7"/>
          <p:cNvSpPr/>
          <p:nvPr/>
        </p:nvSpPr>
        <p:spPr>
          <a:xfrm>
            <a:off x="5308076" y="4946128"/>
            <a:ext cx="180000" cy="180000"/>
          </a:xfrm>
          <a:prstGeom prst="ellipse">
            <a:avLst/>
          </a:prstGeom>
          <a:solidFill>
            <a:srgbClr val="40417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65" name="Google Shape;265;p7"/>
          <p:cNvCxnSpPr/>
          <p:nvPr/>
        </p:nvCxnSpPr>
        <p:spPr>
          <a:xfrm rot="10800000">
            <a:off x="5622502" y="5020713"/>
            <a:ext cx="527446" cy="0"/>
          </a:xfrm>
          <a:prstGeom prst="straightConnector1">
            <a:avLst/>
          </a:prstGeom>
          <a:noFill/>
          <a:ln w="28575" cap="flat" cmpd="sng">
            <a:solidFill>
              <a:srgbClr val="5B9BD5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66" name="Google Shape;266;p7"/>
          <p:cNvSpPr txBox="1"/>
          <p:nvPr/>
        </p:nvSpPr>
        <p:spPr>
          <a:xfrm>
            <a:off x="6106594" y="4804515"/>
            <a:ext cx="1771526" cy="454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New paper</a:t>
            </a:r>
            <a:endParaRPr/>
          </a:p>
        </p:txBody>
      </p:sp>
      <p:grpSp>
        <p:nvGrpSpPr>
          <p:cNvPr id="267" name="Google Shape;267;p7"/>
          <p:cNvGrpSpPr/>
          <p:nvPr/>
        </p:nvGrpSpPr>
        <p:grpSpPr>
          <a:xfrm>
            <a:off x="2357994" y="7628901"/>
            <a:ext cx="4671229" cy="454678"/>
            <a:chOff x="6228653" y="3166165"/>
            <a:chExt cx="4671229" cy="454678"/>
          </a:xfrm>
        </p:grpSpPr>
        <p:sp>
          <p:nvSpPr>
            <p:cNvPr id="268" name="Google Shape;268;p7"/>
            <p:cNvSpPr/>
            <p:nvPr/>
          </p:nvSpPr>
          <p:spPr>
            <a:xfrm>
              <a:off x="9502462" y="3275223"/>
              <a:ext cx="216000" cy="216000"/>
            </a:xfrm>
            <a:prstGeom prst="ellipse">
              <a:avLst/>
            </a:prstGeom>
            <a:solidFill>
              <a:srgbClr val="03B04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200" b="0" i="0" u="none" strike="noStrike" cap="none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69" name="Google Shape;269;p7"/>
            <p:cNvSpPr/>
            <p:nvPr/>
          </p:nvSpPr>
          <p:spPr>
            <a:xfrm>
              <a:off x="6228653" y="3258234"/>
              <a:ext cx="216000" cy="216000"/>
            </a:xfrm>
            <a:prstGeom prst="ellipse">
              <a:avLst/>
            </a:prstGeom>
            <a:solidFill>
              <a:srgbClr val="C55A1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70" name="Google Shape;270;p7"/>
            <p:cNvSpPr txBox="1"/>
            <p:nvPr/>
          </p:nvSpPr>
          <p:spPr>
            <a:xfrm>
              <a:off x="6529968" y="3166167"/>
              <a:ext cx="2603572" cy="4546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0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Machine learning</a:t>
              </a:r>
              <a:endParaRPr/>
            </a:p>
          </p:txBody>
        </p:sp>
        <p:sp>
          <p:nvSpPr>
            <p:cNvPr id="271" name="Google Shape;271;p7"/>
            <p:cNvSpPr txBox="1"/>
            <p:nvPr/>
          </p:nvSpPr>
          <p:spPr>
            <a:xfrm>
              <a:off x="9772650" y="3166165"/>
              <a:ext cx="1127232" cy="4546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0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History</a:t>
              </a:r>
              <a:endParaRPr/>
            </a:p>
          </p:txBody>
        </p:sp>
      </p:grpSp>
      <p:graphicFrame>
        <p:nvGraphicFramePr>
          <p:cNvPr id="272" name="Google Shape;272;p7"/>
          <p:cNvGraphicFramePr/>
          <p:nvPr/>
        </p:nvGraphicFramePr>
        <p:xfrm>
          <a:off x="1918826" y="2856279"/>
          <a:ext cx="5531535" cy="47576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73" name="Google Shape;273;p7"/>
          <p:cNvSpPr/>
          <p:nvPr/>
        </p:nvSpPr>
        <p:spPr>
          <a:xfrm>
            <a:off x="6448324" y="816324"/>
            <a:ext cx="3355463" cy="3810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25000">
                <a:srgbClr val="3645A9"/>
              </a:gs>
              <a:gs pos="50000">
                <a:srgbClr val="3645A9"/>
              </a:gs>
              <a:gs pos="75000">
                <a:srgbClr val="3645A9"/>
              </a:gs>
              <a:gs pos="100000">
                <a:srgbClr val="FFFFFF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8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</a:pPr>
            <a:r>
              <a:rPr lang="en-US"/>
              <a:t>Word Analogies</a:t>
            </a:r>
            <a:endParaRPr/>
          </a:p>
        </p:txBody>
      </p:sp>
      <p:sp>
        <p:nvSpPr>
          <p:cNvPr id="279" name="Google Shape;279;p8"/>
          <p:cNvSpPr txBox="1">
            <a:spLocks noGrp="1"/>
          </p:cNvSpPr>
          <p:nvPr>
            <p:ph type="body" idx="1"/>
          </p:nvPr>
        </p:nvSpPr>
        <p:spPr>
          <a:xfrm>
            <a:off x="1291857" y="1512833"/>
            <a:ext cx="13696999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</a:pPr>
            <a:r>
              <a:rPr lang="en-US" b="0" i="0">
                <a:latin typeface="Open Sans"/>
                <a:ea typeface="Open Sans"/>
                <a:cs typeface="Open Sans"/>
                <a:sym typeface="Open Sans"/>
              </a:rPr>
              <a:t>Word analogies involve identifying relationships between words and then using these relationships to find missing or analogous words.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280" name="Google Shape;280;p8"/>
          <p:cNvGrpSpPr/>
          <p:nvPr/>
        </p:nvGrpSpPr>
        <p:grpSpPr>
          <a:xfrm>
            <a:off x="8605134" y="3962431"/>
            <a:ext cx="6424344" cy="2449760"/>
            <a:chOff x="1458411" y="3965025"/>
            <a:chExt cx="6424344" cy="2449760"/>
          </a:xfrm>
        </p:grpSpPr>
        <p:sp>
          <p:nvSpPr>
            <p:cNvPr id="281" name="Google Shape;281;p8"/>
            <p:cNvSpPr txBox="1"/>
            <p:nvPr/>
          </p:nvSpPr>
          <p:spPr>
            <a:xfrm>
              <a:off x="1934034" y="3965025"/>
              <a:ext cx="5948721" cy="8406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0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A word analogy is like saying "</a:t>
              </a:r>
              <a:r>
                <a:rPr lang="en-US" sz="2200" b="1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a</a:t>
              </a:r>
              <a:r>
                <a:rPr lang="en-US" sz="2200" b="0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 is to </a:t>
              </a:r>
              <a:r>
                <a:rPr lang="en-US" sz="2200" b="1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b</a:t>
              </a:r>
              <a:r>
                <a:rPr lang="en-US" sz="2200" b="0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 as </a:t>
              </a:r>
              <a:r>
                <a:rPr lang="en-US" sz="2200" b="1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x</a:t>
              </a:r>
              <a:r>
                <a:rPr lang="en-US" sz="2200" b="0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 is to </a:t>
              </a:r>
              <a:r>
                <a:rPr lang="en-US" sz="2200" b="1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y</a:t>
              </a:r>
              <a:r>
                <a:rPr lang="en-US" sz="2200" b="0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”.</a:t>
              </a:r>
              <a:endParaRPr/>
            </a:p>
          </p:txBody>
        </p:sp>
        <p:sp>
          <p:nvSpPr>
            <p:cNvPr id="282" name="Google Shape;282;p8"/>
            <p:cNvSpPr txBox="1"/>
            <p:nvPr/>
          </p:nvSpPr>
          <p:spPr>
            <a:xfrm>
              <a:off x="1934034" y="5188231"/>
              <a:ext cx="5948721" cy="1226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0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This means that </a:t>
              </a:r>
              <a:r>
                <a:rPr lang="en-US" sz="2200" b="1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a</a:t>
              </a:r>
              <a:r>
                <a:rPr lang="en-US" sz="2200" b="0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 and </a:t>
              </a:r>
              <a:r>
                <a:rPr lang="en-US" sz="2200" b="1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x</a:t>
              </a:r>
              <a:r>
                <a:rPr lang="en-US" sz="2200" b="0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 can undergo similar changes to become </a:t>
              </a:r>
              <a:r>
                <a:rPr lang="en-US" sz="2200" b="1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b</a:t>
              </a:r>
              <a:r>
                <a:rPr lang="en-US" sz="2200" b="0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 and </a:t>
              </a:r>
              <a:r>
                <a:rPr lang="en-US" sz="2200" b="1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y</a:t>
              </a:r>
              <a:r>
                <a:rPr lang="en-US" sz="2200" b="0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, and vice versa.</a:t>
              </a:r>
              <a:endParaRPr/>
            </a:p>
          </p:txBody>
        </p:sp>
        <p:pic>
          <p:nvPicPr>
            <p:cNvPr id="283" name="Google Shape;283;p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458411" y="5236182"/>
              <a:ext cx="384686" cy="396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4" name="Google Shape;284;p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458411" y="4060387"/>
              <a:ext cx="384686" cy="396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5" name="Google Shape;285;p8"/>
          <p:cNvGrpSpPr/>
          <p:nvPr/>
        </p:nvGrpSpPr>
        <p:grpSpPr>
          <a:xfrm>
            <a:off x="1601076" y="3196336"/>
            <a:ext cx="6055200" cy="3945437"/>
            <a:chOff x="8576441" y="3027117"/>
            <a:chExt cx="6526925" cy="4223850"/>
          </a:xfrm>
        </p:grpSpPr>
        <p:sp>
          <p:nvSpPr>
            <p:cNvPr id="286" name="Google Shape;286;p8"/>
            <p:cNvSpPr/>
            <p:nvPr/>
          </p:nvSpPr>
          <p:spPr>
            <a:xfrm>
              <a:off x="8576441" y="3027117"/>
              <a:ext cx="6526925" cy="422385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rgbClr val="07A59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2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cxnSp>
          <p:nvCxnSpPr>
            <p:cNvPr id="287" name="Google Shape;287;p8"/>
            <p:cNvCxnSpPr/>
            <p:nvPr/>
          </p:nvCxnSpPr>
          <p:spPr>
            <a:xfrm rot="10800000" flipH="1">
              <a:off x="12250946" y="5188231"/>
              <a:ext cx="956035" cy="879404"/>
            </a:xfrm>
            <a:prstGeom prst="straightConnector1">
              <a:avLst/>
            </a:prstGeom>
            <a:noFill/>
            <a:ln w="63500" cap="rnd" cmpd="sng">
              <a:solidFill>
                <a:srgbClr val="9F7A4E"/>
              </a:solidFill>
              <a:prstDash val="solid"/>
              <a:bevel/>
              <a:headEnd type="none" w="sm" len="sm"/>
              <a:tailEnd type="stealth" w="med" len="med"/>
            </a:ln>
          </p:spPr>
        </p:cxnSp>
        <p:cxnSp>
          <p:nvCxnSpPr>
            <p:cNvPr id="288" name="Google Shape;288;p8"/>
            <p:cNvCxnSpPr/>
            <p:nvPr/>
          </p:nvCxnSpPr>
          <p:spPr>
            <a:xfrm rot="10800000" flipH="1">
              <a:off x="10354562" y="4258387"/>
              <a:ext cx="928958" cy="828516"/>
            </a:xfrm>
            <a:prstGeom prst="straightConnector1">
              <a:avLst/>
            </a:prstGeom>
            <a:noFill/>
            <a:ln w="63500" cap="rnd" cmpd="sng">
              <a:solidFill>
                <a:srgbClr val="9F7A4E"/>
              </a:solidFill>
              <a:prstDash val="solid"/>
              <a:bevel/>
              <a:headEnd type="none" w="sm" len="sm"/>
              <a:tailEnd type="stealth" w="med" len="med"/>
            </a:ln>
          </p:spPr>
        </p:cxnSp>
        <p:sp>
          <p:nvSpPr>
            <p:cNvPr id="289" name="Google Shape;289;p8"/>
            <p:cNvSpPr/>
            <p:nvPr/>
          </p:nvSpPr>
          <p:spPr>
            <a:xfrm>
              <a:off x="8998727" y="5086903"/>
              <a:ext cx="1355835" cy="616231"/>
            </a:xfrm>
            <a:prstGeom prst="roundRect">
              <a:avLst>
                <a:gd name="adj" fmla="val 16667"/>
              </a:avLst>
            </a:prstGeom>
            <a:solidFill>
              <a:srgbClr val="07A59E">
                <a:alpha val="19215"/>
              </a:srgbClr>
            </a:solidFill>
            <a:ln w="19050" cap="flat" cmpd="sng">
              <a:solidFill>
                <a:srgbClr val="07A59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0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Man</a:t>
              </a:r>
              <a:endParaRPr/>
            </a:p>
          </p:txBody>
        </p:sp>
        <p:sp>
          <p:nvSpPr>
            <p:cNvPr id="290" name="Google Shape;290;p8"/>
            <p:cNvSpPr/>
            <p:nvPr/>
          </p:nvSpPr>
          <p:spPr>
            <a:xfrm>
              <a:off x="11276009" y="3635673"/>
              <a:ext cx="1355835" cy="616231"/>
            </a:xfrm>
            <a:prstGeom prst="roundRect">
              <a:avLst>
                <a:gd name="adj" fmla="val 16667"/>
              </a:avLst>
            </a:prstGeom>
            <a:solidFill>
              <a:srgbClr val="07A59E">
                <a:alpha val="19215"/>
              </a:srgbClr>
            </a:solidFill>
            <a:ln w="19050" cap="flat" cmpd="sng">
              <a:solidFill>
                <a:srgbClr val="07A59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0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Woman   </a:t>
              </a:r>
              <a:endParaRPr/>
            </a:p>
          </p:txBody>
        </p:sp>
        <p:sp>
          <p:nvSpPr>
            <p:cNvPr id="291" name="Google Shape;291;p8"/>
            <p:cNvSpPr/>
            <p:nvPr/>
          </p:nvSpPr>
          <p:spPr>
            <a:xfrm>
              <a:off x="13182222" y="4572000"/>
              <a:ext cx="1355835" cy="616231"/>
            </a:xfrm>
            <a:prstGeom prst="roundRect">
              <a:avLst>
                <a:gd name="adj" fmla="val 16667"/>
              </a:avLst>
            </a:prstGeom>
            <a:solidFill>
              <a:srgbClr val="07A59E">
                <a:alpha val="19215"/>
              </a:srgbClr>
            </a:solidFill>
            <a:ln w="19050" cap="flat" cmpd="sng">
              <a:solidFill>
                <a:srgbClr val="07A59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0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Queen</a:t>
              </a:r>
              <a:endParaRPr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92" name="Google Shape;292;p8"/>
            <p:cNvSpPr/>
            <p:nvPr/>
          </p:nvSpPr>
          <p:spPr>
            <a:xfrm>
              <a:off x="10895111" y="6056926"/>
              <a:ext cx="1355835" cy="616231"/>
            </a:xfrm>
            <a:prstGeom prst="roundRect">
              <a:avLst>
                <a:gd name="adj" fmla="val 16667"/>
              </a:avLst>
            </a:prstGeom>
            <a:solidFill>
              <a:srgbClr val="07A59E">
                <a:alpha val="19215"/>
              </a:srgbClr>
            </a:solidFill>
            <a:ln w="19050" cap="flat" cmpd="sng">
              <a:solidFill>
                <a:srgbClr val="07A59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0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King</a:t>
              </a:r>
              <a:endParaRPr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93" name="Google Shape;293;p8"/>
            <p:cNvSpPr txBox="1"/>
            <p:nvPr/>
          </p:nvSpPr>
          <p:spPr>
            <a:xfrm>
              <a:off x="9291157" y="5588630"/>
              <a:ext cx="832190" cy="4867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1" i="0" u="none" strike="noStrike" cap="none" dirty="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a</a:t>
              </a:r>
              <a:endParaRPr dirty="0"/>
            </a:p>
          </p:txBody>
        </p:sp>
        <p:sp>
          <p:nvSpPr>
            <p:cNvPr id="294" name="Google Shape;294;p8"/>
            <p:cNvSpPr txBox="1"/>
            <p:nvPr/>
          </p:nvSpPr>
          <p:spPr>
            <a:xfrm>
              <a:off x="11545165" y="3227184"/>
              <a:ext cx="832190" cy="4867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1" i="0" u="none" strike="noStrike" cap="none" dirty="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b</a:t>
              </a:r>
              <a:endParaRPr dirty="0"/>
            </a:p>
          </p:txBody>
        </p:sp>
        <p:sp>
          <p:nvSpPr>
            <p:cNvPr id="295" name="Google Shape;295;p8"/>
            <p:cNvSpPr txBox="1"/>
            <p:nvPr/>
          </p:nvSpPr>
          <p:spPr>
            <a:xfrm>
              <a:off x="11166046" y="6568739"/>
              <a:ext cx="832190" cy="4867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1" i="0" u="none" strike="noStrike" cap="none" dirty="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x</a:t>
              </a:r>
              <a:endParaRPr dirty="0"/>
            </a:p>
          </p:txBody>
        </p:sp>
        <p:sp>
          <p:nvSpPr>
            <p:cNvPr id="296" name="Google Shape;296;p8"/>
            <p:cNvSpPr txBox="1"/>
            <p:nvPr/>
          </p:nvSpPr>
          <p:spPr>
            <a:xfrm>
              <a:off x="13496611" y="4095437"/>
              <a:ext cx="832190" cy="4867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1" i="0" u="none" strike="noStrike" cap="none" dirty="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y</a:t>
              </a:r>
              <a:endParaRPr dirty="0"/>
            </a:p>
          </p:txBody>
        </p:sp>
      </p:grpSp>
      <p:sp>
        <p:nvSpPr>
          <p:cNvPr id="297" name="Google Shape;297;p8"/>
          <p:cNvSpPr/>
          <p:nvPr/>
        </p:nvSpPr>
        <p:spPr>
          <a:xfrm>
            <a:off x="6448324" y="816324"/>
            <a:ext cx="3355463" cy="3810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25000">
                <a:srgbClr val="3645A9"/>
              </a:gs>
              <a:gs pos="50000">
                <a:srgbClr val="3645A9"/>
              </a:gs>
              <a:gs pos="75000">
                <a:srgbClr val="3645A9"/>
              </a:gs>
              <a:gs pos="100000">
                <a:srgbClr val="FFFFFF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9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</a:pPr>
            <a:r>
              <a:rPr lang="en-US">
                <a:latin typeface="Open Sans"/>
                <a:ea typeface="Open Sans"/>
                <a:cs typeface="Open Sans"/>
                <a:sym typeface="Open Sans"/>
              </a:rPr>
              <a:t>Word Analogies</a:t>
            </a:r>
            <a:endParaRPr/>
          </a:p>
        </p:txBody>
      </p:sp>
      <p:sp>
        <p:nvSpPr>
          <p:cNvPr id="303" name="Google Shape;303;p9"/>
          <p:cNvSpPr txBox="1">
            <a:spLocks noGrp="1"/>
          </p:cNvSpPr>
          <p:nvPr>
            <p:ph type="body" idx="1"/>
          </p:nvPr>
        </p:nvSpPr>
        <p:spPr>
          <a:xfrm>
            <a:off x="1406367" y="1433500"/>
            <a:ext cx="13696999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</a:pPr>
            <a:r>
              <a:rPr lang="en-US">
                <a:latin typeface="Open Sans"/>
                <a:ea typeface="Open Sans"/>
                <a:cs typeface="Open Sans"/>
                <a:sym typeface="Open Sans"/>
              </a:rPr>
              <a:t>W</a:t>
            </a:r>
            <a:r>
              <a:rPr lang="en-US" b="0" i="0">
                <a:latin typeface="Open Sans"/>
                <a:ea typeface="Open Sans"/>
                <a:cs typeface="Open Sans"/>
                <a:sym typeface="Open Sans"/>
              </a:rPr>
              <a:t>ord analogies can often be solved using vector arithmetic. </a:t>
            </a:r>
            <a:endParaRPr/>
          </a:p>
          <a:p>
            <a:pPr marL="0" lvl="0" indent="0" algn="ctr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74151"/>
              </a:buClr>
              <a:buSzPts val="2200"/>
              <a:buNone/>
            </a:pPr>
            <a:r>
              <a:rPr lang="en-US" b="0" i="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V</a:t>
            </a:r>
            <a:r>
              <a:rPr lang="en-US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ector distance is used to find the closest match for </a:t>
            </a:r>
            <a:r>
              <a:rPr lang="en-US">
                <a:latin typeface="Open Sans"/>
                <a:ea typeface="Open Sans"/>
                <a:cs typeface="Open Sans"/>
                <a:sym typeface="Open Sans"/>
              </a:rPr>
              <a:t>a missing word in a word-pair.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304" name="Google Shape;304;p9"/>
          <p:cNvGrpSpPr/>
          <p:nvPr/>
        </p:nvGrpSpPr>
        <p:grpSpPr>
          <a:xfrm>
            <a:off x="1601074" y="3241040"/>
            <a:ext cx="6066020" cy="3942000"/>
            <a:chOff x="8891751" y="2853654"/>
            <a:chExt cx="6526925" cy="4683436"/>
          </a:xfrm>
        </p:grpSpPr>
        <p:sp>
          <p:nvSpPr>
            <p:cNvPr id="305" name="Google Shape;305;p9"/>
            <p:cNvSpPr/>
            <p:nvPr/>
          </p:nvSpPr>
          <p:spPr>
            <a:xfrm>
              <a:off x="8891751" y="2853654"/>
              <a:ext cx="6526925" cy="4683436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rgbClr val="07A59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cxnSp>
          <p:nvCxnSpPr>
            <p:cNvPr id="306" name="Google Shape;306;p9"/>
            <p:cNvCxnSpPr/>
            <p:nvPr/>
          </p:nvCxnSpPr>
          <p:spPr>
            <a:xfrm>
              <a:off x="10305802" y="6225089"/>
              <a:ext cx="2587690" cy="0"/>
            </a:xfrm>
            <a:prstGeom prst="straightConnector1">
              <a:avLst/>
            </a:prstGeom>
            <a:noFill/>
            <a:ln w="63500" cap="rnd" cmpd="sng">
              <a:solidFill>
                <a:srgbClr val="93CFA0"/>
              </a:solidFill>
              <a:prstDash val="solid"/>
              <a:bevel/>
              <a:headEnd type="none" w="sm" len="sm"/>
              <a:tailEnd type="stealth" w="med" len="med"/>
            </a:ln>
          </p:spPr>
        </p:cxnSp>
        <p:cxnSp>
          <p:nvCxnSpPr>
            <p:cNvPr id="307" name="Google Shape;307;p9"/>
            <p:cNvCxnSpPr/>
            <p:nvPr/>
          </p:nvCxnSpPr>
          <p:spPr>
            <a:xfrm>
              <a:off x="11262378" y="4306099"/>
              <a:ext cx="2588400" cy="0"/>
            </a:xfrm>
            <a:prstGeom prst="straightConnector1">
              <a:avLst/>
            </a:prstGeom>
            <a:noFill/>
            <a:ln w="63500" cap="rnd" cmpd="sng">
              <a:solidFill>
                <a:srgbClr val="93CFA0"/>
              </a:solidFill>
              <a:prstDash val="solid"/>
              <a:bevel/>
              <a:headEnd type="none" w="sm" len="sm"/>
              <a:tailEnd type="stealth" w="med" len="med"/>
            </a:ln>
          </p:spPr>
        </p:cxnSp>
        <p:sp>
          <p:nvSpPr>
            <p:cNvPr id="308" name="Google Shape;308;p9"/>
            <p:cNvSpPr/>
            <p:nvPr/>
          </p:nvSpPr>
          <p:spPr>
            <a:xfrm>
              <a:off x="9351991" y="6344948"/>
              <a:ext cx="1355835" cy="616231"/>
            </a:xfrm>
            <a:prstGeom prst="roundRect">
              <a:avLst>
                <a:gd name="adj" fmla="val 16667"/>
              </a:avLst>
            </a:prstGeom>
            <a:solidFill>
              <a:srgbClr val="07A59E">
                <a:alpha val="19215"/>
              </a:srgbClr>
            </a:solidFill>
            <a:ln w="19050" cap="flat" cmpd="sng">
              <a:solidFill>
                <a:srgbClr val="07A59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0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Man</a:t>
              </a:r>
              <a:endParaRPr/>
            </a:p>
          </p:txBody>
        </p:sp>
        <p:sp>
          <p:nvSpPr>
            <p:cNvPr id="309" name="Google Shape;309;p9"/>
            <p:cNvSpPr/>
            <p:nvPr/>
          </p:nvSpPr>
          <p:spPr>
            <a:xfrm>
              <a:off x="10091616" y="3511938"/>
              <a:ext cx="1355835" cy="616231"/>
            </a:xfrm>
            <a:prstGeom prst="roundRect">
              <a:avLst>
                <a:gd name="adj" fmla="val 16667"/>
              </a:avLst>
            </a:prstGeom>
            <a:solidFill>
              <a:srgbClr val="07A59E">
                <a:alpha val="19215"/>
              </a:srgbClr>
            </a:solidFill>
            <a:ln w="19050" cap="flat" cmpd="sng">
              <a:solidFill>
                <a:srgbClr val="07A59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0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Woman   </a:t>
              </a:r>
              <a:endParaRPr/>
            </a:p>
          </p:txBody>
        </p:sp>
        <p:sp>
          <p:nvSpPr>
            <p:cNvPr id="310" name="Google Shape;310;p9"/>
            <p:cNvSpPr/>
            <p:nvPr/>
          </p:nvSpPr>
          <p:spPr>
            <a:xfrm>
              <a:off x="13650685" y="3481605"/>
              <a:ext cx="1355835" cy="616231"/>
            </a:xfrm>
            <a:prstGeom prst="roundRect">
              <a:avLst>
                <a:gd name="adj" fmla="val 16667"/>
              </a:avLst>
            </a:prstGeom>
            <a:solidFill>
              <a:srgbClr val="07A59E">
                <a:alpha val="19215"/>
              </a:srgbClr>
            </a:solidFill>
            <a:ln w="19050" cap="flat" cmpd="sng">
              <a:solidFill>
                <a:srgbClr val="07A59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0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Queen</a:t>
              </a:r>
              <a:endParaRPr/>
            </a:p>
          </p:txBody>
        </p:sp>
        <p:sp>
          <p:nvSpPr>
            <p:cNvPr id="311" name="Google Shape;311;p9"/>
            <p:cNvSpPr/>
            <p:nvPr/>
          </p:nvSpPr>
          <p:spPr>
            <a:xfrm>
              <a:off x="12691718" y="6344947"/>
              <a:ext cx="1355835" cy="616231"/>
            </a:xfrm>
            <a:prstGeom prst="roundRect">
              <a:avLst>
                <a:gd name="adj" fmla="val 16667"/>
              </a:avLst>
            </a:prstGeom>
            <a:solidFill>
              <a:srgbClr val="07A59E">
                <a:alpha val="19215"/>
              </a:srgbClr>
            </a:solidFill>
            <a:ln w="19050" cap="flat" cmpd="sng">
              <a:solidFill>
                <a:srgbClr val="07A59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0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King</a:t>
              </a:r>
              <a:endParaRPr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12" name="Google Shape;312;p9"/>
            <p:cNvSpPr txBox="1"/>
            <p:nvPr/>
          </p:nvSpPr>
          <p:spPr>
            <a:xfrm>
              <a:off x="9613813" y="5975616"/>
              <a:ext cx="832190" cy="5401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1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a</a:t>
              </a:r>
              <a:endParaRPr/>
            </a:p>
          </p:txBody>
        </p:sp>
        <p:sp>
          <p:nvSpPr>
            <p:cNvPr id="313" name="Google Shape;313;p9"/>
            <p:cNvSpPr txBox="1"/>
            <p:nvPr/>
          </p:nvSpPr>
          <p:spPr>
            <a:xfrm>
              <a:off x="10442915" y="4121432"/>
              <a:ext cx="832190" cy="5401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1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b</a:t>
              </a:r>
              <a:endParaRPr/>
            </a:p>
          </p:txBody>
        </p:sp>
        <p:sp>
          <p:nvSpPr>
            <p:cNvPr id="314" name="Google Shape;314;p9"/>
            <p:cNvSpPr txBox="1"/>
            <p:nvPr/>
          </p:nvSpPr>
          <p:spPr>
            <a:xfrm>
              <a:off x="12818495" y="5975630"/>
              <a:ext cx="832190" cy="5401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1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x</a:t>
              </a:r>
              <a:endParaRPr/>
            </a:p>
          </p:txBody>
        </p:sp>
        <p:sp>
          <p:nvSpPr>
            <p:cNvPr id="315" name="Google Shape;315;p9"/>
            <p:cNvSpPr txBox="1"/>
            <p:nvPr/>
          </p:nvSpPr>
          <p:spPr>
            <a:xfrm>
              <a:off x="13799730" y="4121432"/>
              <a:ext cx="832190" cy="5401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1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y</a:t>
              </a:r>
              <a:endParaRPr/>
            </a:p>
          </p:txBody>
        </p:sp>
        <p:cxnSp>
          <p:nvCxnSpPr>
            <p:cNvPr id="316" name="Google Shape;316;p9"/>
            <p:cNvCxnSpPr/>
            <p:nvPr/>
          </p:nvCxnSpPr>
          <p:spPr>
            <a:xfrm rot="10800000" flipH="1">
              <a:off x="10287674" y="4306099"/>
              <a:ext cx="974704" cy="1891100"/>
            </a:xfrm>
            <a:prstGeom prst="straightConnector1">
              <a:avLst/>
            </a:prstGeom>
            <a:noFill/>
            <a:ln w="63500" cap="rnd" cmpd="sng">
              <a:solidFill>
                <a:srgbClr val="9F7A4E"/>
              </a:solidFill>
              <a:prstDash val="solid"/>
              <a:bevel/>
              <a:headEnd type="none" w="sm" len="sm"/>
              <a:tailEnd type="stealth" w="med" len="med"/>
            </a:ln>
          </p:spPr>
        </p:cxnSp>
        <p:cxnSp>
          <p:nvCxnSpPr>
            <p:cNvPr id="317" name="Google Shape;317;p9"/>
            <p:cNvCxnSpPr/>
            <p:nvPr/>
          </p:nvCxnSpPr>
          <p:spPr>
            <a:xfrm rot="10800000" flipH="1">
              <a:off x="12870461" y="4333989"/>
              <a:ext cx="974704" cy="1891100"/>
            </a:xfrm>
            <a:prstGeom prst="straightConnector1">
              <a:avLst/>
            </a:prstGeom>
            <a:noFill/>
            <a:ln w="63500" cap="rnd" cmpd="sng">
              <a:solidFill>
                <a:srgbClr val="9F7A4E"/>
              </a:solidFill>
              <a:prstDash val="solid"/>
              <a:bevel/>
              <a:headEnd type="none" w="sm" len="sm"/>
              <a:tailEnd type="stealth" w="med" len="med"/>
            </a:ln>
          </p:spPr>
        </p:cxnSp>
        <p:sp>
          <p:nvSpPr>
            <p:cNvPr id="318" name="Google Shape;318;p9"/>
            <p:cNvSpPr txBox="1"/>
            <p:nvPr/>
          </p:nvSpPr>
          <p:spPr>
            <a:xfrm>
              <a:off x="11064289" y="6556802"/>
              <a:ext cx="1090924" cy="5401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1" i="1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royal</a:t>
              </a:r>
              <a:endParaRPr/>
            </a:p>
          </p:txBody>
        </p:sp>
        <p:sp>
          <p:nvSpPr>
            <p:cNvPr id="319" name="Google Shape;319;p9"/>
            <p:cNvSpPr txBox="1"/>
            <p:nvPr/>
          </p:nvSpPr>
          <p:spPr>
            <a:xfrm>
              <a:off x="11912086" y="3584938"/>
              <a:ext cx="1090924" cy="5401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1" i="1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royal</a:t>
              </a:r>
              <a:endParaRPr/>
            </a:p>
          </p:txBody>
        </p:sp>
        <p:sp>
          <p:nvSpPr>
            <p:cNvPr id="320" name="Google Shape;320;p9"/>
            <p:cNvSpPr txBox="1"/>
            <p:nvPr/>
          </p:nvSpPr>
          <p:spPr>
            <a:xfrm>
              <a:off x="9238594" y="5089906"/>
              <a:ext cx="1204322" cy="5401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1" i="1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female</a:t>
              </a:r>
              <a:endParaRPr/>
            </a:p>
          </p:txBody>
        </p:sp>
        <p:sp>
          <p:nvSpPr>
            <p:cNvPr id="321" name="Google Shape;321;p9"/>
            <p:cNvSpPr txBox="1"/>
            <p:nvPr/>
          </p:nvSpPr>
          <p:spPr>
            <a:xfrm>
              <a:off x="13482519" y="5089906"/>
              <a:ext cx="1204322" cy="5401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1" i="1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female</a:t>
              </a:r>
              <a:endParaRPr/>
            </a:p>
          </p:txBody>
        </p:sp>
      </p:grpSp>
      <p:sp>
        <p:nvSpPr>
          <p:cNvPr id="322" name="Google Shape;322;p9"/>
          <p:cNvSpPr txBox="1"/>
          <p:nvPr/>
        </p:nvSpPr>
        <p:spPr>
          <a:xfrm>
            <a:off x="8597750" y="3532012"/>
            <a:ext cx="6746806" cy="290695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937" b="-86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latin typeface="Open Sans"/>
                <a:ea typeface="Open Sans"/>
                <a:cs typeface="Open Sans"/>
                <a:sym typeface="Open Sans"/>
              </a:rPr>
              <a:t> </a:t>
            </a:r>
            <a:endParaRPr/>
          </a:p>
        </p:txBody>
      </p:sp>
      <p:sp>
        <p:nvSpPr>
          <p:cNvPr id="323" name="Google Shape;323;p9"/>
          <p:cNvSpPr/>
          <p:nvPr/>
        </p:nvSpPr>
        <p:spPr>
          <a:xfrm>
            <a:off x="6448324" y="816324"/>
            <a:ext cx="3355463" cy="3810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25000">
                <a:srgbClr val="3645A9"/>
              </a:gs>
              <a:gs pos="50000">
                <a:srgbClr val="3645A9"/>
              </a:gs>
              <a:gs pos="75000">
                <a:srgbClr val="3645A9"/>
              </a:gs>
              <a:gs pos="100000">
                <a:srgbClr val="FFFFFF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0"/>
          <p:cNvSpPr txBox="1">
            <a:spLocks noGrp="1"/>
          </p:cNvSpPr>
          <p:nvPr>
            <p:ph type="body" idx="1"/>
          </p:nvPr>
        </p:nvSpPr>
        <p:spPr>
          <a:xfrm>
            <a:off x="1291857" y="1512833"/>
            <a:ext cx="13696999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</a:pPr>
            <a:r>
              <a:rPr lang="en-US">
                <a:latin typeface="Open Sans"/>
                <a:ea typeface="Open Sans"/>
                <a:cs typeface="Open Sans"/>
                <a:sym typeface="Open Sans"/>
              </a:rPr>
              <a:t>The distance measure between the word vectors enables the assessment of both similarities and differences between the words.</a:t>
            </a:r>
            <a:endParaRPr/>
          </a:p>
          <a:p>
            <a:pPr marL="0" lvl="0" indent="0" algn="ctr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</a:pPr>
            <a:r>
              <a:rPr lang="en-US">
                <a:latin typeface="Open Sans"/>
                <a:ea typeface="Open Sans"/>
                <a:cs typeface="Open Sans"/>
                <a:sym typeface="Open Sans"/>
              </a:rPr>
              <a:t>These distances can be measured as:</a:t>
            </a:r>
            <a:endParaRPr/>
          </a:p>
        </p:txBody>
      </p:sp>
      <p:sp>
        <p:nvSpPr>
          <p:cNvPr id="329" name="Google Shape;329;p10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</a:pPr>
            <a:r>
              <a:rPr lang="en-US">
                <a:latin typeface="Open Sans"/>
                <a:ea typeface="Open Sans"/>
                <a:cs typeface="Open Sans"/>
                <a:sym typeface="Open Sans"/>
              </a:rPr>
              <a:t>Distance Calculation</a:t>
            </a:r>
            <a:endParaRPr/>
          </a:p>
        </p:txBody>
      </p:sp>
      <p:sp>
        <p:nvSpPr>
          <p:cNvPr id="330" name="Google Shape;330;p10"/>
          <p:cNvSpPr txBox="1"/>
          <p:nvPr/>
        </p:nvSpPr>
        <p:spPr>
          <a:xfrm>
            <a:off x="9774994" y="3867163"/>
            <a:ext cx="3508994" cy="13545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t="-924" b="-647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Open Sans"/>
                <a:ea typeface="Open Sans"/>
                <a:cs typeface="Open Sans"/>
                <a:sym typeface="Open Sans"/>
              </a:rPr>
              <a:t> </a:t>
            </a:r>
            <a:endParaRPr/>
          </a:p>
        </p:txBody>
      </p:sp>
      <p:sp>
        <p:nvSpPr>
          <p:cNvPr id="331" name="Google Shape;331;p10"/>
          <p:cNvSpPr txBox="1"/>
          <p:nvPr/>
        </p:nvSpPr>
        <p:spPr>
          <a:xfrm>
            <a:off x="2522306" y="3847234"/>
            <a:ext cx="3513344" cy="192956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20861" t="-35710" b="-10583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Open Sans"/>
                <a:ea typeface="Open Sans"/>
                <a:cs typeface="Open Sans"/>
                <a:sym typeface="Open Sans"/>
              </a:rPr>
              <a:t> </a:t>
            </a:r>
            <a:endParaRPr/>
          </a:p>
        </p:txBody>
      </p:sp>
      <p:grpSp>
        <p:nvGrpSpPr>
          <p:cNvPr id="332" name="Google Shape;332;p10"/>
          <p:cNvGrpSpPr/>
          <p:nvPr/>
        </p:nvGrpSpPr>
        <p:grpSpPr>
          <a:xfrm>
            <a:off x="6541142" y="3745525"/>
            <a:ext cx="3173717" cy="2813799"/>
            <a:chOff x="6325883" y="2914770"/>
            <a:chExt cx="3604234" cy="3193422"/>
          </a:xfrm>
        </p:grpSpPr>
        <p:sp>
          <p:nvSpPr>
            <p:cNvPr id="333" name="Google Shape;333;p10"/>
            <p:cNvSpPr/>
            <p:nvPr/>
          </p:nvSpPr>
          <p:spPr>
            <a:xfrm rot="10800000" flipH="1">
              <a:off x="6404627" y="2914770"/>
              <a:ext cx="3479731" cy="1091957"/>
            </a:xfrm>
            <a:custGeom>
              <a:avLst/>
              <a:gdLst/>
              <a:ahLst/>
              <a:cxnLst/>
              <a:rect l="l" t="t" r="r" b="b"/>
              <a:pathLst>
                <a:path w="836" h="255" extrusionOk="0">
                  <a:moveTo>
                    <a:pt x="638" y="255"/>
                  </a:moveTo>
                  <a:cubicBezTo>
                    <a:pt x="593" y="255"/>
                    <a:pt x="196" y="255"/>
                    <a:pt x="171" y="255"/>
                  </a:cubicBezTo>
                  <a:cubicBezTo>
                    <a:pt x="144" y="255"/>
                    <a:pt x="138" y="246"/>
                    <a:pt x="134" y="240"/>
                  </a:cubicBezTo>
                  <a:cubicBezTo>
                    <a:pt x="130" y="234"/>
                    <a:pt x="0" y="13"/>
                    <a:pt x="0" y="13"/>
                  </a:cubicBezTo>
                  <a:cubicBezTo>
                    <a:pt x="0" y="13"/>
                    <a:pt x="774" y="13"/>
                    <a:pt x="797" y="13"/>
                  </a:cubicBezTo>
                  <a:cubicBezTo>
                    <a:pt x="827" y="13"/>
                    <a:pt x="833" y="5"/>
                    <a:pt x="836" y="0"/>
                  </a:cubicBezTo>
                  <a:cubicBezTo>
                    <a:pt x="831" y="9"/>
                    <a:pt x="703" y="225"/>
                    <a:pt x="697" y="234"/>
                  </a:cubicBezTo>
                  <a:cubicBezTo>
                    <a:pt x="690" y="246"/>
                    <a:pt x="683" y="255"/>
                    <a:pt x="638" y="255"/>
                  </a:cubicBezTo>
                </a:path>
              </a:pathLst>
            </a:custGeom>
            <a:solidFill>
              <a:srgbClr val="50C7CE"/>
            </a:solidFill>
            <a:ln>
              <a:noFill/>
            </a:ln>
            <a:effectLst/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34" name="Google Shape;334;p10"/>
            <p:cNvSpPr/>
            <p:nvPr/>
          </p:nvSpPr>
          <p:spPr>
            <a:xfrm rot="10800000" flipH="1">
              <a:off x="6945410" y="2914770"/>
              <a:ext cx="640620" cy="1036397"/>
            </a:xfrm>
            <a:custGeom>
              <a:avLst/>
              <a:gdLst/>
              <a:ahLst/>
              <a:cxnLst/>
              <a:rect l="l" t="t" r="r" b="b"/>
              <a:pathLst>
                <a:path w="154" h="242" extrusionOk="0">
                  <a:moveTo>
                    <a:pt x="117" y="0"/>
                  </a:moveTo>
                  <a:cubicBezTo>
                    <a:pt x="59" y="101"/>
                    <a:pt x="15" y="179"/>
                    <a:pt x="10" y="187"/>
                  </a:cubicBezTo>
                  <a:cubicBezTo>
                    <a:pt x="0" y="206"/>
                    <a:pt x="0" y="217"/>
                    <a:pt x="1" y="223"/>
                  </a:cubicBezTo>
                  <a:cubicBezTo>
                    <a:pt x="2" y="225"/>
                    <a:pt x="3" y="227"/>
                    <a:pt x="4" y="227"/>
                  </a:cubicBezTo>
                  <a:cubicBezTo>
                    <a:pt x="8" y="233"/>
                    <a:pt x="14" y="242"/>
                    <a:pt x="41" y="242"/>
                  </a:cubicBezTo>
                  <a:cubicBezTo>
                    <a:pt x="50" y="242"/>
                    <a:pt x="85" y="242"/>
                    <a:pt x="132" y="242"/>
                  </a:cubicBezTo>
                  <a:cubicBezTo>
                    <a:pt x="77" y="225"/>
                    <a:pt x="35" y="152"/>
                    <a:pt x="154" y="0"/>
                  </a:cubicBezTo>
                  <a:cubicBezTo>
                    <a:pt x="147" y="0"/>
                    <a:pt x="140" y="0"/>
                    <a:pt x="133" y="0"/>
                  </a:cubicBezTo>
                  <a:cubicBezTo>
                    <a:pt x="127" y="0"/>
                    <a:pt x="122" y="0"/>
                    <a:pt x="117" y="0"/>
                  </a:cubicBezTo>
                </a:path>
              </a:pathLst>
            </a:custGeom>
            <a:solidFill>
              <a:schemeClr val="dk2">
                <a:alpha val="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35" name="Google Shape;335;p10"/>
            <p:cNvSpPr/>
            <p:nvPr/>
          </p:nvSpPr>
          <p:spPr>
            <a:xfrm rot="10800000" flipH="1">
              <a:off x="6325883" y="2973057"/>
              <a:ext cx="2306648" cy="3130560"/>
            </a:xfrm>
            <a:custGeom>
              <a:avLst/>
              <a:gdLst/>
              <a:ahLst/>
              <a:cxnLst/>
              <a:rect l="l" t="t" r="r" b="b"/>
              <a:pathLst>
                <a:path w="554" h="732" extrusionOk="0">
                  <a:moveTo>
                    <a:pt x="554" y="0"/>
                  </a:moveTo>
                  <a:cubicBezTo>
                    <a:pt x="554" y="0"/>
                    <a:pt x="302" y="0"/>
                    <a:pt x="297" y="0"/>
                  </a:cubicBezTo>
                  <a:cubicBezTo>
                    <a:pt x="294" y="0"/>
                    <a:pt x="279" y="0"/>
                    <a:pt x="263" y="31"/>
                  </a:cubicBezTo>
                  <a:cubicBezTo>
                    <a:pt x="206" y="133"/>
                    <a:pt x="29" y="428"/>
                    <a:pt x="16" y="451"/>
                  </a:cubicBezTo>
                  <a:cubicBezTo>
                    <a:pt x="0" y="480"/>
                    <a:pt x="13" y="496"/>
                    <a:pt x="13" y="496"/>
                  </a:cubicBezTo>
                  <a:cubicBezTo>
                    <a:pt x="153" y="732"/>
                    <a:pt x="153" y="732"/>
                    <a:pt x="153" y="732"/>
                  </a:cubicBezTo>
                  <a:cubicBezTo>
                    <a:pt x="153" y="732"/>
                    <a:pt x="144" y="721"/>
                    <a:pt x="160" y="691"/>
                  </a:cubicBezTo>
                  <a:cubicBezTo>
                    <a:pt x="174" y="667"/>
                    <a:pt x="554" y="0"/>
                    <a:pt x="554" y="0"/>
                  </a:cubicBezTo>
                </a:path>
              </a:pathLst>
            </a:custGeom>
            <a:solidFill>
              <a:srgbClr val="FF916D"/>
            </a:solidFill>
            <a:ln>
              <a:noFill/>
            </a:ln>
            <a:effectLst/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00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36" name="Google Shape;336;p10"/>
            <p:cNvSpPr/>
            <p:nvPr/>
          </p:nvSpPr>
          <p:spPr>
            <a:xfrm rot="10800000" flipH="1">
              <a:off x="7199456" y="5078206"/>
              <a:ext cx="931811" cy="1029986"/>
            </a:xfrm>
            <a:custGeom>
              <a:avLst/>
              <a:gdLst/>
              <a:ahLst/>
              <a:cxnLst/>
              <a:rect l="l" t="t" r="r" b="b"/>
              <a:pathLst>
                <a:path w="224" h="241" extrusionOk="0">
                  <a:moveTo>
                    <a:pt x="87" y="0"/>
                  </a:moveTo>
                  <a:cubicBezTo>
                    <a:pt x="87" y="0"/>
                    <a:pt x="87" y="0"/>
                    <a:pt x="87" y="0"/>
                  </a:cubicBezTo>
                  <a:cubicBezTo>
                    <a:pt x="84" y="0"/>
                    <a:pt x="69" y="0"/>
                    <a:pt x="53" y="31"/>
                  </a:cubicBezTo>
                  <a:cubicBezTo>
                    <a:pt x="53" y="31"/>
                    <a:pt x="53" y="31"/>
                    <a:pt x="53" y="31"/>
                  </a:cubicBezTo>
                  <a:cubicBezTo>
                    <a:pt x="40" y="54"/>
                    <a:pt x="21" y="87"/>
                    <a:pt x="0" y="124"/>
                  </a:cubicBezTo>
                  <a:cubicBezTo>
                    <a:pt x="20" y="117"/>
                    <a:pt x="39" y="114"/>
                    <a:pt x="57" y="114"/>
                  </a:cubicBezTo>
                  <a:cubicBezTo>
                    <a:pt x="120" y="114"/>
                    <a:pt x="164" y="158"/>
                    <a:pt x="207" y="241"/>
                  </a:cubicBezTo>
                  <a:cubicBezTo>
                    <a:pt x="212" y="231"/>
                    <a:pt x="218" y="221"/>
                    <a:pt x="224" y="211"/>
                  </a:cubicBezTo>
                  <a:cubicBezTo>
                    <a:pt x="172" y="120"/>
                    <a:pt x="127" y="41"/>
                    <a:pt x="123" y="34"/>
                  </a:cubicBezTo>
                  <a:cubicBezTo>
                    <a:pt x="107" y="6"/>
                    <a:pt x="96" y="1"/>
                    <a:pt x="87" y="0"/>
                  </a:cubicBezTo>
                </a:path>
              </a:pathLst>
            </a:custGeom>
            <a:solidFill>
              <a:schemeClr val="dk2">
                <a:alpha val="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37" name="Google Shape;337;p10"/>
            <p:cNvSpPr/>
            <p:nvPr/>
          </p:nvSpPr>
          <p:spPr>
            <a:xfrm rot="10800000" flipH="1">
              <a:off x="7552751" y="3941507"/>
              <a:ext cx="2377366" cy="2166111"/>
            </a:xfrm>
            <a:custGeom>
              <a:avLst/>
              <a:gdLst/>
              <a:ahLst/>
              <a:cxnLst/>
              <a:rect l="l" t="t" r="r" b="b"/>
              <a:pathLst>
                <a:path w="571" h="505" extrusionOk="0">
                  <a:moveTo>
                    <a:pt x="0" y="0"/>
                  </a:moveTo>
                  <a:cubicBezTo>
                    <a:pt x="11" y="0"/>
                    <a:pt x="254" y="0"/>
                    <a:pt x="266" y="0"/>
                  </a:cubicBezTo>
                  <a:cubicBezTo>
                    <a:pt x="279" y="0"/>
                    <a:pt x="296" y="9"/>
                    <a:pt x="309" y="34"/>
                  </a:cubicBezTo>
                  <a:cubicBezTo>
                    <a:pt x="318" y="49"/>
                    <a:pt x="475" y="317"/>
                    <a:pt x="547" y="442"/>
                  </a:cubicBezTo>
                  <a:cubicBezTo>
                    <a:pt x="570" y="478"/>
                    <a:pt x="571" y="505"/>
                    <a:pt x="517" y="504"/>
                  </a:cubicBezTo>
                  <a:cubicBezTo>
                    <a:pt x="304" y="504"/>
                    <a:pt x="304" y="504"/>
                    <a:pt x="304" y="504"/>
                  </a:cubicBezTo>
                  <a:cubicBezTo>
                    <a:pt x="304" y="504"/>
                    <a:pt x="47" y="52"/>
                    <a:pt x="37" y="34"/>
                  </a:cubicBezTo>
                  <a:cubicBezTo>
                    <a:pt x="21" y="5"/>
                    <a:pt x="9" y="0"/>
                    <a:pt x="0" y="0"/>
                  </a:cubicBezTo>
                </a:path>
              </a:pathLst>
            </a:custGeom>
            <a:solidFill>
              <a:srgbClr val="45AEFF"/>
            </a:solidFill>
            <a:ln>
              <a:noFill/>
            </a:ln>
            <a:effectLst/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38" name="Google Shape;338;p10"/>
            <p:cNvSpPr/>
            <p:nvPr/>
          </p:nvSpPr>
          <p:spPr>
            <a:xfrm rot="10800000" flipH="1">
              <a:off x="8744553" y="3948715"/>
              <a:ext cx="1148124" cy="632523"/>
            </a:xfrm>
            <a:custGeom>
              <a:avLst/>
              <a:gdLst/>
              <a:ahLst/>
              <a:cxnLst/>
              <a:rect l="l" t="t" r="r" b="b"/>
              <a:pathLst>
                <a:path w="276" h="148" extrusionOk="0">
                  <a:moveTo>
                    <a:pt x="211" y="0"/>
                  </a:moveTo>
                  <a:cubicBezTo>
                    <a:pt x="222" y="85"/>
                    <a:pt x="172" y="119"/>
                    <a:pt x="54" y="119"/>
                  </a:cubicBezTo>
                  <a:cubicBezTo>
                    <a:pt x="37" y="119"/>
                    <a:pt x="19" y="118"/>
                    <a:pt x="0" y="117"/>
                  </a:cubicBezTo>
                  <a:cubicBezTo>
                    <a:pt x="12" y="137"/>
                    <a:pt x="18" y="148"/>
                    <a:pt x="18" y="148"/>
                  </a:cubicBezTo>
                  <a:cubicBezTo>
                    <a:pt x="18" y="148"/>
                    <a:pt x="18" y="148"/>
                    <a:pt x="18" y="148"/>
                  </a:cubicBezTo>
                  <a:cubicBezTo>
                    <a:pt x="18" y="148"/>
                    <a:pt x="18" y="148"/>
                    <a:pt x="18" y="148"/>
                  </a:cubicBezTo>
                  <a:cubicBezTo>
                    <a:pt x="18" y="148"/>
                    <a:pt x="18" y="148"/>
                    <a:pt x="18" y="148"/>
                  </a:cubicBezTo>
                  <a:cubicBezTo>
                    <a:pt x="18" y="148"/>
                    <a:pt x="18" y="148"/>
                    <a:pt x="18" y="148"/>
                  </a:cubicBezTo>
                  <a:cubicBezTo>
                    <a:pt x="231" y="148"/>
                    <a:pt x="231" y="148"/>
                    <a:pt x="231" y="148"/>
                  </a:cubicBezTo>
                  <a:cubicBezTo>
                    <a:pt x="232" y="148"/>
                    <a:pt x="232" y="148"/>
                    <a:pt x="233" y="148"/>
                  </a:cubicBezTo>
                  <a:cubicBezTo>
                    <a:pt x="264" y="148"/>
                    <a:pt x="276" y="139"/>
                    <a:pt x="276" y="124"/>
                  </a:cubicBezTo>
                  <a:cubicBezTo>
                    <a:pt x="276" y="113"/>
                    <a:pt x="270" y="100"/>
                    <a:pt x="261" y="86"/>
                  </a:cubicBezTo>
                  <a:cubicBezTo>
                    <a:pt x="261" y="86"/>
                    <a:pt x="261" y="86"/>
                    <a:pt x="261" y="86"/>
                  </a:cubicBezTo>
                  <a:cubicBezTo>
                    <a:pt x="256" y="76"/>
                    <a:pt x="249" y="65"/>
                    <a:pt x="243" y="54"/>
                  </a:cubicBezTo>
                  <a:cubicBezTo>
                    <a:pt x="233" y="37"/>
                    <a:pt x="222" y="19"/>
                    <a:pt x="211" y="0"/>
                  </a:cubicBezTo>
                </a:path>
              </a:pathLst>
            </a:custGeom>
            <a:solidFill>
              <a:schemeClr val="dk2">
                <a:alpha val="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339" name="Google Shape;339;p10"/>
          <p:cNvSpPr txBox="1"/>
          <p:nvPr/>
        </p:nvSpPr>
        <p:spPr>
          <a:xfrm>
            <a:off x="5985809" y="6964037"/>
            <a:ext cx="4309094" cy="1096839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t="-10343" b="-930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Open Sans"/>
                <a:ea typeface="Open Sans"/>
                <a:cs typeface="Open Sans"/>
                <a:sym typeface="Open Sans"/>
              </a:rPr>
              <a:t> </a:t>
            </a:r>
            <a:endParaRPr/>
          </a:p>
        </p:txBody>
      </p:sp>
      <p:sp>
        <p:nvSpPr>
          <p:cNvPr id="340" name="Google Shape;340;p10"/>
          <p:cNvSpPr/>
          <p:nvPr/>
        </p:nvSpPr>
        <p:spPr>
          <a:xfrm>
            <a:off x="6280551" y="816324"/>
            <a:ext cx="3691009" cy="3810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25000">
                <a:srgbClr val="3645A9"/>
              </a:gs>
              <a:gs pos="50000">
                <a:srgbClr val="3645A9"/>
              </a:gs>
              <a:gs pos="75000">
                <a:srgbClr val="3645A9"/>
              </a:gs>
              <a:gs pos="100000">
                <a:srgbClr val="FFFFFF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1"/>
          <p:cNvSpPr txBox="1">
            <a:spLocks noGrp="1"/>
          </p:cNvSpPr>
          <p:nvPr>
            <p:ph type="body" idx="1"/>
          </p:nvPr>
        </p:nvSpPr>
        <p:spPr>
          <a:xfrm>
            <a:off x="1291857" y="1512833"/>
            <a:ext cx="13696999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</a:pPr>
            <a:r>
              <a:rPr lang="en-US"/>
              <a:t>There are various techniques available for conversion of text to vector. Some of the most common techniques used include:</a:t>
            </a:r>
            <a:endParaRPr/>
          </a:p>
        </p:txBody>
      </p:sp>
      <p:sp>
        <p:nvSpPr>
          <p:cNvPr id="346" name="Google Shape;346;p11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</a:pPr>
            <a:r>
              <a:rPr lang="en-US"/>
              <a:t>Text Vectorization Techniques</a:t>
            </a:r>
            <a:endParaRPr/>
          </a:p>
        </p:txBody>
      </p:sp>
      <p:sp>
        <p:nvSpPr>
          <p:cNvPr id="347" name="Google Shape;347;p11"/>
          <p:cNvSpPr/>
          <p:nvPr/>
        </p:nvSpPr>
        <p:spPr>
          <a:xfrm>
            <a:off x="2585806" y="3250794"/>
            <a:ext cx="3204688" cy="982041"/>
          </a:xfrm>
          <a:prstGeom prst="roundRect">
            <a:avLst>
              <a:gd name="adj" fmla="val 16667"/>
            </a:avLst>
          </a:prstGeom>
          <a:solidFill>
            <a:srgbClr val="EBAB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b="1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Bag of </a:t>
            </a:r>
            <a:r>
              <a:rPr lang="en-US" sz="2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w</a:t>
            </a:r>
            <a:r>
              <a:rPr lang="en-US" sz="2200" b="1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ords</a:t>
            </a:r>
            <a:endParaRPr sz="2200" b="1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8" name="Google Shape;348;p11"/>
          <p:cNvSpPr/>
          <p:nvPr/>
        </p:nvSpPr>
        <p:spPr>
          <a:xfrm>
            <a:off x="10572239" y="3178561"/>
            <a:ext cx="3204000" cy="982800"/>
          </a:xfrm>
          <a:prstGeom prst="roundRect">
            <a:avLst>
              <a:gd name="adj" fmla="val 16667"/>
            </a:avLst>
          </a:prstGeom>
          <a:solidFill>
            <a:srgbClr val="E2BD8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Open Sans"/>
              <a:buNone/>
            </a:pPr>
            <a:r>
              <a:rPr lang="en-US" sz="2200" b="1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TF-IDF</a:t>
            </a:r>
            <a:endParaRPr sz="1800" b="1" dirty="0">
              <a:solidFill>
                <a:schemeClr val="tx1">
                  <a:lumMod val="75000"/>
                  <a:lumOff val="25000"/>
                </a:schemeClr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9" name="Google Shape;349;p11"/>
          <p:cNvSpPr/>
          <p:nvPr/>
        </p:nvSpPr>
        <p:spPr>
          <a:xfrm>
            <a:off x="10578777" y="6326074"/>
            <a:ext cx="3204000" cy="982800"/>
          </a:xfrm>
          <a:prstGeom prst="roundRect">
            <a:avLst>
              <a:gd name="adj" fmla="val 16667"/>
            </a:avLst>
          </a:prstGeom>
          <a:solidFill>
            <a:srgbClr val="50CCD5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200" b="1" i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Word embeddings</a:t>
            </a:r>
            <a:endParaRPr sz="2200" b="1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0" name="Google Shape;350;p11"/>
          <p:cNvSpPr/>
          <p:nvPr/>
        </p:nvSpPr>
        <p:spPr>
          <a:xfrm>
            <a:off x="2586494" y="6307392"/>
            <a:ext cx="3204000" cy="982800"/>
          </a:xfrm>
          <a:prstGeom prst="roundRect">
            <a:avLst>
              <a:gd name="adj" fmla="val 16667"/>
            </a:avLst>
          </a:prstGeom>
          <a:solidFill>
            <a:srgbClr val="A6BFB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b="1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N-grams</a:t>
            </a:r>
            <a:endParaRPr sz="2200" b="1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351" name="Google Shape;351;p11"/>
          <p:cNvGrpSpPr/>
          <p:nvPr/>
        </p:nvGrpSpPr>
        <p:grpSpPr>
          <a:xfrm>
            <a:off x="6190406" y="3408709"/>
            <a:ext cx="3886197" cy="3900165"/>
            <a:chOff x="6427448" y="3543067"/>
            <a:chExt cx="3222099" cy="3233680"/>
          </a:xfrm>
        </p:grpSpPr>
        <p:grpSp>
          <p:nvGrpSpPr>
            <p:cNvPr id="352" name="Google Shape;352;p11"/>
            <p:cNvGrpSpPr/>
            <p:nvPr/>
          </p:nvGrpSpPr>
          <p:grpSpPr>
            <a:xfrm>
              <a:off x="6427448" y="3543067"/>
              <a:ext cx="1455962" cy="1552316"/>
              <a:chOff x="2970212" y="1274762"/>
              <a:chExt cx="1363663" cy="1431925"/>
            </a:xfrm>
          </p:grpSpPr>
          <p:sp>
            <p:nvSpPr>
              <p:cNvPr id="353" name="Google Shape;353;p11"/>
              <p:cNvSpPr/>
              <p:nvPr/>
            </p:nvSpPr>
            <p:spPr>
              <a:xfrm>
                <a:off x="2971800" y="1274762"/>
                <a:ext cx="1362075" cy="1431925"/>
              </a:xfrm>
              <a:custGeom>
                <a:avLst/>
                <a:gdLst/>
                <a:ahLst/>
                <a:cxnLst/>
                <a:rect l="l" t="t" r="r" b="b"/>
                <a:pathLst>
                  <a:path w="761" h="800" extrusionOk="0">
                    <a:moveTo>
                      <a:pt x="0" y="800"/>
                    </a:moveTo>
                    <a:cubicBezTo>
                      <a:pt x="149" y="800"/>
                      <a:pt x="149" y="800"/>
                      <a:pt x="149" y="800"/>
                    </a:cubicBezTo>
                    <a:cubicBezTo>
                      <a:pt x="167" y="462"/>
                      <a:pt x="429" y="188"/>
                      <a:pt x="761" y="149"/>
                    </a:cubicBezTo>
                    <a:cubicBezTo>
                      <a:pt x="761" y="0"/>
                      <a:pt x="761" y="0"/>
                      <a:pt x="761" y="0"/>
                    </a:cubicBezTo>
                    <a:cubicBezTo>
                      <a:pt x="347" y="40"/>
                      <a:pt x="20" y="380"/>
                      <a:pt x="0" y="800"/>
                    </a:cubicBezTo>
                    <a:close/>
                  </a:path>
                </a:pathLst>
              </a:custGeom>
              <a:solidFill>
                <a:srgbClr val="58D8E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2200" b="0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54" name="Google Shape;354;p11"/>
              <p:cNvSpPr/>
              <p:nvPr/>
            </p:nvSpPr>
            <p:spPr>
              <a:xfrm>
                <a:off x="2970212" y="1371600"/>
                <a:ext cx="544513" cy="549275"/>
              </a:xfrm>
              <a:custGeom>
                <a:avLst/>
                <a:gdLst/>
                <a:ahLst/>
                <a:cxnLst/>
                <a:rect l="l" t="t" r="r" b="b"/>
                <a:pathLst>
                  <a:path w="343" h="346" extrusionOk="0">
                    <a:moveTo>
                      <a:pt x="343" y="256"/>
                    </a:moveTo>
                    <a:lnTo>
                      <a:pt x="203" y="108"/>
                    </a:lnTo>
                    <a:lnTo>
                      <a:pt x="311" y="0"/>
                    </a:lnTo>
                    <a:lnTo>
                      <a:pt x="0" y="0"/>
                    </a:lnTo>
                    <a:lnTo>
                      <a:pt x="0" y="311"/>
                    </a:lnTo>
                    <a:lnTo>
                      <a:pt x="110" y="202"/>
                    </a:lnTo>
                    <a:lnTo>
                      <a:pt x="248" y="346"/>
                    </a:lnTo>
                    <a:lnTo>
                      <a:pt x="343" y="256"/>
                    </a:lnTo>
                    <a:close/>
                  </a:path>
                </a:pathLst>
              </a:custGeom>
              <a:solidFill>
                <a:srgbClr val="58D8E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2200" b="0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355" name="Google Shape;355;p11"/>
            <p:cNvGrpSpPr/>
            <p:nvPr/>
          </p:nvGrpSpPr>
          <p:grpSpPr>
            <a:xfrm>
              <a:off x="8212229" y="3544788"/>
              <a:ext cx="1435622" cy="1550595"/>
              <a:chOff x="4641850" y="1276350"/>
              <a:chExt cx="1344613" cy="1430338"/>
            </a:xfrm>
          </p:grpSpPr>
          <p:sp>
            <p:nvSpPr>
              <p:cNvPr id="356" name="Google Shape;356;p11"/>
              <p:cNvSpPr/>
              <p:nvPr/>
            </p:nvSpPr>
            <p:spPr>
              <a:xfrm>
                <a:off x="4641850" y="1276350"/>
                <a:ext cx="1343025" cy="1430338"/>
              </a:xfrm>
              <a:custGeom>
                <a:avLst/>
                <a:gdLst/>
                <a:ahLst/>
                <a:cxnLst/>
                <a:rect l="l" t="t" r="r" b="b"/>
                <a:pathLst>
                  <a:path w="750" h="799" extrusionOk="0">
                    <a:moveTo>
                      <a:pt x="0" y="0"/>
                    </a:moveTo>
                    <a:cubicBezTo>
                      <a:pt x="0" y="149"/>
                      <a:pt x="0" y="149"/>
                      <a:pt x="0" y="149"/>
                    </a:cubicBezTo>
                    <a:cubicBezTo>
                      <a:pt x="327" y="193"/>
                      <a:pt x="583" y="464"/>
                      <a:pt x="601" y="799"/>
                    </a:cubicBezTo>
                    <a:cubicBezTo>
                      <a:pt x="750" y="799"/>
                      <a:pt x="750" y="799"/>
                      <a:pt x="750" y="799"/>
                    </a:cubicBezTo>
                    <a:cubicBezTo>
                      <a:pt x="731" y="383"/>
                      <a:pt x="409" y="45"/>
                      <a:pt x="0" y="0"/>
                    </a:cubicBezTo>
                    <a:close/>
                  </a:path>
                </a:pathLst>
              </a:custGeom>
              <a:solidFill>
                <a:srgbClr val="B2CEBB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2200" b="0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57" name="Google Shape;357;p11"/>
              <p:cNvSpPr/>
              <p:nvPr/>
            </p:nvSpPr>
            <p:spPr>
              <a:xfrm>
                <a:off x="5438775" y="1374775"/>
                <a:ext cx="547688" cy="542925"/>
              </a:xfrm>
              <a:custGeom>
                <a:avLst/>
                <a:gdLst/>
                <a:ahLst/>
                <a:cxnLst/>
                <a:rect l="l" t="t" r="r" b="b"/>
                <a:pathLst>
                  <a:path w="345" h="342" extrusionOk="0">
                    <a:moveTo>
                      <a:pt x="89" y="342"/>
                    </a:moveTo>
                    <a:lnTo>
                      <a:pt x="236" y="202"/>
                    </a:lnTo>
                    <a:lnTo>
                      <a:pt x="345" y="311"/>
                    </a:lnTo>
                    <a:lnTo>
                      <a:pt x="345" y="0"/>
                    </a:lnTo>
                    <a:lnTo>
                      <a:pt x="34" y="0"/>
                    </a:lnTo>
                    <a:lnTo>
                      <a:pt x="144" y="109"/>
                    </a:lnTo>
                    <a:lnTo>
                      <a:pt x="0" y="247"/>
                    </a:lnTo>
                    <a:lnTo>
                      <a:pt x="89" y="342"/>
                    </a:lnTo>
                    <a:close/>
                  </a:path>
                </a:pathLst>
              </a:custGeom>
              <a:solidFill>
                <a:srgbClr val="B2CEBB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2200" b="0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358" name="Google Shape;358;p11"/>
            <p:cNvGrpSpPr/>
            <p:nvPr/>
          </p:nvGrpSpPr>
          <p:grpSpPr>
            <a:xfrm>
              <a:off x="8212229" y="5412017"/>
              <a:ext cx="1437318" cy="1357845"/>
              <a:chOff x="4641850" y="3027363"/>
              <a:chExt cx="1346201" cy="1252537"/>
            </a:xfrm>
          </p:grpSpPr>
          <p:sp>
            <p:nvSpPr>
              <p:cNvPr id="359" name="Google Shape;359;p11"/>
              <p:cNvSpPr/>
              <p:nvPr/>
            </p:nvSpPr>
            <p:spPr>
              <a:xfrm>
                <a:off x="4641850" y="3027363"/>
                <a:ext cx="1322388" cy="1244600"/>
              </a:xfrm>
              <a:custGeom>
                <a:avLst/>
                <a:gdLst/>
                <a:ahLst/>
                <a:cxnLst/>
                <a:rect l="l" t="t" r="r" b="b"/>
                <a:pathLst>
                  <a:path w="739" h="695" extrusionOk="0">
                    <a:moveTo>
                      <a:pt x="739" y="0"/>
                    </a:moveTo>
                    <a:cubicBezTo>
                      <a:pt x="588" y="0"/>
                      <a:pt x="588" y="0"/>
                      <a:pt x="588" y="0"/>
                    </a:cubicBezTo>
                    <a:cubicBezTo>
                      <a:pt x="529" y="286"/>
                      <a:pt x="293" y="508"/>
                      <a:pt x="0" y="546"/>
                    </a:cubicBezTo>
                    <a:cubicBezTo>
                      <a:pt x="0" y="695"/>
                      <a:pt x="0" y="695"/>
                      <a:pt x="0" y="695"/>
                    </a:cubicBezTo>
                    <a:cubicBezTo>
                      <a:pt x="374" y="655"/>
                      <a:pt x="676" y="367"/>
                      <a:pt x="739" y="0"/>
                    </a:cubicBezTo>
                    <a:close/>
                  </a:path>
                </a:pathLst>
              </a:custGeom>
              <a:solidFill>
                <a:srgbClr val="F4B08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2200" b="0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60" name="Google Shape;360;p11"/>
              <p:cNvSpPr/>
              <p:nvPr/>
            </p:nvSpPr>
            <p:spPr>
              <a:xfrm>
                <a:off x="5443538" y="3733800"/>
                <a:ext cx="544513" cy="546100"/>
              </a:xfrm>
              <a:custGeom>
                <a:avLst/>
                <a:gdLst/>
                <a:ahLst/>
                <a:cxnLst/>
                <a:rect l="l" t="t" r="r" b="b"/>
                <a:pathLst>
                  <a:path w="343" h="344" extrusionOk="0">
                    <a:moveTo>
                      <a:pt x="0" y="90"/>
                    </a:moveTo>
                    <a:lnTo>
                      <a:pt x="140" y="236"/>
                    </a:lnTo>
                    <a:lnTo>
                      <a:pt x="32" y="344"/>
                    </a:lnTo>
                    <a:lnTo>
                      <a:pt x="343" y="344"/>
                    </a:lnTo>
                    <a:lnTo>
                      <a:pt x="343" y="33"/>
                    </a:lnTo>
                    <a:lnTo>
                      <a:pt x="232" y="144"/>
                    </a:lnTo>
                    <a:lnTo>
                      <a:pt x="95" y="0"/>
                    </a:lnTo>
                    <a:lnTo>
                      <a:pt x="0" y="90"/>
                    </a:lnTo>
                    <a:close/>
                  </a:path>
                </a:pathLst>
              </a:custGeom>
              <a:solidFill>
                <a:srgbClr val="F4B08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2200" b="0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361" name="Google Shape;361;p11"/>
            <p:cNvGrpSpPr/>
            <p:nvPr/>
          </p:nvGrpSpPr>
          <p:grpSpPr>
            <a:xfrm>
              <a:off x="6429143" y="5412017"/>
              <a:ext cx="1454266" cy="1364730"/>
              <a:chOff x="2971800" y="3027363"/>
              <a:chExt cx="1362075" cy="1258888"/>
            </a:xfrm>
          </p:grpSpPr>
          <p:sp>
            <p:nvSpPr>
              <p:cNvPr id="362" name="Google Shape;362;p11"/>
              <p:cNvSpPr/>
              <p:nvPr/>
            </p:nvSpPr>
            <p:spPr>
              <a:xfrm>
                <a:off x="2990850" y="3027363"/>
                <a:ext cx="1343025" cy="1246188"/>
              </a:xfrm>
              <a:custGeom>
                <a:avLst/>
                <a:gdLst/>
                <a:ahLst/>
                <a:cxnLst/>
                <a:rect l="l" t="t" r="r" b="b"/>
                <a:pathLst>
                  <a:path w="750" h="696" extrusionOk="0">
                    <a:moveTo>
                      <a:pt x="15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63" y="371"/>
                      <a:pt x="370" y="660"/>
                      <a:pt x="750" y="696"/>
                    </a:cubicBezTo>
                    <a:cubicBezTo>
                      <a:pt x="750" y="548"/>
                      <a:pt x="750" y="548"/>
                      <a:pt x="750" y="548"/>
                    </a:cubicBezTo>
                    <a:cubicBezTo>
                      <a:pt x="452" y="513"/>
                      <a:pt x="211" y="289"/>
                      <a:pt x="151" y="0"/>
                    </a:cubicBezTo>
                    <a:close/>
                  </a:path>
                </a:pathLst>
              </a:custGeom>
              <a:solidFill>
                <a:srgbClr val="F0C88B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2200" b="0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63" name="Google Shape;363;p11"/>
              <p:cNvSpPr/>
              <p:nvPr/>
            </p:nvSpPr>
            <p:spPr>
              <a:xfrm>
                <a:off x="2971800" y="3741738"/>
                <a:ext cx="547688" cy="544513"/>
              </a:xfrm>
              <a:custGeom>
                <a:avLst/>
                <a:gdLst/>
                <a:ahLst/>
                <a:cxnLst/>
                <a:rect l="l" t="t" r="r" b="b"/>
                <a:pathLst>
                  <a:path w="345" h="343" extrusionOk="0">
                    <a:moveTo>
                      <a:pt x="256" y="0"/>
                    </a:moveTo>
                    <a:lnTo>
                      <a:pt x="108" y="140"/>
                    </a:lnTo>
                    <a:lnTo>
                      <a:pt x="0" y="32"/>
                    </a:lnTo>
                    <a:lnTo>
                      <a:pt x="0" y="343"/>
                    </a:lnTo>
                    <a:lnTo>
                      <a:pt x="311" y="343"/>
                    </a:lnTo>
                    <a:lnTo>
                      <a:pt x="201" y="232"/>
                    </a:lnTo>
                    <a:lnTo>
                      <a:pt x="345" y="95"/>
                    </a:lnTo>
                    <a:lnTo>
                      <a:pt x="256" y="0"/>
                    </a:lnTo>
                    <a:close/>
                  </a:path>
                </a:pathLst>
              </a:custGeom>
              <a:solidFill>
                <a:srgbClr val="F0C88B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2200" b="0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sp>
        <p:nvSpPr>
          <p:cNvPr id="364" name="Google Shape;364;p11"/>
          <p:cNvSpPr/>
          <p:nvPr/>
        </p:nvSpPr>
        <p:spPr>
          <a:xfrm>
            <a:off x="6881161" y="4075092"/>
            <a:ext cx="2457450" cy="2457450"/>
          </a:xfrm>
          <a:prstGeom prst="ellipse">
            <a:avLst/>
          </a:prstGeom>
          <a:solidFill>
            <a:schemeClr val="lt2"/>
          </a:solidFill>
          <a:ln w="254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pen Sans"/>
              <a:buNone/>
            </a:pPr>
            <a:endParaRPr sz="2200" b="0" i="0" u="none" strike="noStrike" cap="non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5" name="Google Shape;365;p11"/>
          <p:cNvSpPr txBox="1"/>
          <p:nvPr/>
        </p:nvSpPr>
        <p:spPr>
          <a:xfrm>
            <a:off x="6652824" y="4789124"/>
            <a:ext cx="2983847" cy="125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Open Sans"/>
              <a:buNone/>
            </a:pPr>
            <a:r>
              <a:rPr lang="en-US" sz="2200" b="0" i="0" u="none" strike="noStrike" cap="none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Fundamental text vectorization techniques</a:t>
            </a:r>
            <a:endParaRPr sz="18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6" name="Google Shape;366;p11"/>
          <p:cNvSpPr/>
          <p:nvPr/>
        </p:nvSpPr>
        <p:spPr>
          <a:xfrm>
            <a:off x="5424052" y="816324"/>
            <a:ext cx="5404006" cy="3810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25000">
                <a:srgbClr val="3645A9"/>
              </a:gs>
              <a:gs pos="50000">
                <a:srgbClr val="3645A9"/>
              </a:gs>
              <a:gs pos="75000">
                <a:srgbClr val="3645A9"/>
              </a:gs>
              <a:gs pos="100000">
                <a:srgbClr val="FFFFFF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2"/>
          <p:cNvSpPr txBox="1">
            <a:spLocks noGrp="1"/>
          </p:cNvSpPr>
          <p:nvPr>
            <p:ph type="body" idx="1"/>
          </p:nvPr>
        </p:nvSpPr>
        <p:spPr>
          <a:xfrm>
            <a:off x="0" y="4114800"/>
            <a:ext cx="16256001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/>
              <a:t>One-Hot-Encoding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3"/>
          <p:cNvSpPr/>
          <p:nvPr/>
        </p:nvSpPr>
        <p:spPr>
          <a:xfrm>
            <a:off x="1600198" y="6587662"/>
            <a:ext cx="13062857" cy="1344667"/>
          </a:xfrm>
          <a:prstGeom prst="roundRect">
            <a:avLst>
              <a:gd name="adj" fmla="val 16667"/>
            </a:avLst>
          </a:prstGeom>
          <a:solidFill>
            <a:srgbClr val="5A6E5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7" name="Google Shape;377;p13"/>
          <p:cNvSpPr txBox="1">
            <a:spLocks noGrp="1"/>
          </p:cNvSpPr>
          <p:nvPr>
            <p:ph type="body" idx="1"/>
          </p:nvPr>
        </p:nvSpPr>
        <p:spPr>
          <a:xfrm>
            <a:off x="1291857" y="1512833"/>
            <a:ext cx="13696999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</a:pPr>
            <a:r>
              <a:rPr lang="en-US" b="0" i="0">
                <a:latin typeface="Open Sans"/>
                <a:ea typeface="Open Sans"/>
                <a:cs typeface="Open Sans"/>
                <a:sym typeface="Open Sans"/>
              </a:rPr>
              <a:t>One-hot encoding involves representing words or tokens in a text as binary vectors.</a:t>
            </a:r>
            <a:endParaRPr/>
          </a:p>
        </p:txBody>
      </p:sp>
      <p:sp>
        <p:nvSpPr>
          <p:cNvPr id="378" name="Google Shape;378;p13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</a:pPr>
            <a:r>
              <a:rPr lang="en-US">
                <a:latin typeface="Open Sans"/>
                <a:ea typeface="Open Sans"/>
                <a:cs typeface="Open Sans"/>
                <a:sym typeface="Open Sans"/>
              </a:rPr>
              <a:t>One-Hot-Encoding</a:t>
            </a:r>
            <a:endParaRPr/>
          </a:p>
        </p:txBody>
      </p:sp>
      <p:sp>
        <p:nvSpPr>
          <p:cNvPr id="379" name="Google Shape;379;p13"/>
          <p:cNvSpPr txBox="1"/>
          <p:nvPr/>
        </p:nvSpPr>
        <p:spPr>
          <a:xfrm>
            <a:off x="2120956" y="6731132"/>
            <a:ext cx="12053998" cy="992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Open Sans"/>
              <a:buNone/>
            </a:pPr>
            <a:r>
              <a:rPr lang="en-US" sz="2200" b="0" i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This binary representation transforms of text data into a machine-learning-friendly format, enabling effective processing and analysis of categorical information by the model.</a:t>
            </a:r>
            <a:endParaRPr sz="22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0" name="Google Shape;380;p13"/>
          <p:cNvSpPr/>
          <p:nvPr/>
        </p:nvSpPr>
        <p:spPr>
          <a:xfrm>
            <a:off x="6448324" y="816324"/>
            <a:ext cx="3355463" cy="3810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25000">
                <a:srgbClr val="3645A9"/>
              </a:gs>
              <a:gs pos="50000">
                <a:srgbClr val="3645A9"/>
              </a:gs>
              <a:gs pos="75000">
                <a:srgbClr val="3645A9"/>
              </a:gs>
              <a:gs pos="100000">
                <a:srgbClr val="FFFFFF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381" name="Google Shape;381;p13"/>
          <p:cNvGrpSpPr/>
          <p:nvPr/>
        </p:nvGrpSpPr>
        <p:grpSpPr>
          <a:xfrm>
            <a:off x="5640209" y="3225875"/>
            <a:ext cx="1939298" cy="2220675"/>
            <a:chOff x="5672867" y="4058635"/>
            <a:chExt cx="1939298" cy="2220675"/>
          </a:xfrm>
        </p:grpSpPr>
        <p:sp>
          <p:nvSpPr>
            <p:cNvPr id="382" name="Google Shape;382;p13"/>
            <p:cNvSpPr/>
            <p:nvPr/>
          </p:nvSpPr>
          <p:spPr>
            <a:xfrm>
              <a:off x="5672867" y="4058635"/>
              <a:ext cx="1939298" cy="1147699"/>
            </a:xfrm>
            <a:custGeom>
              <a:avLst/>
              <a:gdLst/>
              <a:ahLst/>
              <a:cxnLst/>
              <a:rect l="l" t="t" r="r" b="b"/>
              <a:pathLst>
                <a:path w="1482" h="877" extrusionOk="0">
                  <a:moveTo>
                    <a:pt x="1482" y="285"/>
                  </a:moveTo>
                  <a:cubicBezTo>
                    <a:pt x="1482" y="109"/>
                    <a:pt x="1292" y="0"/>
                    <a:pt x="1140" y="87"/>
                  </a:cubicBezTo>
                  <a:cubicBezTo>
                    <a:pt x="627" y="383"/>
                    <a:pt x="627" y="383"/>
                    <a:pt x="627" y="383"/>
                  </a:cubicBezTo>
                  <a:cubicBezTo>
                    <a:pt x="114" y="680"/>
                    <a:pt x="114" y="680"/>
                    <a:pt x="114" y="680"/>
                  </a:cubicBezTo>
                  <a:cubicBezTo>
                    <a:pt x="38" y="723"/>
                    <a:pt x="0" y="800"/>
                    <a:pt x="0" y="877"/>
                  </a:cubicBezTo>
                  <a:cubicBezTo>
                    <a:pt x="1259" y="877"/>
                    <a:pt x="1259" y="877"/>
                    <a:pt x="1259" y="877"/>
                  </a:cubicBezTo>
                  <a:cubicBezTo>
                    <a:pt x="1482" y="285"/>
                    <a:pt x="1482" y="285"/>
                    <a:pt x="1482" y="285"/>
                  </a:cubicBezTo>
                </a:path>
              </a:pathLst>
            </a:custGeom>
            <a:solidFill>
              <a:srgbClr val="288D8E"/>
            </a:solidFill>
            <a:ln>
              <a:noFill/>
            </a:ln>
          </p:spPr>
          <p:txBody>
            <a:bodyPr spcFirstLastPara="1" wrap="square" lIns="121900" tIns="60950" rIns="121900" bIns="609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83" name="Google Shape;383;p13"/>
            <p:cNvSpPr/>
            <p:nvPr/>
          </p:nvSpPr>
          <p:spPr>
            <a:xfrm>
              <a:off x="5672867" y="5206334"/>
              <a:ext cx="1939298" cy="1072976"/>
            </a:xfrm>
            <a:custGeom>
              <a:avLst/>
              <a:gdLst/>
              <a:ahLst/>
              <a:cxnLst/>
              <a:rect l="l" t="t" r="r" b="b"/>
              <a:pathLst>
                <a:path w="1482" h="820" extrusionOk="0">
                  <a:moveTo>
                    <a:pt x="1259" y="0"/>
                  </a:moveTo>
                  <a:cubicBezTo>
                    <a:pt x="1259" y="0"/>
                    <a:pt x="1259" y="0"/>
                    <a:pt x="125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77"/>
                    <a:pt x="38" y="154"/>
                    <a:pt x="114" y="197"/>
                  </a:cubicBezTo>
                  <a:cubicBezTo>
                    <a:pt x="627" y="494"/>
                    <a:pt x="627" y="494"/>
                    <a:pt x="627" y="494"/>
                  </a:cubicBezTo>
                  <a:cubicBezTo>
                    <a:pt x="1140" y="790"/>
                    <a:pt x="1140" y="790"/>
                    <a:pt x="1140" y="790"/>
                  </a:cubicBezTo>
                  <a:cubicBezTo>
                    <a:pt x="1177" y="811"/>
                    <a:pt x="1216" y="820"/>
                    <a:pt x="1254" y="820"/>
                  </a:cubicBezTo>
                  <a:cubicBezTo>
                    <a:pt x="1373" y="820"/>
                    <a:pt x="1482" y="725"/>
                    <a:pt x="1482" y="592"/>
                  </a:cubicBezTo>
                  <a:cubicBezTo>
                    <a:pt x="1259" y="0"/>
                    <a:pt x="1259" y="0"/>
                    <a:pt x="1259" y="0"/>
                  </a:cubicBezTo>
                </a:path>
              </a:pathLst>
            </a:custGeom>
            <a:solidFill>
              <a:srgbClr val="85BEBF"/>
            </a:solidFill>
            <a:ln>
              <a:noFill/>
            </a:ln>
          </p:spPr>
          <p:txBody>
            <a:bodyPr spcFirstLastPara="1" wrap="square" lIns="121900" tIns="60950" rIns="121900" bIns="609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84" name="Google Shape;384;p13"/>
          <p:cNvGrpSpPr/>
          <p:nvPr/>
        </p:nvGrpSpPr>
        <p:grpSpPr>
          <a:xfrm>
            <a:off x="8606948" y="3225875"/>
            <a:ext cx="1939298" cy="2220675"/>
            <a:chOff x="8639606" y="4058635"/>
            <a:chExt cx="1939298" cy="2220675"/>
          </a:xfrm>
        </p:grpSpPr>
        <p:sp>
          <p:nvSpPr>
            <p:cNvPr id="385" name="Google Shape;385;p13"/>
            <p:cNvSpPr/>
            <p:nvPr/>
          </p:nvSpPr>
          <p:spPr>
            <a:xfrm>
              <a:off x="8639606" y="4058635"/>
              <a:ext cx="1939298" cy="1147699"/>
            </a:xfrm>
            <a:custGeom>
              <a:avLst/>
              <a:gdLst/>
              <a:ahLst/>
              <a:cxnLst/>
              <a:rect l="l" t="t" r="r" b="b"/>
              <a:pathLst>
                <a:path w="1482" h="877" extrusionOk="0">
                  <a:moveTo>
                    <a:pt x="0" y="285"/>
                  </a:moveTo>
                  <a:cubicBezTo>
                    <a:pt x="0" y="109"/>
                    <a:pt x="190" y="0"/>
                    <a:pt x="342" y="87"/>
                  </a:cubicBezTo>
                  <a:cubicBezTo>
                    <a:pt x="855" y="383"/>
                    <a:pt x="855" y="383"/>
                    <a:pt x="855" y="383"/>
                  </a:cubicBezTo>
                  <a:cubicBezTo>
                    <a:pt x="1368" y="680"/>
                    <a:pt x="1368" y="680"/>
                    <a:pt x="1368" y="680"/>
                  </a:cubicBezTo>
                  <a:cubicBezTo>
                    <a:pt x="1444" y="723"/>
                    <a:pt x="1482" y="800"/>
                    <a:pt x="1482" y="877"/>
                  </a:cubicBezTo>
                  <a:cubicBezTo>
                    <a:pt x="223" y="877"/>
                    <a:pt x="223" y="877"/>
                    <a:pt x="223" y="877"/>
                  </a:cubicBezTo>
                  <a:cubicBezTo>
                    <a:pt x="0" y="285"/>
                    <a:pt x="0" y="285"/>
                    <a:pt x="0" y="285"/>
                  </a:cubicBezTo>
                </a:path>
              </a:pathLst>
            </a:custGeom>
            <a:solidFill>
              <a:srgbClr val="EF4136"/>
            </a:solidFill>
            <a:ln>
              <a:noFill/>
            </a:ln>
          </p:spPr>
          <p:txBody>
            <a:bodyPr spcFirstLastPara="1" wrap="square" lIns="121900" tIns="60950" rIns="121900" bIns="609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86" name="Google Shape;386;p13"/>
            <p:cNvSpPr/>
            <p:nvPr/>
          </p:nvSpPr>
          <p:spPr>
            <a:xfrm>
              <a:off x="8639606" y="5206334"/>
              <a:ext cx="1939298" cy="1072976"/>
            </a:xfrm>
            <a:custGeom>
              <a:avLst/>
              <a:gdLst/>
              <a:ahLst/>
              <a:cxnLst/>
              <a:rect l="l" t="t" r="r" b="b"/>
              <a:pathLst>
                <a:path w="1482" h="820" extrusionOk="0">
                  <a:moveTo>
                    <a:pt x="1482" y="0"/>
                  </a:moveTo>
                  <a:cubicBezTo>
                    <a:pt x="223" y="0"/>
                    <a:pt x="223" y="0"/>
                    <a:pt x="223" y="0"/>
                  </a:cubicBezTo>
                  <a:cubicBezTo>
                    <a:pt x="0" y="592"/>
                    <a:pt x="0" y="592"/>
                    <a:pt x="0" y="592"/>
                  </a:cubicBezTo>
                  <a:cubicBezTo>
                    <a:pt x="0" y="725"/>
                    <a:pt x="110" y="820"/>
                    <a:pt x="229" y="820"/>
                  </a:cubicBezTo>
                  <a:cubicBezTo>
                    <a:pt x="267" y="820"/>
                    <a:pt x="306" y="811"/>
                    <a:pt x="342" y="790"/>
                  </a:cubicBezTo>
                  <a:cubicBezTo>
                    <a:pt x="855" y="494"/>
                    <a:pt x="855" y="494"/>
                    <a:pt x="855" y="494"/>
                  </a:cubicBezTo>
                  <a:cubicBezTo>
                    <a:pt x="1368" y="197"/>
                    <a:pt x="1368" y="197"/>
                    <a:pt x="1368" y="197"/>
                  </a:cubicBezTo>
                  <a:cubicBezTo>
                    <a:pt x="1444" y="154"/>
                    <a:pt x="1482" y="77"/>
                    <a:pt x="1482" y="0"/>
                  </a:cubicBezTo>
                </a:path>
              </a:pathLst>
            </a:custGeom>
            <a:solidFill>
              <a:srgbClr val="F6938D"/>
            </a:solidFill>
            <a:ln>
              <a:noFill/>
            </a:ln>
          </p:spPr>
          <p:txBody>
            <a:bodyPr spcFirstLastPara="1" wrap="square" lIns="121900" tIns="60950" rIns="121900" bIns="609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387" name="Google Shape;387;p13"/>
          <p:cNvSpPr txBox="1"/>
          <p:nvPr/>
        </p:nvSpPr>
        <p:spPr>
          <a:xfrm>
            <a:off x="1612900" y="3782235"/>
            <a:ext cx="3776256" cy="110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Treats each word in the vocabulary as a class or category</a:t>
            </a:r>
            <a:endParaRPr sz="2200" b="0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8" name="Google Shape;388;p13"/>
          <p:cNvSpPr txBox="1"/>
          <p:nvPr/>
        </p:nvSpPr>
        <p:spPr>
          <a:xfrm>
            <a:off x="11033605" y="3782235"/>
            <a:ext cx="3609495" cy="110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Assigns vector value 1 where the word is present and 0 at other places</a:t>
            </a:r>
            <a:endParaRPr sz="2200" b="0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4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</a:pPr>
            <a:r>
              <a:rPr lang="en-US"/>
              <a:t>One-Hot-Encoding: Working</a:t>
            </a:r>
            <a:endParaRPr/>
          </a:p>
        </p:txBody>
      </p:sp>
      <p:graphicFrame>
        <p:nvGraphicFramePr>
          <p:cNvPr id="394" name="Google Shape;394;p14"/>
          <p:cNvGraphicFramePr/>
          <p:nvPr>
            <p:extLst>
              <p:ext uri="{D42A27DB-BD31-4B8C-83A1-F6EECF244321}">
                <p14:modId xmlns:p14="http://schemas.microsoft.com/office/powerpoint/2010/main" val="2132751856"/>
              </p:ext>
            </p:extLst>
          </p:nvPr>
        </p:nvGraphicFramePr>
        <p:xfrm>
          <a:off x="2739489" y="3083604"/>
          <a:ext cx="3544500" cy="3210010"/>
        </p:xfrm>
        <a:graphic>
          <a:graphicData uri="http://schemas.openxmlformats.org/drawingml/2006/table">
            <a:tbl>
              <a:tblPr firstRow="1" bandRow="1">
                <a:noFill/>
                <a:tableStyleId>{3451E598-09E1-43EC-B2AC-09E2A2E3DA04}</a:tableStyleId>
              </a:tblPr>
              <a:tblGrid>
                <a:gridCol w="354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200"/>
                        <a:buFont typeface="Open Sans"/>
                        <a:buNone/>
                      </a:pPr>
                      <a:r>
                        <a:rPr lang="en-US" sz="2200" b="1" i="0" u="none" strike="noStrike" cap="none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Corpus (D)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200"/>
                        <a:buFont typeface="Open Sans"/>
                        <a:buNone/>
                      </a:pPr>
                      <a:r>
                        <a:rPr lang="en-US" sz="2200" b="1" i="0" u="none" strike="noStrike" cap="none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set of documents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Open Sans"/>
                        <a:buNone/>
                      </a:pPr>
                      <a:r>
                        <a:rPr lang="en-US" sz="2200" b="0" i="0" u="none" strike="noStrike" cap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 have a little daughter</a:t>
                      </a:r>
                      <a:endParaRPr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Open Sans"/>
                        <a:buNone/>
                      </a:pPr>
                      <a:r>
                        <a:rPr lang="en-US" sz="2200" b="0" i="0" u="none" strike="noStrike" cap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Mary had a little lamb</a:t>
                      </a:r>
                      <a:endParaRPr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Open Sans"/>
                        <a:buNone/>
                      </a:pPr>
                      <a:r>
                        <a:rPr lang="en-US" sz="2200" b="0" i="0" u="none" strike="noStrike" cap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Twinkle </a:t>
                      </a:r>
                      <a:r>
                        <a:rPr lang="en-US" sz="2200" b="0" i="0" u="none" strike="noStrike" cap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twinkle</a:t>
                      </a:r>
                      <a:r>
                        <a:rPr lang="en-US" sz="2200" b="0" i="0" u="none" strike="noStrike" cap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little star</a:t>
                      </a:r>
                      <a:endParaRPr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Open Sans"/>
                        <a:buNone/>
                      </a:pPr>
                      <a:r>
                        <a:rPr lang="en-US" sz="2200" b="0" i="0" u="none" strike="noStrike" cap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The silence of lambs</a:t>
                      </a:r>
                      <a:endParaRPr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95" name="Google Shape;395;p14"/>
          <p:cNvSpPr/>
          <p:nvPr/>
        </p:nvSpPr>
        <p:spPr>
          <a:xfrm>
            <a:off x="7391400" y="4438650"/>
            <a:ext cx="1447800" cy="99587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8D5C4"/>
          </a:solidFill>
          <a:ln w="190500" cap="rnd" cmpd="sng">
            <a:solidFill>
              <a:srgbClr val="D8D5C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396" name="Google Shape;396;p14"/>
          <p:cNvGraphicFramePr/>
          <p:nvPr>
            <p:extLst>
              <p:ext uri="{D42A27DB-BD31-4B8C-83A1-F6EECF244321}">
                <p14:modId xmlns:p14="http://schemas.microsoft.com/office/powerpoint/2010/main" val="1227611496"/>
              </p:ext>
            </p:extLst>
          </p:nvPr>
        </p:nvGraphicFramePr>
        <p:xfrm>
          <a:off x="9563618" y="3083004"/>
          <a:ext cx="3544500" cy="3211200"/>
        </p:xfrm>
        <a:graphic>
          <a:graphicData uri="http://schemas.openxmlformats.org/drawingml/2006/table">
            <a:tbl>
              <a:tblPr firstRow="1" bandRow="1">
                <a:noFill/>
                <a:tableStyleId>{3451E598-09E1-43EC-B2AC-09E2A2E3DA04}</a:tableStyleId>
              </a:tblPr>
              <a:tblGrid>
                <a:gridCol w="354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6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200"/>
                        <a:buFont typeface="Open Sans"/>
                        <a:buNone/>
                      </a:pPr>
                      <a:r>
                        <a:rPr lang="en-US" sz="2200" b="1" i="0" u="none" strike="noStrike" cap="none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Tokens</a:t>
                      </a:r>
                      <a:endParaRPr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Open Sans"/>
                        <a:buNone/>
                      </a:pPr>
                      <a:r>
                        <a:rPr lang="en-US" sz="2200" b="0" i="0" u="none" strike="noStrike" cap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[ “little”,  “daughter”]</a:t>
                      </a:r>
                      <a:endParaRPr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Open Sans"/>
                        <a:buNone/>
                      </a:pPr>
                      <a:r>
                        <a:rPr lang="en-US" sz="2200" b="0" i="0" u="none" strike="noStrike" cap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[“</a:t>
                      </a:r>
                      <a:r>
                        <a:rPr lang="en-US" sz="2200" b="0" i="0" u="none" strike="noStrike" cap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mary</a:t>
                      </a:r>
                      <a:r>
                        <a:rPr lang="en-US" sz="2200" b="0" i="0" u="none" strike="noStrike" cap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”,  “little”, “lamb”]</a:t>
                      </a:r>
                      <a:endParaRPr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Open Sans"/>
                        <a:buNone/>
                      </a:pPr>
                      <a:r>
                        <a:rPr lang="en-US" sz="2200" b="0" i="0" u="none" strike="noStrike" cap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[“twinkle”, “little”, “star”]</a:t>
                      </a:r>
                      <a:endParaRPr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Open Sans"/>
                        <a:buNone/>
                      </a:pPr>
                      <a:r>
                        <a:rPr lang="en-US" sz="2200" b="0" i="0" u="none" strike="noStrike" cap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[“silence”,  “lambs”]</a:t>
                      </a:r>
                      <a:endParaRPr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97" name="Google Shape;397;p14"/>
          <p:cNvGraphicFramePr/>
          <p:nvPr>
            <p:extLst>
              <p:ext uri="{D42A27DB-BD31-4B8C-83A1-F6EECF244321}">
                <p14:modId xmlns:p14="http://schemas.microsoft.com/office/powerpoint/2010/main" val="2403665646"/>
              </p:ext>
            </p:extLst>
          </p:nvPr>
        </p:nvGraphicFramePr>
        <p:xfrm>
          <a:off x="2739489" y="7090275"/>
          <a:ext cx="10368631" cy="687250"/>
        </p:xfrm>
        <a:graphic>
          <a:graphicData uri="http://schemas.openxmlformats.org/drawingml/2006/table">
            <a:tbl>
              <a:tblPr firstRow="1" bandRow="1">
                <a:noFill/>
                <a:tableStyleId>{3451E598-09E1-43EC-B2AC-09E2A2E3DA04}</a:tableStyleId>
              </a:tblPr>
              <a:tblGrid>
                <a:gridCol w="14812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12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12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12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812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812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812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872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u="none" strike="noStrike" cap="none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little</a:t>
                      </a:r>
                      <a:endParaRPr sz="2200" b="0" i="0" u="none" strike="noStrike" cap="none">
                        <a:solidFill>
                          <a:srgbClr val="3F3F3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525" marR="9525" marT="9525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8B2C7">
                        <a:alpha val="2039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u="none" strike="noStrike" cap="none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daughter</a:t>
                      </a:r>
                      <a:endParaRPr sz="2200" b="0" i="0" u="none" strike="noStrike" cap="none">
                        <a:solidFill>
                          <a:srgbClr val="3F3F3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525" marR="9525" marT="9525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8B2C7">
                        <a:alpha val="2039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u="none" strike="noStrike" cap="none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lamb</a:t>
                      </a:r>
                      <a:endParaRPr sz="2200" b="0" i="0" u="none" strike="noStrike" cap="none">
                        <a:solidFill>
                          <a:srgbClr val="3F3F3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525" marR="9525" marT="9525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8B2C7">
                        <a:alpha val="2039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u="none" strike="noStrike" cap="none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twinkle</a:t>
                      </a:r>
                      <a:endParaRPr sz="2200" b="0" i="0" u="none" strike="noStrike" cap="none">
                        <a:solidFill>
                          <a:srgbClr val="3F3F3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525" marR="9525" marT="9525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8B2C7">
                        <a:alpha val="2039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u="none" strike="noStrike" cap="none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star</a:t>
                      </a:r>
                      <a:endParaRPr sz="2200" b="0" i="0" u="none" strike="noStrike" cap="none">
                        <a:solidFill>
                          <a:srgbClr val="3F3F3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525" marR="9525" marT="9525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8B2C7">
                        <a:alpha val="2039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u="none" strike="noStrike" cap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silence</a:t>
                      </a:r>
                      <a:endParaRPr sz="2200" b="0" i="0" u="none" strike="noStrike" cap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525" marR="9525" marT="9525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8B2C7">
                        <a:alpha val="2039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u="none" strike="noStrike" cap="none" dirty="0" err="1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mary</a:t>
                      </a:r>
                      <a:endParaRPr sz="2200" b="0" i="0" u="none" strike="noStrike" cap="none" dirty="0">
                        <a:solidFill>
                          <a:srgbClr val="3F3F3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525" marR="9525" marT="9525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8B2C7">
                        <a:alpha val="2039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98" name="Google Shape;398;p14"/>
          <p:cNvSpPr txBox="1">
            <a:spLocks noGrp="1"/>
          </p:cNvSpPr>
          <p:nvPr>
            <p:ph type="body" idx="1"/>
          </p:nvPr>
        </p:nvSpPr>
        <p:spPr>
          <a:xfrm>
            <a:off x="1291857" y="1512833"/>
            <a:ext cx="13696999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</a:pPr>
            <a:r>
              <a:rPr lang="en-US">
                <a:latin typeface="Open Sans"/>
                <a:ea typeface="Open Sans"/>
                <a:cs typeface="Open Sans"/>
                <a:sym typeface="Open Sans"/>
              </a:rPr>
              <a:t>In one-hot encoding, the sparsity of the representation increases with a higher number of distinct categorical values. </a:t>
            </a:r>
            <a:endParaRPr/>
          </a:p>
        </p:txBody>
      </p:sp>
      <p:sp>
        <p:nvSpPr>
          <p:cNvPr id="399" name="Google Shape;399;p14"/>
          <p:cNvSpPr/>
          <p:nvPr/>
        </p:nvSpPr>
        <p:spPr>
          <a:xfrm>
            <a:off x="6552208" y="6271125"/>
            <a:ext cx="2743200" cy="81915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vocabulary</a:t>
            </a:r>
            <a:endParaRPr/>
          </a:p>
        </p:txBody>
      </p:sp>
      <p:sp>
        <p:nvSpPr>
          <p:cNvPr id="400" name="Google Shape;400;p14"/>
          <p:cNvSpPr/>
          <p:nvPr/>
        </p:nvSpPr>
        <p:spPr>
          <a:xfrm>
            <a:off x="5634384" y="816324"/>
            <a:ext cx="4991677" cy="3810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25000">
                <a:srgbClr val="3645A9"/>
              </a:gs>
              <a:gs pos="50000">
                <a:srgbClr val="3645A9"/>
              </a:gs>
              <a:gs pos="75000">
                <a:srgbClr val="3645A9"/>
              </a:gs>
              <a:gs pos="100000">
                <a:srgbClr val="FFFFFF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1" name="Google Shape;401;p14"/>
          <p:cNvSpPr txBox="1"/>
          <p:nvPr/>
        </p:nvSpPr>
        <p:spPr>
          <a:xfrm>
            <a:off x="6418103" y="3717011"/>
            <a:ext cx="301141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Text pre-processing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5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</a:pPr>
            <a:r>
              <a:rPr lang="en-US"/>
              <a:t>One-Hot-Encoding: Working</a:t>
            </a:r>
            <a:endParaRPr/>
          </a:p>
        </p:txBody>
      </p:sp>
      <p:sp>
        <p:nvSpPr>
          <p:cNvPr id="407" name="Google Shape;407;p15"/>
          <p:cNvSpPr txBox="1"/>
          <p:nvPr/>
        </p:nvSpPr>
        <p:spPr>
          <a:xfrm>
            <a:off x="4433888" y="4387334"/>
            <a:ext cx="890587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408" name="Google Shape;408;p15"/>
          <p:cNvGraphicFramePr/>
          <p:nvPr/>
        </p:nvGraphicFramePr>
        <p:xfrm>
          <a:off x="2530886" y="3664512"/>
          <a:ext cx="11194200" cy="3600000"/>
        </p:xfrm>
        <a:graphic>
          <a:graphicData uri="http://schemas.openxmlformats.org/drawingml/2006/table">
            <a:tbl>
              <a:tblPr>
                <a:noFill/>
                <a:tableStyleId>{E47D01E6-4629-4F39-B131-EA1D3E16BC4B}</a:tableStyleId>
              </a:tblPr>
              <a:tblGrid>
                <a:gridCol w="124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3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3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3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3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43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43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43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endParaRPr sz="22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endParaRPr sz="22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 i="0" u="none" strike="noStrike" cap="none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Vocabulary</a:t>
                      </a:r>
                      <a:endParaRPr/>
                    </a:p>
                  </a:txBody>
                  <a:tcPr marL="9525" marR="9525" marT="9525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0417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endParaRPr sz="22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endParaRPr sz="22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u="none" strike="noStrike" cap="none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little</a:t>
                      </a:r>
                      <a:endParaRPr sz="2200" b="0" i="0" u="none" strike="noStrike" cap="none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525" marR="9525" marT="9525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u="none" strike="noStrike" cap="none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daughter</a:t>
                      </a:r>
                      <a:endParaRPr sz="2200" b="0" i="0" u="none" strike="noStrike" cap="none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525" marR="9525" marT="9525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u="none" strike="noStrike" cap="none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lamb</a:t>
                      </a:r>
                      <a:endParaRPr sz="2200" b="0" i="0" u="none" strike="noStrike" cap="none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525" marR="9525" marT="9525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u="none" strike="noStrike" cap="none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twinkle</a:t>
                      </a:r>
                      <a:endParaRPr sz="2200" b="0" i="0" u="none" strike="noStrike" cap="none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525" marR="9525" marT="9525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u="none" strike="noStrike" cap="none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star</a:t>
                      </a:r>
                      <a:endParaRPr sz="2200" b="0" i="0" u="none" strike="noStrike" cap="none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525" marR="9525" marT="9525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u="none" strike="noStrike" cap="none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silence</a:t>
                      </a:r>
                      <a:endParaRPr sz="2200" b="0" i="0" u="none" strike="noStrike" cap="none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525" marR="9525" marT="9525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u="none" strike="noStrike" cap="none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mary</a:t>
                      </a:r>
                      <a:endParaRPr sz="2200" b="0" i="0" u="none" strike="noStrike" cap="none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525" marR="9525" marT="9525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000"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 i="0" u="none" strike="noStrike" cap="none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Tokens</a:t>
                      </a:r>
                      <a:endParaRPr/>
                    </a:p>
                  </a:txBody>
                  <a:tcPr marL="9525" marR="9525" marT="9525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041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i="0" u="none" strike="noStrike" cap="none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mary</a:t>
                      </a:r>
                      <a:endParaRPr sz="2200" b="0" i="0" u="none" strike="noStrike" cap="none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525" marR="9525" marT="9525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22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22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22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22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22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22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22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D2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i="0" u="none" strike="noStrike" cap="none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little</a:t>
                      </a:r>
                      <a:endParaRPr/>
                    </a:p>
                  </a:txBody>
                  <a:tcPr marL="9525" marR="9525" marT="9525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22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22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22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22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22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22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22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i="0" u="none" strike="noStrike" cap="none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lamb</a:t>
                      </a:r>
                      <a:endParaRPr/>
                    </a:p>
                  </a:txBody>
                  <a:tcPr marL="9525" marR="9525" marT="9525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22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22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22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22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22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22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22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D2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09" name="Google Shape;409;p15"/>
          <p:cNvSpPr txBox="1">
            <a:spLocks noGrp="1"/>
          </p:cNvSpPr>
          <p:nvPr>
            <p:ph type="body" idx="1"/>
          </p:nvPr>
        </p:nvSpPr>
        <p:spPr>
          <a:xfrm>
            <a:off x="1291857" y="1512833"/>
            <a:ext cx="13696999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74151"/>
              </a:buClr>
              <a:buSzPts val="2200"/>
              <a:buNone/>
            </a:pPr>
            <a:r>
              <a:rPr lang="en-US" b="0" i="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Based on the </a:t>
            </a:r>
            <a:r>
              <a:rPr lang="en-US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vocabulary generated with the documents, shown below is the one hot encoded matrix for the sentence:</a:t>
            </a:r>
            <a:endParaRPr b="1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0" name="Google Shape;410;p15"/>
          <p:cNvSpPr txBox="1"/>
          <p:nvPr/>
        </p:nvSpPr>
        <p:spPr>
          <a:xfrm>
            <a:off x="3685196" y="2581433"/>
            <a:ext cx="891032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“</a:t>
            </a:r>
            <a:r>
              <a:rPr lang="en-US" sz="2200" b="1" i="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Mary had a little lamb.”</a:t>
            </a:r>
            <a:endParaRPr sz="2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1" name="Google Shape;411;p15"/>
          <p:cNvSpPr/>
          <p:nvPr/>
        </p:nvSpPr>
        <p:spPr>
          <a:xfrm>
            <a:off x="5634384" y="816324"/>
            <a:ext cx="4991677" cy="3810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25000">
                <a:srgbClr val="3645A9"/>
              </a:gs>
              <a:gs pos="50000">
                <a:srgbClr val="3645A9"/>
              </a:gs>
              <a:gs pos="75000">
                <a:srgbClr val="3645A9"/>
              </a:gs>
              <a:gs pos="100000">
                <a:srgbClr val="FFFFFF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6"/>
          <p:cNvSpPr/>
          <p:nvPr/>
        </p:nvSpPr>
        <p:spPr>
          <a:xfrm>
            <a:off x="1869440" y="6602603"/>
            <a:ext cx="12517119" cy="1049021"/>
          </a:xfrm>
          <a:prstGeom prst="roundRect">
            <a:avLst>
              <a:gd name="adj" fmla="val 16667"/>
            </a:avLst>
          </a:prstGeom>
          <a:solidFill>
            <a:srgbClr val="28B2C8"/>
          </a:solidFill>
          <a:ln w="12700" cap="flat" cmpd="sng">
            <a:solidFill>
              <a:srgbClr val="28B2C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7" name="Google Shape;417;p16"/>
          <p:cNvSpPr txBox="1">
            <a:spLocks noGrp="1"/>
          </p:cNvSpPr>
          <p:nvPr>
            <p:ph type="body" idx="1"/>
          </p:nvPr>
        </p:nvSpPr>
        <p:spPr>
          <a:xfrm>
            <a:off x="1291857" y="1512833"/>
            <a:ext cx="13696999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In one-hot encoding, the sparsity of the representation increases with a higher number of distinct categorical values. 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8" name="Google Shape;418;p16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</a:pPr>
            <a:r>
              <a:rPr lang="en-US"/>
              <a:t>One-Hot-Encoding</a:t>
            </a:r>
            <a:endParaRPr/>
          </a:p>
        </p:txBody>
      </p:sp>
      <p:sp>
        <p:nvSpPr>
          <p:cNvPr id="419" name="Google Shape;419;p16"/>
          <p:cNvSpPr txBox="1"/>
          <p:nvPr/>
        </p:nvSpPr>
        <p:spPr>
          <a:xfrm>
            <a:off x="2097507" y="6904484"/>
            <a:ext cx="12060983" cy="454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i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This can lead to inefficiencies in terms of storage, computation, and training times</a:t>
            </a:r>
            <a:r>
              <a:rPr lang="en-US" sz="2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r>
              <a:rPr lang="en-US" sz="2200" i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22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420" name="Google Shape;420;p16"/>
          <p:cNvGrpSpPr/>
          <p:nvPr/>
        </p:nvGrpSpPr>
        <p:grpSpPr>
          <a:xfrm>
            <a:off x="3024270" y="3423055"/>
            <a:ext cx="11134220" cy="2196657"/>
            <a:chOff x="2692451" y="3331538"/>
            <a:chExt cx="10501034" cy="2196657"/>
          </a:xfrm>
        </p:grpSpPr>
        <p:pic>
          <p:nvPicPr>
            <p:cNvPr id="421" name="Google Shape;421;p1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692451" y="3448237"/>
              <a:ext cx="409977" cy="42203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2" name="Google Shape;422;p16"/>
            <p:cNvSpPr txBox="1"/>
            <p:nvPr/>
          </p:nvSpPr>
          <p:spPr>
            <a:xfrm>
              <a:off x="3482520" y="3331538"/>
              <a:ext cx="9498693" cy="8641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1" indent="0" algn="l" rtl="0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200" b="0" i="0" u="none" strike="noStrike" cap="none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/>
                  <a:ea typeface="Open Sans"/>
                  <a:cs typeface="Open Sans"/>
                  <a:sym typeface="Open Sans"/>
                </a:rPr>
                <a:t>As the vocabulary size increases, these one hot encoded vectors become larger and sparser.</a:t>
              </a:r>
              <a:endParaRPr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23" name="Google Shape;423;p16"/>
            <p:cNvSpPr txBox="1"/>
            <p:nvPr/>
          </p:nvSpPr>
          <p:spPr>
            <a:xfrm>
              <a:off x="3482520" y="4664024"/>
              <a:ext cx="9710965" cy="8641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1" indent="0" algn="l" rtl="0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200" b="0" i="0" u="none" strike="noStrike" cap="none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/>
                  <a:ea typeface="Open Sans"/>
                  <a:cs typeface="Open Sans"/>
                  <a:sym typeface="Open Sans"/>
                </a:rPr>
                <a:t>The high dimensionality and sparsity contribute to increased memory requirements, affecting storage efficiency.</a:t>
              </a:r>
              <a:endParaRPr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pic>
          <p:nvPicPr>
            <p:cNvPr id="424" name="Google Shape;424;p1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692451" y="4799763"/>
              <a:ext cx="409977" cy="42203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25" name="Google Shape;425;p16"/>
          <p:cNvSpPr/>
          <p:nvPr/>
        </p:nvSpPr>
        <p:spPr>
          <a:xfrm>
            <a:off x="6448324" y="816324"/>
            <a:ext cx="3355463" cy="3810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25000">
                <a:srgbClr val="3645A9"/>
              </a:gs>
              <a:gs pos="50000">
                <a:srgbClr val="3645A9"/>
              </a:gs>
              <a:gs pos="75000">
                <a:srgbClr val="3645A9"/>
              </a:gs>
              <a:gs pos="100000">
                <a:srgbClr val="FFFFFF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7"/>
          <p:cNvSpPr txBox="1">
            <a:spLocks noGrp="1"/>
          </p:cNvSpPr>
          <p:nvPr>
            <p:ph type="body" idx="1"/>
          </p:nvPr>
        </p:nvSpPr>
        <p:spPr>
          <a:xfrm>
            <a:off x="0" y="4114800"/>
            <a:ext cx="16256001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/>
              <a:t>Bag-of-Words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8"/>
          <p:cNvSpPr/>
          <p:nvPr/>
        </p:nvSpPr>
        <p:spPr>
          <a:xfrm>
            <a:off x="2122887" y="6690731"/>
            <a:ext cx="12529815" cy="1204277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6" name="Google Shape;436;p18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</a:pPr>
            <a:r>
              <a:rPr lang="en-US">
                <a:latin typeface="Open Sans"/>
                <a:ea typeface="Open Sans"/>
                <a:cs typeface="Open Sans"/>
                <a:sym typeface="Open Sans"/>
              </a:rPr>
              <a:t>Bag-of-Words</a:t>
            </a:r>
            <a:endParaRPr/>
          </a:p>
        </p:txBody>
      </p:sp>
      <p:sp>
        <p:nvSpPr>
          <p:cNvPr id="437" name="Google Shape;437;p18"/>
          <p:cNvSpPr txBox="1">
            <a:spLocks noGrp="1"/>
          </p:cNvSpPr>
          <p:nvPr>
            <p:ph type="body" idx="1"/>
          </p:nvPr>
        </p:nvSpPr>
        <p:spPr>
          <a:xfrm>
            <a:off x="806450" y="1512833"/>
            <a:ext cx="14643100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</a:pPr>
            <a:r>
              <a:rPr lang="en-US" b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A "bag of words" (</a:t>
            </a:r>
            <a:r>
              <a:rPr lang="en-US" b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BoW</a:t>
            </a:r>
            <a:r>
              <a:rPr lang="en-US" b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) is a representation of a text that describes the occurrence of words within a document. 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38" name="Google Shape;438;p18"/>
          <p:cNvSpPr txBox="1"/>
          <p:nvPr/>
        </p:nvSpPr>
        <p:spPr>
          <a:xfrm>
            <a:off x="2345908" y="6889227"/>
            <a:ext cx="12010227" cy="86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The bag-of-words model extracts features from text to represent the data. It models the text using a machine learning algorithm.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439" name="Google Shape;439;p18"/>
          <p:cNvGrpSpPr/>
          <p:nvPr/>
        </p:nvGrpSpPr>
        <p:grpSpPr>
          <a:xfrm>
            <a:off x="4685192" y="2729544"/>
            <a:ext cx="6885617" cy="3476275"/>
            <a:chOff x="1348167" y="3247437"/>
            <a:chExt cx="7268834" cy="4305580"/>
          </a:xfrm>
        </p:grpSpPr>
        <p:sp>
          <p:nvSpPr>
            <p:cNvPr id="440" name="Google Shape;440;p18"/>
            <p:cNvSpPr txBox="1"/>
            <p:nvPr/>
          </p:nvSpPr>
          <p:spPr>
            <a:xfrm>
              <a:off x="1348167" y="6585857"/>
              <a:ext cx="2902557" cy="533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lang="en-US" sz="2200" b="0" i="0" u="none" strike="noStrike" cap="none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/>
                  <a:ea typeface="Open Sans"/>
                  <a:cs typeface="Open Sans"/>
                  <a:sym typeface="Open Sans"/>
                </a:rPr>
                <a:t>Processed Data</a:t>
              </a:r>
              <a:endParaRPr sz="2200" b="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41" name="Google Shape;441;p18"/>
            <p:cNvSpPr txBox="1"/>
            <p:nvPr/>
          </p:nvSpPr>
          <p:spPr>
            <a:xfrm>
              <a:off x="5323158" y="6600067"/>
              <a:ext cx="3088641" cy="9529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lang="en-US" sz="2200" b="0" i="0" u="none" strike="noStrike" cap="none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/>
                  <a:ea typeface="Open Sans"/>
                  <a:cs typeface="Open Sans"/>
                  <a:sym typeface="Open Sans"/>
                </a:rPr>
                <a:t>Unordered collection of words</a:t>
              </a:r>
              <a:endParaRPr sz="2200" b="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id="442" name="Google Shape;442;p1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784090" y="3962436"/>
              <a:ext cx="1892889" cy="191572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3" name="Google Shape;443;p18"/>
            <p:cNvSpPr/>
            <p:nvPr/>
          </p:nvSpPr>
          <p:spPr>
            <a:xfrm>
              <a:off x="4250724" y="4667664"/>
              <a:ext cx="1072434" cy="795341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D2D2D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22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id="444" name="Google Shape;444;p18"/>
            <p:cNvPicPr preferRelativeResize="0"/>
            <p:nvPr/>
          </p:nvPicPr>
          <p:blipFill rotWithShape="1">
            <a:blip r:embed="rId4">
              <a:alphaModFix/>
            </a:blip>
            <a:srcRect l="11999" r="12000"/>
            <a:stretch/>
          </p:blipFill>
          <p:spPr>
            <a:xfrm>
              <a:off x="5528361" y="3247437"/>
              <a:ext cx="3088640" cy="332411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45" name="Google Shape;445;p18"/>
          <p:cNvSpPr/>
          <p:nvPr/>
        </p:nvSpPr>
        <p:spPr>
          <a:xfrm>
            <a:off x="6865551" y="816324"/>
            <a:ext cx="2521009" cy="3810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25000">
                <a:srgbClr val="3645A9"/>
              </a:gs>
              <a:gs pos="50000">
                <a:srgbClr val="3645A9"/>
              </a:gs>
              <a:gs pos="75000">
                <a:srgbClr val="3645A9"/>
              </a:gs>
              <a:gs pos="100000">
                <a:srgbClr val="FFFFFF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19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</a:pPr>
            <a:r>
              <a:rPr lang="en-US"/>
              <a:t>Bag-of-Words</a:t>
            </a:r>
            <a:endParaRPr/>
          </a:p>
        </p:txBody>
      </p:sp>
      <p:sp>
        <p:nvSpPr>
          <p:cNvPr id="451" name="Google Shape;451;p19"/>
          <p:cNvSpPr txBox="1">
            <a:spLocks noGrp="1"/>
          </p:cNvSpPr>
          <p:nvPr>
            <p:ph type="body" idx="1"/>
          </p:nvPr>
        </p:nvSpPr>
        <p:spPr>
          <a:xfrm>
            <a:off x="1291857" y="1512833"/>
            <a:ext cx="13696999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</a:pPr>
            <a:r>
              <a:rPr lang="en-US" b="0" i="0">
                <a:latin typeface="Open Sans"/>
                <a:ea typeface="Open Sans"/>
                <a:cs typeface="Open Sans"/>
                <a:sym typeface="Open Sans"/>
              </a:rPr>
              <a:t>Bag of words is a simple and widely used technique for feature extraction in various NLP tasks. </a:t>
            </a:r>
            <a:endParaRPr/>
          </a:p>
        </p:txBody>
      </p:sp>
      <p:sp>
        <p:nvSpPr>
          <p:cNvPr id="452" name="Google Shape;452;p19"/>
          <p:cNvSpPr/>
          <p:nvPr/>
        </p:nvSpPr>
        <p:spPr>
          <a:xfrm>
            <a:off x="6865551" y="816324"/>
            <a:ext cx="2521009" cy="3810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25000">
                <a:srgbClr val="3645A9"/>
              </a:gs>
              <a:gs pos="50000">
                <a:srgbClr val="3645A9"/>
              </a:gs>
              <a:gs pos="75000">
                <a:srgbClr val="3645A9"/>
              </a:gs>
              <a:gs pos="100000">
                <a:srgbClr val="FFFFFF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453" name="Google Shape;453;p19"/>
          <p:cNvGrpSpPr/>
          <p:nvPr/>
        </p:nvGrpSpPr>
        <p:grpSpPr>
          <a:xfrm>
            <a:off x="2284412" y="3484536"/>
            <a:ext cx="3777721" cy="3777718"/>
            <a:chOff x="2251754" y="2920762"/>
            <a:chExt cx="3777721" cy="3777718"/>
          </a:xfrm>
        </p:grpSpPr>
        <p:grpSp>
          <p:nvGrpSpPr>
            <p:cNvPr id="454" name="Google Shape;454;p19"/>
            <p:cNvGrpSpPr/>
            <p:nvPr/>
          </p:nvGrpSpPr>
          <p:grpSpPr>
            <a:xfrm>
              <a:off x="2251754" y="2920762"/>
              <a:ext cx="3777721" cy="3777718"/>
              <a:chOff x="2251754" y="2920762"/>
              <a:chExt cx="3777721" cy="3777718"/>
            </a:xfrm>
          </p:grpSpPr>
          <p:sp>
            <p:nvSpPr>
              <p:cNvPr id="455" name="Google Shape;455;p19"/>
              <p:cNvSpPr/>
              <p:nvPr/>
            </p:nvSpPr>
            <p:spPr>
              <a:xfrm>
                <a:off x="2251754" y="2920762"/>
                <a:ext cx="3777721" cy="3777718"/>
              </a:xfrm>
              <a:custGeom>
                <a:avLst/>
                <a:gdLst/>
                <a:ahLst/>
                <a:cxnLst/>
                <a:rect l="l" t="t" r="r" b="b"/>
                <a:pathLst>
                  <a:path w="3777721" h="3777718" extrusionOk="0">
                    <a:moveTo>
                      <a:pt x="3497951" y="3777718"/>
                    </a:moveTo>
                    <a:lnTo>
                      <a:pt x="279774" y="3777718"/>
                    </a:lnTo>
                    <a:cubicBezTo>
                      <a:pt x="125262" y="3777718"/>
                      <a:pt x="0" y="3652449"/>
                      <a:pt x="0" y="3497940"/>
                    </a:cubicBezTo>
                    <a:lnTo>
                      <a:pt x="0" y="279774"/>
                    </a:lnTo>
                    <a:cubicBezTo>
                      <a:pt x="0" y="125262"/>
                      <a:pt x="125258" y="0"/>
                      <a:pt x="279774" y="0"/>
                    </a:cubicBezTo>
                    <a:lnTo>
                      <a:pt x="3497951" y="0"/>
                    </a:lnTo>
                    <a:cubicBezTo>
                      <a:pt x="3652452" y="0"/>
                      <a:pt x="3777722" y="125258"/>
                      <a:pt x="3777722" y="279774"/>
                    </a:cubicBezTo>
                    <a:lnTo>
                      <a:pt x="3777722" y="3497940"/>
                    </a:lnTo>
                    <a:cubicBezTo>
                      <a:pt x="3777722" y="3652449"/>
                      <a:pt x="3652452" y="3777718"/>
                      <a:pt x="3497951" y="377771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Open Sans"/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6" name="Google Shape;456;p19"/>
              <p:cNvSpPr/>
              <p:nvPr/>
            </p:nvSpPr>
            <p:spPr>
              <a:xfrm>
                <a:off x="2251754" y="2920762"/>
                <a:ext cx="3777721" cy="1888860"/>
              </a:xfrm>
              <a:custGeom>
                <a:avLst/>
                <a:gdLst/>
                <a:ahLst/>
                <a:cxnLst/>
                <a:rect l="l" t="t" r="r" b="b"/>
                <a:pathLst>
                  <a:path w="3777721" h="1888860" extrusionOk="0">
                    <a:moveTo>
                      <a:pt x="3497951" y="1888861"/>
                    </a:moveTo>
                    <a:lnTo>
                      <a:pt x="279774" y="1888861"/>
                    </a:lnTo>
                    <a:cubicBezTo>
                      <a:pt x="125258" y="1888861"/>
                      <a:pt x="0" y="1763603"/>
                      <a:pt x="0" y="1609090"/>
                    </a:cubicBezTo>
                    <a:lnTo>
                      <a:pt x="0" y="279774"/>
                    </a:lnTo>
                    <a:cubicBezTo>
                      <a:pt x="0" y="125262"/>
                      <a:pt x="125258" y="0"/>
                      <a:pt x="279774" y="0"/>
                    </a:cubicBezTo>
                    <a:lnTo>
                      <a:pt x="3497951" y="0"/>
                    </a:lnTo>
                    <a:cubicBezTo>
                      <a:pt x="3652452" y="0"/>
                      <a:pt x="3777722" y="125258"/>
                      <a:pt x="3777722" y="279774"/>
                    </a:cubicBezTo>
                    <a:lnTo>
                      <a:pt x="3777722" y="1609090"/>
                    </a:lnTo>
                    <a:cubicBezTo>
                      <a:pt x="3777722" y="1763603"/>
                      <a:pt x="3652452" y="1888861"/>
                      <a:pt x="3497951" y="1888861"/>
                    </a:cubicBezTo>
                    <a:close/>
                  </a:path>
                </a:pathLst>
              </a:custGeom>
              <a:solidFill>
                <a:srgbClr val="FED63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Open Sans"/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7" name="Google Shape;457;p19"/>
              <p:cNvSpPr/>
              <p:nvPr/>
            </p:nvSpPr>
            <p:spPr>
              <a:xfrm>
                <a:off x="2629526" y="3298534"/>
                <a:ext cx="3022177" cy="3022173"/>
              </a:xfrm>
              <a:custGeom>
                <a:avLst/>
                <a:gdLst/>
                <a:ahLst/>
                <a:cxnLst/>
                <a:rect l="l" t="t" r="r" b="b"/>
                <a:pathLst>
                  <a:path w="3022177" h="3022173" extrusionOk="0">
                    <a:moveTo>
                      <a:pt x="0" y="2742407"/>
                    </a:moveTo>
                    <a:lnTo>
                      <a:pt x="0" y="279774"/>
                    </a:lnTo>
                    <a:cubicBezTo>
                      <a:pt x="0" y="125262"/>
                      <a:pt x="125258" y="0"/>
                      <a:pt x="279774" y="0"/>
                    </a:cubicBezTo>
                    <a:lnTo>
                      <a:pt x="2742407" y="0"/>
                    </a:lnTo>
                    <a:cubicBezTo>
                      <a:pt x="2896920" y="0"/>
                      <a:pt x="3022177" y="125258"/>
                      <a:pt x="3022177" y="279774"/>
                    </a:cubicBezTo>
                    <a:lnTo>
                      <a:pt x="3022177" y="2742407"/>
                    </a:lnTo>
                    <a:cubicBezTo>
                      <a:pt x="3022177" y="2896920"/>
                      <a:pt x="2896920" y="3022174"/>
                      <a:pt x="2742407" y="3022174"/>
                    </a:cubicBezTo>
                    <a:lnTo>
                      <a:pt x="279774" y="3022174"/>
                    </a:lnTo>
                    <a:cubicBezTo>
                      <a:pt x="125258" y="3022174"/>
                      <a:pt x="0" y="2896920"/>
                      <a:pt x="0" y="2742407"/>
                    </a:cubicBezTo>
                    <a:close/>
                  </a:path>
                </a:pathLst>
              </a:cu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Open Sans"/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8" name="Google Shape;458;p19"/>
              <p:cNvSpPr/>
              <p:nvPr/>
            </p:nvSpPr>
            <p:spPr>
              <a:xfrm>
                <a:off x="2629526" y="3298534"/>
                <a:ext cx="3022177" cy="3022173"/>
              </a:xfrm>
              <a:custGeom>
                <a:avLst/>
                <a:gdLst/>
                <a:ahLst/>
                <a:cxnLst/>
                <a:rect l="l" t="t" r="r" b="b"/>
                <a:pathLst>
                  <a:path w="3022177" h="3022173" extrusionOk="0">
                    <a:moveTo>
                      <a:pt x="0" y="2742407"/>
                    </a:moveTo>
                    <a:lnTo>
                      <a:pt x="0" y="279774"/>
                    </a:lnTo>
                    <a:cubicBezTo>
                      <a:pt x="0" y="125262"/>
                      <a:pt x="125258" y="0"/>
                      <a:pt x="279774" y="0"/>
                    </a:cubicBezTo>
                    <a:lnTo>
                      <a:pt x="2742407" y="0"/>
                    </a:lnTo>
                    <a:cubicBezTo>
                      <a:pt x="2896920" y="0"/>
                      <a:pt x="3022177" y="125258"/>
                      <a:pt x="3022177" y="279774"/>
                    </a:cubicBezTo>
                    <a:lnTo>
                      <a:pt x="3022177" y="2742407"/>
                    </a:lnTo>
                    <a:cubicBezTo>
                      <a:pt x="3022177" y="2896920"/>
                      <a:pt x="2896920" y="3022174"/>
                      <a:pt x="2742407" y="3022174"/>
                    </a:cubicBezTo>
                    <a:lnTo>
                      <a:pt x="279774" y="3022174"/>
                    </a:lnTo>
                    <a:cubicBezTo>
                      <a:pt x="125258" y="3022174"/>
                      <a:pt x="0" y="2896920"/>
                      <a:pt x="0" y="274240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Open Sans"/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59" name="Google Shape;459;p19"/>
            <p:cNvSpPr txBox="1"/>
            <p:nvPr/>
          </p:nvSpPr>
          <p:spPr>
            <a:xfrm>
              <a:off x="2807968" y="4137303"/>
              <a:ext cx="2657965" cy="20219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1" indent="0" algn="ctr" rtl="0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2200"/>
                <a:buFont typeface="Open Sans"/>
                <a:buNone/>
              </a:pPr>
              <a:r>
                <a:rPr lang="en-US" sz="2200" b="0" i="0" u="none" strike="noStrike" cap="none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/>
                  <a:ea typeface="Open Sans"/>
                  <a:cs typeface="Open Sans"/>
                  <a:sym typeface="Open Sans"/>
                </a:rPr>
                <a:t>The method is called “bag-of-words,” as the order of the words is lost entirely</a:t>
              </a:r>
              <a:endParaRPr sz="2200" b="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460" name="Google Shape;460;p19"/>
          <p:cNvGrpSpPr/>
          <p:nvPr/>
        </p:nvGrpSpPr>
        <p:grpSpPr>
          <a:xfrm>
            <a:off x="6251019" y="3484536"/>
            <a:ext cx="3777721" cy="3777718"/>
            <a:chOff x="6218361" y="2920762"/>
            <a:chExt cx="3777721" cy="3777718"/>
          </a:xfrm>
        </p:grpSpPr>
        <p:grpSp>
          <p:nvGrpSpPr>
            <p:cNvPr id="461" name="Google Shape;461;p19"/>
            <p:cNvGrpSpPr/>
            <p:nvPr/>
          </p:nvGrpSpPr>
          <p:grpSpPr>
            <a:xfrm>
              <a:off x="6218361" y="2920762"/>
              <a:ext cx="3777721" cy="3777718"/>
              <a:chOff x="6218361" y="2920762"/>
              <a:chExt cx="3777721" cy="3777718"/>
            </a:xfrm>
          </p:grpSpPr>
          <p:sp>
            <p:nvSpPr>
              <p:cNvPr id="462" name="Google Shape;462;p19"/>
              <p:cNvSpPr/>
              <p:nvPr/>
            </p:nvSpPr>
            <p:spPr>
              <a:xfrm>
                <a:off x="6218361" y="2920762"/>
                <a:ext cx="3777721" cy="3777718"/>
              </a:xfrm>
              <a:custGeom>
                <a:avLst/>
                <a:gdLst/>
                <a:ahLst/>
                <a:cxnLst/>
                <a:rect l="l" t="t" r="r" b="b"/>
                <a:pathLst>
                  <a:path w="3777721" h="3777718" extrusionOk="0">
                    <a:moveTo>
                      <a:pt x="3497943" y="3777718"/>
                    </a:moveTo>
                    <a:lnTo>
                      <a:pt x="279778" y="3777718"/>
                    </a:lnTo>
                    <a:cubicBezTo>
                      <a:pt x="125269" y="3777718"/>
                      <a:pt x="0" y="3652449"/>
                      <a:pt x="0" y="3497940"/>
                    </a:cubicBezTo>
                    <a:lnTo>
                      <a:pt x="0" y="279774"/>
                    </a:lnTo>
                    <a:cubicBezTo>
                      <a:pt x="0" y="125262"/>
                      <a:pt x="125269" y="0"/>
                      <a:pt x="279778" y="0"/>
                    </a:cubicBezTo>
                    <a:lnTo>
                      <a:pt x="3497943" y="0"/>
                    </a:lnTo>
                    <a:cubicBezTo>
                      <a:pt x="3652453" y="0"/>
                      <a:pt x="3777722" y="125258"/>
                      <a:pt x="3777722" y="279774"/>
                    </a:cubicBezTo>
                    <a:lnTo>
                      <a:pt x="3777722" y="3497940"/>
                    </a:lnTo>
                    <a:cubicBezTo>
                      <a:pt x="3777722" y="3652449"/>
                      <a:pt x="3652453" y="3777718"/>
                      <a:pt x="3497943" y="377771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Open Sans"/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3" name="Google Shape;463;p19"/>
              <p:cNvSpPr/>
              <p:nvPr/>
            </p:nvSpPr>
            <p:spPr>
              <a:xfrm>
                <a:off x="6218361" y="2920762"/>
                <a:ext cx="3777721" cy="1888860"/>
              </a:xfrm>
              <a:custGeom>
                <a:avLst/>
                <a:gdLst/>
                <a:ahLst/>
                <a:cxnLst/>
                <a:rect l="l" t="t" r="r" b="b"/>
                <a:pathLst>
                  <a:path w="3777721" h="1888860" extrusionOk="0">
                    <a:moveTo>
                      <a:pt x="3497943" y="1888861"/>
                    </a:moveTo>
                    <a:lnTo>
                      <a:pt x="279778" y="1888861"/>
                    </a:lnTo>
                    <a:cubicBezTo>
                      <a:pt x="125269" y="1888861"/>
                      <a:pt x="0" y="1763603"/>
                      <a:pt x="0" y="1609090"/>
                    </a:cubicBezTo>
                    <a:lnTo>
                      <a:pt x="0" y="279774"/>
                    </a:lnTo>
                    <a:cubicBezTo>
                      <a:pt x="0" y="125262"/>
                      <a:pt x="125269" y="0"/>
                      <a:pt x="279778" y="0"/>
                    </a:cubicBezTo>
                    <a:lnTo>
                      <a:pt x="3497943" y="0"/>
                    </a:lnTo>
                    <a:cubicBezTo>
                      <a:pt x="3652453" y="0"/>
                      <a:pt x="3777722" y="125258"/>
                      <a:pt x="3777722" y="279774"/>
                    </a:cubicBezTo>
                    <a:lnTo>
                      <a:pt x="3777722" y="1609090"/>
                    </a:lnTo>
                    <a:cubicBezTo>
                      <a:pt x="3777722" y="1763603"/>
                      <a:pt x="3652453" y="1888861"/>
                      <a:pt x="3497943" y="1888861"/>
                    </a:cubicBezTo>
                    <a:close/>
                  </a:path>
                </a:pathLst>
              </a:custGeom>
              <a:solidFill>
                <a:srgbClr val="F9921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Open Sans"/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4" name="Google Shape;464;p19"/>
              <p:cNvSpPr/>
              <p:nvPr/>
            </p:nvSpPr>
            <p:spPr>
              <a:xfrm>
                <a:off x="6596133" y="3298534"/>
                <a:ext cx="3022177" cy="3022173"/>
              </a:xfrm>
              <a:custGeom>
                <a:avLst/>
                <a:gdLst/>
                <a:ahLst/>
                <a:cxnLst/>
                <a:rect l="l" t="t" r="r" b="b"/>
                <a:pathLst>
                  <a:path w="3022177" h="3022173" extrusionOk="0">
                    <a:moveTo>
                      <a:pt x="0" y="2742407"/>
                    </a:moveTo>
                    <a:lnTo>
                      <a:pt x="0" y="279774"/>
                    </a:lnTo>
                    <a:cubicBezTo>
                      <a:pt x="0" y="125262"/>
                      <a:pt x="125269" y="0"/>
                      <a:pt x="279778" y="0"/>
                    </a:cubicBezTo>
                    <a:lnTo>
                      <a:pt x="2742399" y="0"/>
                    </a:lnTo>
                    <a:cubicBezTo>
                      <a:pt x="2896908" y="0"/>
                      <a:pt x="3022177" y="125258"/>
                      <a:pt x="3022177" y="279774"/>
                    </a:cubicBezTo>
                    <a:lnTo>
                      <a:pt x="3022177" y="2742407"/>
                    </a:lnTo>
                    <a:cubicBezTo>
                      <a:pt x="3022177" y="2896920"/>
                      <a:pt x="2896908" y="3022174"/>
                      <a:pt x="2742399" y="3022174"/>
                    </a:cubicBezTo>
                    <a:lnTo>
                      <a:pt x="279778" y="3022174"/>
                    </a:lnTo>
                    <a:cubicBezTo>
                      <a:pt x="125269" y="3022174"/>
                      <a:pt x="0" y="2896920"/>
                      <a:pt x="0" y="2742407"/>
                    </a:cubicBezTo>
                    <a:close/>
                  </a:path>
                </a:pathLst>
              </a:cu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Open Sans"/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5" name="Google Shape;465;p19"/>
              <p:cNvSpPr/>
              <p:nvPr/>
            </p:nvSpPr>
            <p:spPr>
              <a:xfrm>
                <a:off x="6596133" y="3298534"/>
                <a:ext cx="3022177" cy="3022173"/>
              </a:xfrm>
              <a:custGeom>
                <a:avLst/>
                <a:gdLst/>
                <a:ahLst/>
                <a:cxnLst/>
                <a:rect l="l" t="t" r="r" b="b"/>
                <a:pathLst>
                  <a:path w="3022177" h="3022173" extrusionOk="0">
                    <a:moveTo>
                      <a:pt x="0" y="2742407"/>
                    </a:moveTo>
                    <a:lnTo>
                      <a:pt x="0" y="279774"/>
                    </a:lnTo>
                    <a:cubicBezTo>
                      <a:pt x="0" y="125262"/>
                      <a:pt x="125269" y="0"/>
                      <a:pt x="279778" y="0"/>
                    </a:cubicBezTo>
                    <a:lnTo>
                      <a:pt x="2742399" y="0"/>
                    </a:lnTo>
                    <a:cubicBezTo>
                      <a:pt x="2896908" y="0"/>
                      <a:pt x="3022177" y="125258"/>
                      <a:pt x="3022177" y="279774"/>
                    </a:cubicBezTo>
                    <a:lnTo>
                      <a:pt x="3022177" y="2742407"/>
                    </a:lnTo>
                    <a:cubicBezTo>
                      <a:pt x="3022177" y="2896920"/>
                      <a:pt x="2896908" y="3022174"/>
                      <a:pt x="2742399" y="3022174"/>
                    </a:cubicBezTo>
                    <a:lnTo>
                      <a:pt x="279778" y="3022174"/>
                    </a:lnTo>
                    <a:cubicBezTo>
                      <a:pt x="125269" y="3022174"/>
                      <a:pt x="0" y="2896920"/>
                      <a:pt x="0" y="274240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Open Sans"/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66" name="Google Shape;466;p19"/>
            <p:cNvSpPr txBox="1"/>
            <p:nvPr/>
          </p:nvSpPr>
          <p:spPr>
            <a:xfrm>
              <a:off x="6868789" y="4167410"/>
              <a:ext cx="2449216" cy="16360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44450" marR="0" lvl="1" indent="-44450" algn="ctr" rtl="0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200" b="0" i="0" u="none" strike="noStrike" cap="none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/>
                  <a:ea typeface="Open Sans"/>
                  <a:cs typeface="Open Sans"/>
                  <a:sym typeface="Open Sans"/>
                </a:rPr>
                <a:t>It has no effect of grammar and order of words in the sentence</a:t>
              </a:r>
              <a:endParaRPr sz="2200" b="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7" name="Google Shape;467;p19"/>
          <p:cNvGrpSpPr/>
          <p:nvPr/>
        </p:nvGrpSpPr>
        <p:grpSpPr>
          <a:xfrm>
            <a:off x="10217627" y="3484536"/>
            <a:ext cx="3777721" cy="3777718"/>
            <a:chOff x="10184969" y="2920762"/>
            <a:chExt cx="3777721" cy="3777718"/>
          </a:xfrm>
        </p:grpSpPr>
        <p:grpSp>
          <p:nvGrpSpPr>
            <p:cNvPr id="468" name="Google Shape;468;p19"/>
            <p:cNvGrpSpPr/>
            <p:nvPr/>
          </p:nvGrpSpPr>
          <p:grpSpPr>
            <a:xfrm>
              <a:off x="10184969" y="2920762"/>
              <a:ext cx="3777721" cy="3777718"/>
              <a:chOff x="10184969" y="2920762"/>
              <a:chExt cx="3777721" cy="3777718"/>
            </a:xfrm>
          </p:grpSpPr>
          <p:sp>
            <p:nvSpPr>
              <p:cNvPr id="469" name="Google Shape;469;p19"/>
              <p:cNvSpPr/>
              <p:nvPr/>
            </p:nvSpPr>
            <p:spPr>
              <a:xfrm>
                <a:off x="10184969" y="2920762"/>
                <a:ext cx="3777721" cy="3777718"/>
              </a:xfrm>
              <a:custGeom>
                <a:avLst/>
                <a:gdLst/>
                <a:ahLst/>
                <a:cxnLst/>
                <a:rect l="l" t="t" r="r" b="b"/>
                <a:pathLst>
                  <a:path w="3777721" h="3777718" extrusionOk="0">
                    <a:moveTo>
                      <a:pt x="3497943" y="3777718"/>
                    </a:moveTo>
                    <a:lnTo>
                      <a:pt x="279778" y="3777718"/>
                    </a:lnTo>
                    <a:cubicBezTo>
                      <a:pt x="125269" y="3777718"/>
                      <a:pt x="0" y="3652449"/>
                      <a:pt x="0" y="3497940"/>
                    </a:cubicBezTo>
                    <a:lnTo>
                      <a:pt x="0" y="279774"/>
                    </a:lnTo>
                    <a:cubicBezTo>
                      <a:pt x="0" y="125262"/>
                      <a:pt x="125269" y="0"/>
                      <a:pt x="279778" y="0"/>
                    </a:cubicBezTo>
                    <a:lnTo>
                      <a:pt x="3497943" y="0"/>
                    </a:lnTo>
                    <a:cubicBezTo>
                      <a:pt x="3652453" y="0"/>
                      <a:pt x="3777722" y="125258"/>
                      <a:pt x="3777722" y="279774"/>
                    </a:cubicBezTo>
                    <a:lnTo>
                      <a:pt x="3777722" y="3497940"/>
                    </a:lnTo>
                    <a:cubicBezTo>
                      <a:pt x="3777722" y="3652449"/>
                      <a:pt x="3652453" y="3777718"/>
                      <a:pt x="3497943" y="377771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Open Sans"/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0" name="Google Shape;470;p19"/>
              <p:cNvSpPr/>
              <p:nvPr/>
            </p:nvSpPr>
            <p:spPr>
              <a:xfrm>
                <a:off x="10184969" y="2920762"/>
                <a:ext cx="3777721" cy="1888860"/>
              </a:xfrm>
              <a:custGeom>
                <a:avLst/>
                <a:gdLst/>
                <a:ahLst/>
                <a:cxnLst/>
                <a:rect l="l" t="t" r="r" b="b"/>
                <a:pathLst>
                  <a:path w="3777721" h="1888860" extrusionOk="0">
                    <a:moveTo>
                      <a:pt x="3497943" y="1888861"/>
                    </a:moveTo>
                    <a:lnTo>
                      <a:pt x="279778" y="1888861"/>
                    </a:lnTo>
                    <a:cubicBezTo>
                      <a:pt x="125269" y="1888861"/>
                      <a:pt x="0" y="1763603"/>
                      <a:pt x="0" y="1609090"/>
                    </a:cubicBezTo>
                    <a:lnTo>
                      <a:pt x="0" y="279774"/>
                    </a:lnTo>
                    <a:cubicBezTo>
                      <a:pt x="0" y="125262"/>
                      <a:pt x="125269" y="0"/>
                      <a:pt x="279778" y="0"/>
                    </a:cubicBezTo>
                    <a:lnTo>
                      <a:pt x="3497943" y="0"/>
                    </a:lnTo>
                    <a:cubicBezTo>
                      <a:pt x="3652453" y="0"/>
                      <a:pt x="3777722" y="125258"/>
                      <a:pt x="3777722" y="279774"/>
                    </a:cubicBezTo>
                    <a:lnTo>
                      <a:pt x="3777722" y="1609090"/>
                    </a:lnTo>
                    <a:cubicBezTo>
                      <a:pt x="3777722" y="1763603"/>
                      <a:pt x="3652453" y="1888861"/>
                      <a:pt x="3497943" y="1888861"/>
                    </a:cubicBezTo>
                    <a:close/>
                  </a:path>
                </a:pathLst>
              </a:custGeom>
              <a:solidFill>
                <a:srgbClr val="CF4F9C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Open Sans"/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1" name="Google Shape;471;p19"/>
              <p:cNvSpPr/>
              <p:nvPr/>
            </p:nvSpPr>
            <p:spPr>
              <a:xfrm>
                <a:off x="10562741" y="3298534"/>
                <a:ext cx="3022177" cy="3022173"/>
              </a:xfrm>
              <a:custGeom>
                <a:avLst/>
                <a:gdLst/>
                <a:ahLst/>
                <a:cxnLst/>
                <a:rect l="l" t="t" r="r" b="b"/>
                <a:pathLst>
                  <a:path w="3022177" h="3022173" extrusionOk="0">
                    <a:moveTo>
                      <a:pt x="0" y="2742407"/>
                    </a:moveTo>
                    <a:lnTo>
                      <a:pt x="0" y="279774"/>
                    </a:lnTo>
                    <a:cubicBezTo>
                      <a:pt x="0" y="125262"/>
                      <a:pt x="125269" y="0"/>
                      <a:pt x="279778" y="0"/>
                    </a:cubicBezTo>
                    <a:lnTo>
                      <a:pt x="2742399" y="0"/>
                    </a:lnTo>
                    <a:cubicBezTo>
                      <a:pt x="2896909" y="0"/>
                      <a:pt x="3022177" y="125258"/>
                      <a:pt x="3022177" y="279774"/>
                    </a:cubicBezTo>
                    <a:lnTo>
                      <a:pt x="3022177" y="2742407"/>
                    </a:lnTo>
                    <a:cubicBezTo>
                      <a:pt x="3022177" y="2896920"/>
                      <a:pt x="2896909" y="3022174"/>
                      <a:pt x="2742399" y="3022174"/>
                    </a:cubicBezTo>
                    <a:lnTo>
                      <a:pt x="279778" y="3022174"/>
                    </a:lnTo>
                    <a:cubicBezTo>
                      <a:pt x="125269" y="3022174"/>
                      <a:pt x="0" y="2896920"/>
                      <a:pt x="0" y="274240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Open Sans"/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72" name="Google Shape;472;p19"/>
            <p:cNvSpPr txBox="1"/>
            <p:nvPr/>
          </p:nvSpPr>
          <p:spPr>
            <a:xfrm>
              <a:off x="10562741" y="4179601"/>
              <a:ext cx="3134297" cy="16360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2200"/>
                <a:buFont typeface="Open Sans"/>
                <a:buNone/>
              </a:pPr>
              <a:r>
                <a:rPr lang="en-US" sz="2200" b="0" i="0" u="none" strike="noStrike" cap="none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/>
                  <a:ea typeface="Open Sans"/>
                  <a:cs typeface="Open Sans"/>
                  <a:sym typeface="Open Sans"/>
                </a:rPr>
                <a:t>It is a vectorization technique utilized to perform document level tasks </a:t>
              </a:r>
              <a:endParaRPr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473" name="Google Shape;473;p19"/>
          <p:cNvGrpSpPr/>
          <p:nvPr/>
        </p:nvGrpSpPr>
        <p:grpSpPr>
          <a:xfrm>
            <a:off x="3323285" y="3012320"/>
            <a:ext cx="1699974" cy="1699974"/>
            <a:chOff x="3290627" y="2448546"/>
            <a:chExt cx="1699974" cy="1699974"/>
          </a:xfrm>
        </p:grpSpPr>
        <p:grpSp>
          <p:nvGrpSpPr>
            <p:cNvPr id="474" name="Google Shape;474;p19"/>
            <p:cNvGrpSpPr/>
            <p:nvPr/>
          </p:nvGrpSpPr>
          <p:grpSpPr>
            <a:xfrm>
              <a:off x="3290627" y="2448546"/>
              <a:ext cx="1699974" cy="1699974"/>
              <a:chOff x="3290627" y="2448546"/>
              <a:chExt cx="1699974" cy="1699974"/>
            </a:xfrm>
          </p:grpSpPr>
          <p:sp>
            <p:nvSpPr>
              <p:cNvPr id="475" name="Google Shape;475;p19"/>
              <p:cNvSpPr/>
              <p:nvPr/>
            </p:nvSpPr>
            <p:spPr>
              <a:xfrm>
                <a:off x="3290627" y="2448546"/>
                <a:ext cx="1699974" cy="1699974"/>
              </a:xfrm>
              <a:custGeom>
                <a:avLst/>
                <a:gdLst/>
                <a:ahLst/>
                <a:cxnLst/>
                <a:rect l="l" t="t" r="r" b="b"/>
                <a:pathLst>
                  <a:path w="1699974" h="1699974" extrusionOk="0">
                    <a:moveTo>
                      <a:pt x="1699975" y="849987"/>
                    </a:moveTo>
                    <a:cubicBezTo>
                      <a:pt x="1699975" y="1319423"/>
                      <a:pt x="1319423" y="1699975"/>
                      <a:pt x="849987" y="1699975"/>
                    </a:cubicBezTo>
                    <a:cubicBezTo>
                      <a:pt x="380552" y="1699975"/>
                      <a:pt x="0" y="1319423"/>
                      <a:pt x="0" y="849987"/>
                    </a:cubicBezTo>
                    <a:cubicBezTo>
                      <a:pt x="0" y="380552"/>
                      <a:pt x="380552" y="0"/>
                      <a:pt x="849987" y="0"/>
                    </a:cubicBezTo>
                    <a:cubicBezTo>
                      <a:pt x="1319423" y="0"/>
                      <a:pt x="1699975" y="380552"/>
                      <a:pt x="1699975" y="84998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Open Sans"/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6" name="Google Shape;476;p19"/>
              <p:cNvSpPr/>
              <p:nvPr/>
            </p:nvSpPr>
            <p:spPr>
              <a:xfrm>
                <a:off x="3479513" y="2637432"/>
                <a:ext cx="1322202" cy="1322202"/>
              </a:xfrm>
              <a:custGeom>
                <a:avLst/>
                <a:gdLst/>
                <a:ahLst/>
                <a:cxnLst/>
                <a:rect l="l" t="t" r="r" b="b"/>
                <a:pathLst>
                  <a:path w="1322202" h="1322202" extrusionOk="0">
                    <a:moveTo>
                      <a:pt x="1322203" y="661101"/>
                    </a:moveTo>
                    <a:cubicBezTo>
                      <a:pt x="1322203" y="1026218"/>
                      <a:pt x="1026218" y="1322203"/>
                      <a:pt x="661101" y="1322203"/>
                    </a:cubicBezTo>
                    <a:cubicBezTo>
                      <a:pt x="295985" y="1322203"/>
                      <a:pt x="0" y="1026218"/>
                      <a:pt x="0" y="661101"/>
                    </a:cubicBezTo>
                    <a:cubicBezTo>
                      <a:pt x="0" y="295985"/>
                      <a:pt x="295985" y="0"/>
                      <a:pt x="661101" y="0"/>
                    </a:cubicBezTo>
                    <a:cubicBezTo>
                      <a:pt x="1026218" y="0"/>
                      <a:pt x="1322203" y="295985"/>
                      <a:pt x="1322203" y="66110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Open Sans"/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7" name="Google Shape;477;p19"/>
              <p:cNvSpPr/>
              <p:nvPr/>
            </p:nvSpPr>
            <p:spPr>
              <a:xfrm>
                <a:off x="3517290" y="2675210"/>
                <a:ext cx="1246648" cy="1246648"/>
              </a:xfrm>
              <a:custGeom>
                <a:avLst/>
                <a:gdLst/>
                <a:ahLst/>
                <a:cxnLst/>
                <a:rect l="l" t="t" r="r" b="b"/>
                <a:pathLst>
                  <a:path w="1246648" h="1246648" extrusionOk="0">
                    <a:moveTo>
                      <a:pt x="1246648" y="623324"/>
                    </a:moveTo>
                    <a:cubicBezTo>
                      <a:pt x="1246648" y="967577"/>
                      <a:pt x="967577" y="1246648"/>
                      <a:pt x="623324" y="1246648"/>
                    </a:cubicBezTo>
                    <a:cubicBezTo>
                      <a:pt x="279072" y="1246648"/>
                      <a:pt x="0" y="967577"/>
                      <a:pt x="0" y="623324"/>
                    </a:cubicBezTo>
                    <a:cubicBezTo>
                      <a:pt x="0" y="279072"/>
                      <a:pt x="279072" y="0"/>
                      <a:pt x="623324" y="0"/>
                    </a:cubicBezTo>
                    <a:cubicBezTo>
                      <a:pt x="967577" y="0"/>
                      <a:pt x="1246648" y="279072"/>
                      <a:pt x="1246648" y="623324"/>
                    </a:cubicBez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  <a:effectLst/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Open Sans"/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78" name="Google Shape;478;p19"/>
            <p:cNvSpPr txBox="1"/>
            <p:nvPr/>
          </p:nvSpPr>
          <p:spPr>
            <a:xfrm>
              <a:off x="3944515" y="3083089"/>
              <a:ext cx="360997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2400"/>
                <a:buFont typeface="Open Sans"/>
                <a:buNone/>
              </a:pPr>
              <a:r>
                <a:rPr lang="en-US" sz="2400" b="1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1</a:t>
              </a:r>
              <a:endParaRPr/>
            </a:p>
          </p:txBody>
        </p:sp>
      </p:grpSp>
      <p:grpSp>
        <p:nvGrpSpPr>
          <p:cNvPr id="479" name="Google Shape;479;p19"/>
          <p:cNvGrpSpPr/>
          <p:nvPr/>
        </p:nvGrpSpPr>
        <p:grpSpPr>
          <a:xfrm>
            <a:off x="7289893" y="3012320"/>
            <a:ext cx="1699974" cy="1699974"/>
            <a:chOff x="7257235" y="2448546"/>
            <a:chExt cx="1699974" cy="1699974"/>
          </a:xfrm>
        </p:grpSpPr>
        <p:grpSp>
          <p:nvGrpSpPr>
            <p:cNvPr id="480" name="Google Shape;480;p19"/>
            <p:cNvGrpSpPr/>
            <p:nvPr/>
          </p:nvGrpSpPr>
          <p:grpSpPr>
            <a:xfrm>
              <a:off x="7257235" y="2448546"/>
              <a:ext cx="1699974" cy="1699974"/>
              <a:chOff x="7257235" y="2448546"/>
              <a:chExt cx="1699974" cy="1699974"/>
            </a:xfrm>
          </p:grpSpPr>
          <p:sp>
            <p:nvSpPr>
              <p:cNvPr id="481" name="Google Shape;481;p19"/>
              <p:cNvSpPr/>
              <p:nvPr/>
            </p:nvSpPr>
            <p:spPr>
              <a:xfrm>
                <a:off x="7257235" y="2448546"/>
                <a:ext cx="1699974" cy="1699974"/>
              </a:xfrm>
              <a:custGeom>
                <a:avLst/>
                <a:gdLst/>
                <a:ahLst/>
                <a:cxnLst/>
                <a:rect l="l" t="t" r="r" b="b"/>
                <a:pathLst>
                  <a:path w="1699974" h="1699974" extrusionOk="0">
                    <a:moveTo>
                      <a:pt x="1699975" y="849987"/>
                    </a:moveTo>
                    <a:cubicBezTo>
                      <a:pt x="1699975" y="1319423"/>
                      <a:pt x="1319422" y="1699975"/>
                      <a:pt x="849987" y="1699975"/>
                    </a:cubicBezTo>
                    <a:cubicBezTo>
                      <a:pt x="380552" y="1699975"/>
                      <a:pt x="0" y="1319423"/>
                      <a:pt x="0" y="849987"/>
                    </a:cubicBezTo>
                    <a:cubicBezTo>
                      <a:pt x="0" y="380552"/>
                      <a:pt x="380552" y="0"/>
                      <a:pt x="849987" y="0"/>
                    </a:cubicBezTo>
                    <a:cubicBezTo>
                      <a:pt x="1319422" y="0"/>
                      <a:pt x="1699975" y="380552"/>
                      <a:pt x="1699975" y="84998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Open Sans"/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2" name="Google Shape;482;p19"/>
              <p:cNvSpPr/>
              <p:nvPr/>
            </p:nvSpPr>
            <p:spPr>
              <a:xfrm>
                <a:off x="7446121" y="2637432"/>
                <a:ext cx="1322202" cy="1322202"/>
              </a:xfrm>
              <a:custGeom>
                <a:avLst/>
                <a:gdLst/>
                <a:ahLst/>
                <a:cxnLst/>
                <a:rect l="l" t="t" r="r" b="b"/>
                <a:pathLst>
                  <a:path w="1322202" h="1322202" extrusionOk="0">
                    <a:moveTo>
                      <a:pt x="1322203" y="661101"/>
                    </a:moveTo>
                    <a:cubicBezTo>
                      <a:pt x="1322203" y="1026218"/>
                      <a:pt x="1026217" y="1322203"/>
                      <a:pt x="661101" y="1322203"/>
                    </a:cubicBezTo>
                    <a:cubicBezTo>
                      <a:pt x="295985" y="1322203"/>
                      <a:pt x="0" y="1026218"/>
                      <a:pt x="0" y="661101"/>
                    </a:cubicBezTo>
                    <a:cubicBezTo>
                      <a:pt x="0" y="295985"/>
                      <a:pt x="295985" y="0"/>
                      <a:pt x="661101" y="0"/>
                    </a:cubicBezTo>
                    <a:cubicBezTo>
                      <a:pt x="1026217" y="0"/>
                      <a:pt x="1322203" y="295985"/>
                      <a:pt x="1322203" y="66110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Open Sans"/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3" name="Google Shape;483;p19"/>
              <p:cNvSpPr/>
              <p:nvPr/>
            </p:nvSpPr>
            <p:spPr>
              <a:xfrm>
                <a:off x="7483898" y="2675210"/>
                <a:ext cx="1246648" cy="1246648"/>
              </a:xfrm>
              <a:custGeom>
                <a:avLst/>
                <a:gdLst/>
                <a:ahLst/>
                <a:cxnLst/>
                <a:rect l="l" t="t" r="r" b="b"/>
                <a:pathLst>
                  <a:path w="1246648" h="1246648" extrusionOk="0">
                    <a:moveTo>
                      <a:pt x="1246648" y="623324"/>
                    </a:moveTo>
                    <a:cubicBezTo>
                      <a:pt x="1246648" y="967577"/>
                      <a:pt x="967576" y="1246648"/>
                      <a:pt x="623324" y="1246648"/>
                    </a:cubicBezTo>
                    <a:cubicBezTo>
                      <a:pt x="279072" y="1246648"/>
                      <a:pt x="0" y="967577"/>
                      <a:pt x="0" y="623324"/>
                    </a:cubicBezTo>
                    <a:cubicBezTo>
                      <a:pt x="0" y="279072"/>
                      <a:pt x="279072" y="0"/>
                      <a:pt x="623324" y="0"/>
                    </a:cubicBezTo>
                    <a:cubicBezTo>
                      <a:pt x="967576" y="0"/>
                      <a:pt x="1246648" y="279072"/>
                      <a:pt x="1246648" y="623324"/>
                    </a:cubicBez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  <a:effectLst/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Open Sans"/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84" name="Google Shape;484;p19"/>
            <p:cNvSpPr txBox="1"/>
            <p:nvPr/>
          </p:nvSpPr>
          <p:spPr>
            <a:xfrm>
              <a:off x="7925275" y="3083088"/>
              <a:ext cx="360997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2400"/>
                <a:buFont typeface="Open Sans"/>
                <a:buNone/>
              </a:pPr>
              <a:r>
                <a:rPr lang="en-US" sz="2400" b="1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2</a:t>
              </a:r>
              <a:endParaRPr/>
            </a:p>
          </p:txBody>
        </p:sp>
      </p:grpSp>
      <p:grpSp>
        <p:nvGrpSpPr>
          <p:cNvPr id="485" name="Google Shape;485;p19"/>
          <p:cNvGrpSpPr/>
          <p:nvPr/>
        </p:nvGrpSpPr>
        <p:grpSpPr>
          <a:xfrm>
            <a:off x="11256500" y="3012320"/>
            <a:ext cx="1699974" cy="1699974"/>
            <a:chOff x="11223842" y="2448546"/>
            <a:chExt cx="1699974" cy="1699974"/>
          </a:xfrm>
        </p:grpSpPr>
        <p:grpSp>
          <p:nvGrpSpPr>
            <p:cNvPr id="486" name="Google Shape;486;p19"/>
            <p:cNvGrpSpPr/>
            <p:nvPr/>
          </p:nvGrpSpPr>
          <p:grpSpPr>
            <a:xfrm>
              <a:off x="11223842" y="2448546"/>
              <a:ext cx="1699974" cy="1699974"/>
              <a:chOff x="11223842" y="2448546"/>
              <a:chExt cx="1699974" cy="1699974"/>
            </a:xfrm>
          </p:grpSpPr>
          <p:sp>
            <p:nvSpPr>
              <p:cNvPr id="487" name="Google Shape;487;p19"/>
              <p:cNvSpPr/>
              <p:nvPr/>
            </p:nvSpPr>
            <p:spPr>
              <a:xfrm>
                <a:off x="11223842" y="2448546"/>
                <a:ext cx="1699974" cy="1699974"/>
              </a:xfrm>
              <a:custGeom>
                <a:avLst/>
                <a:gdLst/>
                <a:ahLst/>
                <a:cxnLst/>
                <a:rect l="l" t="t" r="r" b="b"/>
                <a:pathLst>
                  <a:path w="1699974" h="1699974" extrusionOk="0">
                    <a:moveTo>
                      <a:pt x="1699975" y="849987"/>
                    </a:moveTo>
                    <a:cubicBezTo>
                      <a:pt x="1699975" y="1319423"/>
                      <a:pt x="1319423" y="1699975"/>
                      <a:pt x="849987" y="1699975"/>
                    </a:cubicBezTo>
                    <a:cubicBezTo>
                      <a:pt x="380552" y="1699975"/>
                      <a:pt x="0" y="1319423"/>
                      <a:pt x="0" y="849987"/>
                    </a:cubicBezTo>
                    <a:cubicBezTo>
                      <a:pt x="0" y="380552"/>
                      <a:pt x="380552" y="0"/>
                      <a:pt x="849987" y="0"/>
                    </a:cubicBezTo>
                    <a:cubicBezTo>
                      <a:pt x="1319423" y="0"/>
                      <a:pt x="1699975" y="380552"/>
                      <a:pt x="1699975" y="84998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Open Sans"/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8" name="Google Shape;488;p19"/>
              <p:cNvSpPr/>
              <p:nvPr/>
            </p:nvSpPr>
            <p:spPr>
              <a:xfrm>
                <a:off x="11412728" y="2637432"/>
                <a:ext cx="1322202" cy="1322202"/>
              </a:xfrm>
              <a:custGeom>
                <a:avLst/>
                <a:gdLst/>
                <a:ahLst/>
                <a:cxnLst/>
                <a:rect l="l" t="t" r="r" b="b"/>
                <a:pathLst>
                  <a:path w="1322202" h="1322202" extrusionOk="0">
                    <a:moveTo>
                      <a:pt x="1322203" y="661101"/>
                    </a:moveTo>
                    <a:cubicBezTo>
                      <a:pt x="1322203" y="1026218"/>
                      <a:pt x="1026218" y="1322203"/>
                      <a:pt x="661101" y="1322203"/>
                    </a:cubicBezTo>
                    <a:cubicBezTo>
                      <a:pt x="295985" y="1322203"/>
                      <a:pt x="0" y="1026218"/>
                      <a:pt x="0" y="661101"/>
                    </a:cubicBezTo>
                    <a:cubicBezTo>
                      <a:pt x="0" y="295985"/>
                      <a:pt x="295985" y="0"/>
                      <a:pt x="661101" y="0"/>
                    </a:cubicBezTo>
                    <a:cubicBezTo>
                      <a:pt x="1026218" y="0"/>
                      <a:pt x="1322203" y="295985"/>
                      <a:pt x="1322203" y="66110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Open Sans"/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9" name="Google Shape;489;p19"/>
              <p:cNvSpPr/>
              <p:nvPr/>
            </p:nvSpPr>
            <p:spPr>
              <a:xfrm>
                <a:off x="11450506" y="2675210"/>
                <a:ext cx="1246648" cy="1246648"/>
              </a:xfrm>
              <a:custGeom>
                <a:avLst/>
                <a:gdLst/>
                <a:ahLst/>
                <a:cxnLst/>
                <a:rect l="l" t="t" r="r" b="b"/>
                <a:pathLst>
                  <a:path w="1246648" h="1246648" extrusionOk="0">
                    <a:moveTo>
                      <a:pt x="1246648" y="623324"/>
                    </a:moveTo>
                    <a:cubicBezTo>
                      <a:pt x="1246648" y="967577"/>
                      <a:pt x="967576" y="1246648"/>
                      <a:pt x="623324" y="1246648"/>
                    </a:cubicBezTo>
                    <a:cubicBezTo>
                      <a:pt x="279072" y="1246648"/>
                      <a:pt x="0" y="967577"/>
                      <a:pt x="0" y="623324"/>
                    </a:cubicBezTo>
                    <a:cubicBezTo>
                      <a:pt x="0" y="279072"/>
                      <a:pt x="279072" y="0"/>
                      <a:pt x="623324" y="0"/>
                    </a:cubicBezTo>
                    <a:cubicBezTo>
                      <a:pt x="967576" y="0"/>
                      <a:pt x="1246648" y="279072"/>
                      <a:pt x="1246648" y="623324"/>
                    </a:cubicBez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  <a:effectLst/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Open Sans"/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90" name="Google Shape;490;p19"/>
            <p:cNvSpPr txBox="1"/>
            <p:nvPr/>
          </p:nvSpPr>
          <p:spPr>
            <a:xfrm>
              <a:off x="11893331" y="3083087"/>
              <a:ext cx="360996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2400"/>
                <a:buFont typeface="Open Sans"/>
                <a:buNone/>
              </a:pPr>
              <a:r>
                <a:rPr lang="en-US" sz="2400" b="1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3</a:t>
              </a:r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5" name="Google Shape;495;p20"/>
          <p:cNvGrpSpPr/>
          <p:nvPr/>
        </p:nvGrpSpPr>
        <p:grpSpPr>
          <a:xfrm>
            <a:off x="6203850" y="2734474"/>
            <a:ext cx="3596009" cy="3235271"/>
            <a:chOff x="3169654" y="1056645"/>
            <a:chExt cx="5839993" cy="5254143"/>
          </a:xfrm>
        </p:grpSpPr>
        <p:grpSp>
          <p:nvGrpSpPr>
            <p:cNvPr id="496" name="Google Shape;496;p20"/>
            <p:cNvGrpSpPr/>
            <p:nvPr/>
          </p:nvGrpSpPr>
          <p:grpSpPr>
            <a:xfrm>
              <a:off x="3169654" y="1056645"/>
              <a:ext cx="5839993" cy="5254143"/>
              <a:chOff x="3167649" y="1285497"/>
              <a:chExt cx="5839993" cy="5254143"/>
            </a:xfrm>
          </p:grpSpPr>
          <p:sp>
            <p:nvSpPr>
              <p:cNvPr id="497" name="Google Shape;497;p20"/>
              <p:cNvSpPr/>
              <p:nvPr/>
            </p:nvSpPr>
            <p:spPr>
              <a:xfrm rot="7200000">
                <a:off x="6109763" y="1395454"/>
                <a:ext cx="2058886" cy="3126270"/>
              </a:xfrm>
              <a:custGeom>
                <a:avLst/>
                <a:gdLst/>
                <a:ahLst/>
                <a:cxnLst/>
                <a:rect l="l" t="t" r="r" b="b"/>
                <a:pathLst>
                  <a:path w="2058886" h="3126270" extrusionOk="0">
                    <a:moveTo>
                      <a:pt x="246956" y="3126270"/>
                    </a:moveTo>
                    <a:lnTo>
                      <a:pt x="186987" y="3009127"/>
                    </a:lnTo>
                    <a:cubicBezTo>
                      <a:pt x="-257084" y="2021078"/>
                      <a:pt x="110639" y="837671"/>
                      <a:pt x="1068971" y="284378"/>
                    </a:cubicBezTo>
                    <a:cubicBezTo>
                      <a:pt x="1324526" y="136833"/>
                      <a:pt x="1597887" y="48064"/>
                      <a:pt x="1873399" y="13877"/>
                    </a:cubicBezTo>
                    <a:lnTo>
                      <a:pt x="2058886" y="0"/>
                    </a:lnTo>
                    <a:lnTo>
                      <a:pt x="2058886" y="930624"/>
                    </a:lnTo>
                    <a:lnTo>
                      <a:pt x="1988223" y="935910"/>
                    </a:lnTo>
                    <a:cubicBezTo>
                      <a:pt x="1832459" y="955239"/>
                      <a:pt x="1677910" y="1005425"/>
                      <a:pt x="1533428" y="1088842"/>
                    </a:cubicBezTo>
                    <a:cubicBezTo>
                      <a:pt x="991621" y="1401654"/>
                      <a:pt x="783724" y="2070711"/>
                      <a:pt x="1034785" y="2629319"/>
                    </a:cubicBezTo>
                    <a:lnTo>
                      <a:pt x="1051420" y="2661812"/>
                    </a:lnTo>
                    <a:lnTo>
                      <a:pt x="246956" y="3126270"/>
                    </a:lnTo>
                    <a:close/>
                  </a:path>
                </a:pathLst>
              </a:custGeom>
              <a:solidFill>
                <a:srgbClr val="ACB8CA"/>
              </a:solidFill>
              <a:ln>
                <a:noFill/>
              </a:ln>
              <a:effectLst>
                <a:outerShdw blurRad="76200" dist="50800" dir="5400000" algn="ctr" rotWithShape="0">
                  <a:schemeClr val="accent3">
                    <a:alpha val="20000"/>
                  </a:schemeClr>
                </a:outerShdw>
              </a:effectLst>
            </p:spPr>
            <p:txBody>
              <a:bodyPr spcFirstLastPara="1" wrap="square" lIns="91425" tIns="45700" rIns="91425" bIns="45700" anchor="ctr" anchorCtr="0">
                <a:norm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endParaRPr sz="2200" b="1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498" name="Google Shape;498;p20"/>
              <p:cNvSpPr/>
              <p:nvPr/>
            </p:nvSpPr>
            <p:spPr>
              <a:xfrm rot="-7200000" flipH="1">
                <a:off x="4006642" y="1395453"/>
                <a:ext cx="2058886" cy="3126270"/>
              </a:xfrm>
              <a:custGeom>
                <a:avLst/>
                <a:gdLst/>
                <a:ahLst/>
                <a:cxnLst/>
                <a:rect l="l" t="t" r="r" b="b"/>
                <a:pathLst>
                  <a:path w="2058886" h="3126270" extrusionOk="0">
                    <a:moveTo>
                      <a:pt x="246956" y="3126270"/>
                    </a:moveTo>
                    <a:lnTo>
                      <a:pt x="186987" y="3009127"/>
                    </a:lnTo>
                    <a:cubicBezTo>
                      <a:pt x="-257084" y="2021078"/>
                      <a:pt x="110639" y="837671"/>
                      <a:pt x="1068971" y="284378"/>
                    </a:cubicBezTo>
                    <a:cubicBezTo>
                      <a:pt x="1324526" y="136833"/>
                      <a:pt x="1597887" y="48064"/>
                      <a:pt x="1873399" y="13877"/>
                    </a:cubicBezTo>
                    <a:lnTo>
                      <a:pt x="2058886" y="0"/>
                    </a:lnTo>
                    <a:lnTo>
                      <a:pt x="2058886" y="930624"/>
                    </a:lnTo>
                    <a:lnTo>
                      <a:pt x="1988223" y="935910"/>
                    </a:lnTo>
                    <a:cubicBezTo>
                      <a:pt x="1832459" y="955239"/>
                      <a:pt x="1677910" y="1005425"/>
                      <a:pt x="1533428" y="1088842"/>
                    </a:cubicBezTo>
                    <a:cubicBezTo>
                      <a:pt x="991621" y="1401654"/>
                      <a:pt x="783724" y="2070711"/>
                      <a:pt x="1034785" y="2629319"/>
                    </a:cubicBezTo>
                    <a:lnTo>
                      <a:pt x="1051420" y="2661812"/>
                    </a:lnTo>
                    <a:lnTo>
                      <a:pt x="246956" y="3126270"/>
                    </a:lnTo>
                    <a:close/>
                  </a:path>
                </a:pathLst>
              </a:custGeom>
              <a:solidFill>
                <a:srgbClr val="B3C6E7"/>
              </a:solidFill>
              <a:ln>
                <a:noFill/>
              </a:ln>
              <a:effectLst>
                <a:outerShdw blurRad="76200" dist="50800" dir="5400000" algn="ctr" rotWithShape="0">
                  <a:schemeClr val="accent1">
                    <a:alpha val="20000"/>
                  </a:schemeClr>
                </a:outerShdw>
              </a:effectLst>
            </p:spPr>
            <p:txBody>
              <a:bodyPr spcFirstLastPara="1" wrap="square" lIns="91425" tIns="45700" rIns="91425" bIns="45700" anchor="ctr" anchorCtr="0">
                <a:norm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endParaRPr sz="2200" b="1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499" name="Google Shape;499;p20"/>
              <p:cNvSpPr/>
              <p:nvPr/>
            </p:nvSpPr>
            <p:spPr>
              <a:xfrm rot="-7200000">
                <a:off x="5118944" y="3303413"/>
                <a:ext cx="2058886" cy="3126270"/>
              </a:xfrm>
              <a:custGeom>
                <a:avLst/>
                <a:gdLst/>
                <a:ahLst/>
                <a:cxnLst/>
                <a:rect l="l" t="t" r="r" b="b"/>
                <a:pathLst>
                  <a:path w="2058886" h="3126270" extrusionOk="0">
                    <a:moveTo>
                      <a:pt x="246956" y="3126270"/>
                    </a:moveTo>
                    <a:lnTo>
                      <a:pt x="186987" y="3009127"/>
                    </a:lnTo>
                    <a:cubicBezTo>
                      <a:pt x="-257084" y="2021078"/>
                      <a:pt x="110639" y="837671"/>
                      <a:pt x="1068971" y="284378"/>
                    </a:cubicBezTo>
                    <a:cubicBezTo>
                      <a:pt x="1324526" y="136833"/>
                      <a:pt x="1597887" y="48064"/>
                      <a:pt x="1873399" y="13877"/>
                    </a:cubicBezTo>
                    <a:lnTo>
                      <a:pt x="2058886" y="0"/>
                    </a:lnTo>
                    <a:lnTo>
                      <a:pt x="2058886" y="930624"/>
                    </a:lnTo>
                    <a:lnTo>
                      <a:pt x="1988223" y="935910"/>
                    </a:lnTo>
                    <a:cubicBezTo>
                      <a:pt x="1832459" y="955239"/>
                      <a:pt x="1677910" y="1005425"/>
                      <a:pt x="1533428" y="1088842"/>
                    </a:cubicBezTo>
                    <a:cubicBezTo>
                      <a:pt x="991621" y="1401654"/>
                      <a:pt x="783724" y="2070711"/>
                      <a:pt x="1034785" y="2629319"/>
                    </a:cubicBezTo>
                    <a:lnTo>
                      <a:pt x="1051420" y="2661812"/>
                    </a:lnTo>
                    <a:lnTo>
                      <a:pt x="246956" y="3126270"/>
                    </a:lnTo>
                    <a:close/>
                  </a:path>
                </a:pathLst>
              </a:custGeom>
              <a:solidFill>
                <a:srgbClr val="EFC88B"/>
              </a:solidFill>
              <a:ln>
                <a:noFill/>
              </a:ln>
              <a:effectLst>
                <a:outerShdw blurRad="76200" dist="50800" dir="5400000" algn="ctr" rotWithShape="0">
                  <a:schemeClr val="accent2">
                    <a:alpha val="20000"/>
                  </a:schemeClr>
                </a:outerShdw>
              </a:effectLst>
            </p:spPr>
            <p:txBody>
              <a:bodyPr spcFirstLastPara="1" wrap="square" lIns="91425" tIns="45700" rIns="91425" bIns="45700" anchor="ctr" anchorCtr="0">
                <a:norm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endParaRPr sz="2200" b="1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500" name="Google Shape;500;p20"/>
            <p:cNvSpPr/>
            <p:nvPr/>
          </p:nvSpPr>
          <p:spPr>
            <a:xfrm rot="1001482">
              <a:off x="3667031" y="1793865"/>
              <a:ext cx="1108363" cy="1108364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254000" dist="127000" algn="ctr" rotWithShape="0">
                <a:srgbClr val="A5A5A5">
                  <a:alpha val="2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01" name="Google Shape;501;p20"/>
            <p:cNvSpPr/>
            <p:nvPr/>
          </p:nvSpPr>
          <p:spPr>
            <a:xfrm>
              <a:off x="5535468" y="4900819"/>
              <a:ext cx="1108364" cy="1108364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/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02" name="Google Shape;502;p20"/>
            <p:cNvSpPr/>
            <p:nvPr/>
          </p:nvSpPr>
          <p:spPr>
            <a:xfrm>
              <a:off x="7403905" y="1793866"/>
              <a:ext cx="1108364" cy="1108364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/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2200" b="0" i="0" u="none" strike="noStrike" cap="none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503" name="Google Shape;503;p20"/>
          <p:cNvSpPr txBox="1">
            <a:spLocks noGrp="1"/>
          </p:cNvSpPr>
          <p:nvPr>
            <p:ph type="body" idx="1"/>
          </p:nvPr>
        </p:nvSpPr>
        <p:spPr>
          <a:xfrm>
            <a:off x="1291857" y="1512833"/>
            <a:ext cx="13696999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</a:pPr>
            <a:r>
              <a:rPr lang="en-US" b="0" i="0" dirty="0">
                <a:latin typeface="Open Sans"/>
                <a:ea typeface="Open Sans"/>
                <a:cs typeface="Open Sans"/>
                <a:sym typeface="Open Sans"/>
              </a:rPr>
              <a:t>Bag-of-words involves following steps:</a:t>
            </a:r>
            <a:endParaRPr dirty="0"/>
          </a:p>
          <a:p>
            <a:pPr marL="0" lvl="0" indent="0" algn="ctr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</a:pPr>
            <a:endParaRPr b="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04" name="Google Shape;504;p20"/>
          <p:cNvSpPr txBox="1"/>
          <p:nvPr/>
        </p:nvSpPr>
        <p:spPr>
          <a:xfrm>
            <a:off x="2012089" y="2536475"/>
            <a:ext cx="3793326" cy="1947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t" anchorCtr="0">
            <a:sp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Tokenization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marR="0" lvl="0" indent="0" algn="ctr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While creating the bag of words, tokenized word of each observation is used</a:t>
            </a:r>
            <a:endParaRPr sz="2200" b="0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05" name="Google Shape;505;p20"/>
          <p:cNvSpPr txBox="1"/>
          <p:nvPr/>
        </p:nvSpPr>
        <p:spPr>
          <a:xfrm>
            <a:off x="9874665" y="2582564"/>
            <a:ext cx="4151578" cy="1947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t" anchorCtr="0">
            <a:sp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Process</a:t>
            </a:r>
            <a:endParaRPr dirty="0"/>
          </a:p>
          <a:p>
            <a:pPr marL="0" marR="0" lvl="0" indent="0" algn="ctr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i="0" u="none" strike="noStrike" cap="none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These tokenized words are used to create a vocabulary by listing all unique words</a:t>
            </a:r>
            <a:endParaRPr sz="2200" b="0" i="0" u="none" strike="noStrike" cap="none" dirty="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06" name="Google Shape;506;p20"/>
          <p:cNvSpPr txBox="1"/>
          <p:nvPr/>
        </p:nvSpPr>
        <p:spPr>
          <a:xfrm>
            <a:off x="4485138" y="6240619"/>
            <a:ext cx="7000775" cy="1947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t" anchorCtr="0">
            <a:sp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Scoring mechanism</a:t>
            </a:r>
            <a:endParaRPr dirty="0"/>
          </a:p>
          <a:p>
            <a:pPr marL="0" marR="0" lvl="0" indent="0" algn="ctr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Document vectors are created using scoring mechanism that include word hashing or </a:t>
            </a:r>
            <a:r>
              <a:rPr lang="en-US" sz="2200" dirty="0" err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boolean</a:t>
            </a:r>
            <a:r>
              <a:rPr lang="en-US" sz="2200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 value scoring</a:t>
            </a:r>
            <a:endParaRPr dirty="0"/>
          </a:p>
        </p:txBody>
      </p:sp>
      <p:sp>
        <p:nvSpPr>
          <p:cNvPr id="507" name="Google Shape;507;p20"/>
          <p:cNvSpPr/>
          <p:nvPr/>
        </p:nvSpPr>
        <p:spPr>
          <a:xfrm>
            <a:off x="7550463" y="5251496"/>
            <a:ext cx="870127" cy="715681"/>
          </a:xfrm>
          <a:custGeom>
            <a:avLst/>
            <a:gdLst/>
            <a:ahLst/>
            <a:cxnLst/>
            <a:rect l="l" t="t" r="r" b="b"/>
            <a:pathLst>
              <a:path w="64" h="59" extrusionOk="0">
                <a:moveTo>
                  <a:pt x="63" y="53"/>
                </a:moveTo>
                <a:cubicBezTo>
                  <a:pt x="64" y="54"/>
                  <a:pt x="64" y="56"/>
                  <a:pt x="63" y="57"/>
                </a:cubicBezTo>
                <a:cubicBezTo>
                  <a:pt x="62" y="59"/>
                  <a:pt x="61" y="59"/>
                  <a:pt x="59" y="59"/>
                </a:cubicBezTo>
                <a:cubicBezTo>
                  <a:pt x="4" y="59"/>
                  <a:pt x="4" y="59"/>
                  <a:pt x="4" y="59"/>
                </a:cubicBezTo>
                <a:cubicBezTo>
                  <a:pt x="3" y="59"/>
                  <a:pt x="1" y="59"/>
                  <a:pt x="0" y="57"/>
                </a:cubicBezTo>
                <a:cubicBezTo>
                  <a:pt x="0" y="56"/>
                  <a:pt x="0" y="54"/>
                  <a:pt x="0" y="53"/>
                </a:cubicBezTo>
                <a:cubicBezTo>
                  <a:pt x="28" y="2"/>
                  <a:pt x="28" y="2"/>
                  <a:pt x="28" y="2"/>
                </a:cubicBezTo>
                <a:cubicBezTo>
                  <a:pt x="29" y="1"/>
                  <a:pt x="30" y="0"/>
                  <a:pt x="32" y="0"/>
                </a:cubicBezTo>
                <a:cubicBezTo>
                  <a:pt x="33" y="0"/>
                  <a:pt x="35" y="1"/>
                  <a:pt x="36" y="2"/>
                </a:cubicBezTo>
                <a:lnTo>
                  <a:pt x="63" y="53"/>
                </a:lnTo>
                <a:close/>
                <a:moveTo>
                  <a:pt x="37" y="19"/>
                </a:moveTo>
                <a:cubicBezTo>
                  <a:pt x="37" y="19"/>
                  <a:pt x="37" y="19"/>
                  <a:pt x="37" y="19"/>
                </a:cubicBezTo>
                <a:cubicBezTo>
                  <a:pt x="36" y="18"/>
                  <a:pt x="36" y="18"/>
                  <a:pt x="36" y="18"/>
                </a:cubicBezTo>
                <a:cubicBezTo>
                  <a:pt x="28" y="18"/>
                  <a:pt x="28" y="18"/>
                  <a:pt x="28" y="18"/>
                </a:cubicBezTo>
                <a:cubicBezTo>
                  <a:pt x="28" y="18"/>
                  <a:pt x="27" y="18"/>
                  <a:pt x="27" y="19"/>
                </a:cubicBezTo>
                <a:cubicBezTo>
                  <a:pt x="27" y="19"/>
                  <a:pt x="27" y="19"/>
                  <a:pt x="27" y="19"/>
                </a:cubicBezTo>
                <a:cubicBezTo>
                  <a:pt x="27" y="36"/>
                  <a:pt x="27" y="36"/>
                  <a:pt x="27" y="36"/>
                </a:cubicBezTo>
                <a:cubicBezTo>
                  <a:pt x="27" y="36"/>
                  <a:pt x="28" y="37"/>
                  <a:pt x="28" y="37"/>
                </a:cubicBezTo>
                <a:cubicBezTo>
                  <a:pt x="35" y="37"/>
                  <a:pt x="35" y="37"/>
                  <a:pt x="35" y="37"/>
                </a:cubicBezTo>
                <a:cubicBezTo>
                  <a:pt x="36" y="37"/>
                  <a:pt x="36" y="36"/>
                  <a:pt x="36" y="36"/>
                </a:cubicBezTo>
                <a:lnTo>
                  <a:pt x="37" y="19"/>
                </a:lnTo>
                <a:close/>
                <a:moveTo>
                  <a:pt x="36" y="42"/>
                </a:moveTo>
                <a:cubicBezTo>
                  <a:pt x="36" y="42"/>
                  <a:pt x="36" y="41"/>
                  <a:pt x="35" y="41"/>
                </a:cubicBezTo>
                <a:cubicBezTo>
                  <a:pt x="28" y="41"/>
                  <a:pt x="28" y="41"/>
                  <a:pt x="28" y="41"/>
                </a:cubicBezTo>
                <a:cubicBezTo>
                  <a:pt x="28" y="41"/>
                  <a:pt x="27" y="42"/>
                  <a:pt x="27" y="42"/>
                </a:cubicBezTo>
                <a:cubicBezTo>
                  <a:pt x="27" y="49"/>
                  <a:pt x="27" y="49"/>
                  <a:pt x="27" y="49"/>
                </a:cubicBezTo>
                <a:cubicBezTo>
                  <a:pt x="27" y="50"/>
                  <a:pt x="28" y="50"/>
                  <a:pt x="28" y="50"/>
                </a:cubicBezTo>
                <a:cubicBezTo>
                  <a:pt x="35" y="50"/>
                  <a:pt x="35" y="50"/>
                  <a:pt x="35" y="50"/>
                </a:cubicBezTo>
                <a:cubicBezTo>
                  <a:pt x="36" y="50"/>
                  <a:pt x="36" y="50"/>
                  <a:pt x="36" y="49"/>
                </a:cubicBezTo>
                <a:lnTo>
                  <a:pt x="36" y="42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121875" tIns="60950" rIns="121875" bIns="60950" anchor="t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2200" b="0" i="0" u="none" strike="noStrike" cap="non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08" name="Google Shape;508;p20"/>
          <p:cNvSpPr/>
          <p:nvPr/>
        </p:nvSpPr>
        <p:spPr>
          <a:xfrm rot="208028" flipH="1">
            <a:off x="6303551" y="3163198"/>
            <a:ext cx="856559" cy="849342"/>
          </a:xfrm>
          <a:custGeom>
            <a:avLst/>
            <a:gdLst/>
            <a:ahLst/>
            <a:cxnLst/>
            <a:rect l="l" t="t" r="r" b="b"/>
            <a:pathLst>
              <a:path w="1999" h="1990" extrusionOk="0">
                <a:moveTo>
                  <a:pt x="1344" y="289"/>
                </a:moveTo>
                <a:lnTo>
                  <a:pt x="1344" y="289"/>
                </a:lnTo>
                <a:cubicBezTo>
                  <a:pt x="1055" y="0"/>
                  <a:pt x="576" y="0"/>
                  <a:pt x="287" y="297"/>
                </a:cubicBezTo>
                <a:cubicBezTo>
                  <a:pt x="0" y="586"/>
                  <a:pt x="0" y="1056"/>
                  <a:pt x="296" y="1353"/>
                </a:cubicBezTo>
                <a:cubicBezTo>
                  <a:pt x="549" y="1605"/>
                  <a:pt x="960" y="1632"/>
                  <a:pt x="1247" y="1432"/>
                </a:cubicBezTo>
                <a:cubicBezTo>
                  <a:pt x="1257" y="1457"/>
                  <a:pt x="1265" y="1483"/>
                  <a:pt x="1292" y="1510"/>
                </a:cubicBezTo>
                <a:cubicBezTo>
                  <a:pt x="1719" y="1929"/>
                  <a:pt x="1719" y="1929"/>
                  <a:pt x="1719" y="1929"/>
                </a:cubicBezTo>
                <a:cubicBezTo>
                  <a:pt x="1779" y="1989"/>
                  <a:pt x="1876" y="1989"/>
                  <a:pt x="1936" y="1929"/>
                </a:cubicBezTo>
                <a:cubicBezTo>
                  <a:pt x="1998" y="1867"/>
                  <a:pt x="1998" y="1772"/>
                  <a:pt x="1936" y="1710"/>
                </a:cubicBezTo>
                <a:cubicBezTo>
                  <a:pt x="1509" y="1283"/>
                  <a:pt x="1509" y="1283"/>
                  <a:pt x="1509" y="1283"/>
                </a:cubicBezTo>
                <a:cubicBezTo>
                  <a:pt x="1492" y="1265"/>
                  <a:pt x="1457" y="1248"/>
                  <a:pt x="1430" y="1238"/>
                </a:cubicBezTo>
                <a:cubicBezTo>
                  <a:pt x="1631" y="951"/>
                  <a:pt x="1606" y="551"/>
                  <a:pt x="1344" y="289"/>
                </a:cubicBezTo>
                <a:close/>
                <a:moveTo>
                  <a:pt x="1212" y="1213"/>
                </a:moveTo>
                <a:lnTo>
                  <a:pt x="1212" y="1213"/>
                </a:lnTo>
                <a:cubicBezTo>
                  <a:pt x="995" y="1432"/>
                  <a:pt x="646" y="1432"/>
                  <a:pt x="428" y="1213"/>
                </a:cubicBezTo>
                <a:cubicBezTo>
                  <a:pt x="209" y="994"/>
                  <a:pt x="209" y="646"/>
                  <a:pt x="428" y="427"/>
                </a:cubicBezTo>
                <a:cubicBezTo>
                  <a:pt x="636" y="210"/>
                  <a:pt x="995" y="210"/>
                  <a:pt x="1212" y="427"/>
                </a:cubicBezTo>
                <a:cubicBezTo>
                  <a:pt x="1430" y="637"/>
                  <a:pt x="1430" y="994"/>
                  <a:pt x="1212" y="1213"/>
                </a:cubicBezTo>
                <a:close/>
                <a:moveTo>
                  <a:pt x="1212" y="1213"/>
                </a:moveTo>
                <a:lnTo>
                  <a:pt x="1212" y="121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endParaRPr sz="2200" b="0" i="0" u="none" strike="noStrike" cap="non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509" name="Google Shape;509;p20"/>
          <p:cNvGrpSpPr/>
          <p:nvPr/>
        </p:nvGrpSpPr>
        <p:grpSpPr>
          <a:xfrm>
            <a:off x="8915780" y="3229033"/>
            <a:ext cx="460344" cy="571403"/>
            <a:chOff x="5484820" y="7048230"/>
            <a:chExt cx="1337946" cy="1431781"/>
          </a:xfrm>
        </p:grpSpPr>
        <p:sp>
          <p:nvSpPr>
            <p:cNvPr id="510" name="Google Shape;510;p20"/>
            <p:cNvSpPr/>
            <p:nvPr/>
          </p:nvSpPr>
          <p:spPr>
            <a:xfrm>
              <a:off x="5484820" y="7048230"/>
              <a:ext cx="1303858" cy="596576"/>
            </a:xfrm>
            <a:custGeom>
              <a:avLst/>
              <a:gdLst/>
              <a:ahLst/>
              <a:cxnLst/>
              <a:rect l="l" t="t" r="r" b="b"/>
              <a:pathLst>
                <a:path w="1352" h="622" extrusionOk="0">
                  <a:moveTo>
                    <a:pt x="122" y="621"/>
                  </a:moveTo>
                  <a:lnTo>
                    <a:pt x="122" y="621"/>
                  </a:lnTo>
                  <a:cubicBezTo>
                    <a:pt x="173" y="621"/>
                    <a:pt x="208" y="594"/>
                    <a:pt x="235" y="551"/>
                  </a:cubicBezTo>
                  <a:cubicBezTo>
                    <a:pt x="305" y="367"/>
                    <a:pt x="487" y="237"/>
                    <a:pt x="697" y="237"/>
                  </a:cubicBezTo>
                  <a:cubicBezTo>
                    <a:pt x="811" y="237"/>
                    <a:pt x="916" y="280"/>
                    <a:pt x="994" y="340"/>
                  </a:cubicBezTo>
                  <a:cubicBezTo>
                    <a:pt x="933" y="359"/>
                    <a:pt x="933" y="359"/>
                    <a:pt x="933" y="359"/>
                  </a:cubicBezTo>
                  <a:cubicBezTo>
                    <a:pt x="906" y="359"/>
                    <a:pt x="889" y="375"/>
                    <a:pt x="889" y="402"/>
                  </a:cubicBezTo>
                  <a:cubicBezTo>
                    <a:pt x="889" y="419"/>
                    <a:pt x="898" y="446"/>
                    <a:pt x="916" y="454"/>
                  </a:cubicBezTo>
                  <a:cubicBezTo>
                    <a:pt x="1281" y="621"/>
                    <a:pt x="1281" y="621"/>
                    <a:pt x="1281" y="621"/>
                  </a:cubicBezTo>
                  <a:cubicBezTo>
                    <a:pt x="1300" y="621"/>
                    <a:pt x="1316" y="621"/>
                    <a:pt x="1335" y="611"/>
                  </a:cubicBezTo>
                  <a:cubicBezTo>
                    <a:pt x="1343" y="602"/>
                    <a:pt x="1351" y="586"/>
                    <a:pt x="1351" y="567"/>
                  </a:cubicBezTo>
                  <a:cubicBezTo>
                    <a:pt x="1351" y="167"/>
                    <a:pt x="1351" y="167"/>
                    <a:pt x="1351" y="167"/>
                  </a:cubicBezTo>
                  <a:cubicBezTo>
                    <a:pt x="1351" y="149"/>
                    <a:pt x="1343" y="124"/>
                    <a:pt x="1316" y="124"/>
                  </a:cubicBezTo>
                  <a:cubicBezTo>
                    <a:pt x="1300" y="115"/>
                    <a:pt x="1273" y="124"/>
                    <a:pt x="1265" y="140"/>
                  </a:cubicBezTo>
                  <a:cubicBezTo>
                    <a:pt x="1211" y="219"/>
                    <a:pt x="1211" y="219"/>
                    <a:pt x="1211" y="219"/>
                  </a:cubicBezTo>
                  <a:cubicBezTo>
                    <a:pt x="1081" y="88"/>
                    <a:pt x="898" y="0"/>
                    <a:pt x="697" y="0"/>
                  </a:cubicBezTo>
                  <a:cubicBezTo>
                    <a:pt x="392" y="0"/>
                    <a:pt x="122" y="194"/>
                    <a:pt x="17" y="454"/>
                  </a:cubicBezTo>
                  <a:cubicBezTo>
                    <a:pt x="0" y="489"/>
                    <a:pt x="0" y="532"/>
                    <a:pt x="25" y="567"/>
                  </a:cubicBezTo>
                  <a:cubicBezTo>
                    <a:pt x="43" y="602"/>
                    <a:pt x="87" y="621"/>
                    <a:pt x="122" y="621"/>
                  </a:cubicBezTo>
                  <a:close/>
                  <a:moveTo>
                    <a:pt x="122" y="621"/>
                  </a:moveTo>
                  <a:lnTo>
                    <a:pt x="122" y="62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200"/>
                <a:buFont typeface="Arial"/>
                <a:buNone/>
              </a:pPr>
              <a:endParaRPr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11" name="Google Shape;511;p20"/>
            <p:cNvSpPr/>
            <p:nvPr/>
          </p:nvSpPr>
          <p:spPr>
            <a:xfrm>
              <a:off x="5518908" y="7883435"/>
              <a:ext cx="1303858" cy="596576"/>
            </a:xfrm>
            <a:custGeom>
              <a:avLst/>
              <a:gdLst/>
              <a:ahLst/>
              <a:cxnLst/>
              <a:rect l="l" t="t" r="r" b="b"/>
              <a:pathLst>
                <a:path w="1352" h="620" extrusionOk="0">
                  <a:moveTo>
                    <a:pt x="1325" y="54"/>
                  </a:moveTo>
                  <a:lnTo>
                    <a:pt x="1325" y="54"/>
                  </a:lnTo>
                  <a:cubicBezTo>
                    <a:pt x="1308" y="19"/>
                    <a:pt x="1273" y="0"/>
                    <a:pt x="1230" y="0"/>
                  </a:cubicBezTo>
                  <a:cubicBezTo>
                    <a:pt x="1186" y="0"/>
                    <a:pt x="1141" y="27"/>
                    <a:pt x="1125" y="70"/>
                  </a:cubicBezTo>
                  <a:cubicBezTo>
                    <a:pt x="1046" y="254"/>
                    <a:pt x="863" y="376"/>
                    <a:pt x="662" y="376"/>
                  </a:cubicBezTo>
                  <a:cubicBezTo>
                    <a:pt x="541" y="376"/>
                    <a:pt x="435" y="341"/>
                    <a:pt x="357" y="271"/>
                  </a:cubicBezTo>
                  <a:cubicBezTo>
                    <a:pt x="417" y="262"/>
                    <a:pt x="417" y="262"/>
                    <a:pt x="417" y="262"/>
                  </a:cubicBezTo>
                  <a:cubicBezTo>
                    <a:pt x="444" y="262"/>
                    <a:pt x="462" y="244"/>
                    <a:pt x="462" y="219"/>
                  </a:cubicBezTo>
                  <a:cubicBezTo>
                    <a:pt x="470" y="201"/>
                    <a:pt x="452" y="176"/>
                    <a:pt x="435" y="166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52" y="0"/>
                    <a:pt x="33" y="0"/>
                    <a:pt x="25" y="9"/>
                  </a:cubicBezTo>
                  <a:cubicBezTo>
                    <a:pt x="8" y="19"/>
                    <a:pt x="0" y="35"/>
                    <a:pt x="0" y="54"/>
                  </a:cubicBezTo>
                  <a:cubicBezTo>
                    <a:pt x="0" y="454"/>
                    <a:pt x="0" y="454"/>
                    <a:pt x="0" y="454"/>
                  </a:cubicBezTo>
                  <a:cubicBezTo>
                    <a:pt x="0" y="471"/>
                    <a:pt x="8" y="489"/>
                    <a:pt x="33" y="498"/>
                  </a:cubicBezTo>
                  <a:cubicBezTo>
                    <a:pt x="52" y="506"/>
                    <a:pt x="78" y="498"/>
                    <a:pt x="87" y="481"/>
                  </a:cubicBezTo>
                  <a:cubicBezTo>
                    <a:pt x="138" y="403"/>
                    <a:pt x="138" y="403"/>
                    <a:pt x="138" y="403"/>
                  </a:cubicBezTo>
                  <a:cubicBezTo>
                    <a:pt x="270" y="533"/>
                    <a:pt x="452" y="619"/>
                    <a:pt x="662" y="619"/>
                  </a:cubicBezTo>
                  <a:cubicBezTo>
                    <a:pt x="968" y="619"/>
                    <a:pt x="1230" y="428"/>
                    <a:pt x="1343" y="166"/>
                  </a:cubicBezTo>
                  <a:cubicBezTo>
                    <a:pt x="1351" y="132"/>
                    <a:pt x="1351" y="87"/>
                    <a:pt x="1325" y="54"/>
                  </a:cubicBezTo>
                  <a:close/>
                  <a:moveTo>
                    <a:pt x="1325" y="54"/>
                  </a:moveTo>
                  <a:lnTo>
                    <a:pt x="1325" y="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200"/>
                <a:buFont typeface="Arial"/>
                <a:buNone/>
              </a:pPr>
              <a:endParaRPr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512" name="Google Shape;512;p20"/>
          <p:cNvSpPr/>
          <p:nvPr/>
        </p:nvSpPr>
        <p:spPr>
          <a:xfrm>
            <a:off x="6865551" y="816324"/>
            <a:ext cx="2521009" cy="3810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25000">
                <a:srgbClr val="3645A9"/>
              </a:gs>
              <a:gs pos="50000">
                <a:srgbClr val="3645A9"/>
              </a:gs>
              <a:gs pos="75000">
                <a:srgbClr val="3645A9"/>
              </a:gs>
              <a:gs pos="100000">
                <a:srgbClr val="FFFFFF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13" name="Google Shape;513;p20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</a:pPr>
            <a:r>
              <a:rPr lang="en-US"/>
              <a:t>Bag-of-Words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21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</a:pPr>
            <a:r>
              <a:rPr lang="en-US"/>
              <a:t>Bag-of-Words: Example</a:t>
            </a:r>
            <a:endParaRPr/>
          </a:p>
        </p:txBody>
      </p:sp>
      <p:graphicFrame>
        <p:nvGraphicFramePr>
          <p:cNvPr id="519" name="Google Shape;519;p21"/>
          <p:cNvGraphicFramePr/>
          <p:nvPr>
            <p:extLst>
              <p:ext uri="{D42A27DB-BD31-4B8C-83A1-F6EECF244321}">
                <p14:modId xmlns:p14="http://schemas.microsoft.com/office/powerpoint/2010/main" val="2217857749"/>
              </p:ext>
            </p:extLst>
          </p:nvPr>
        </p:nvGraphicFramePr>
        <p:xfrm>
          <a:off x="1637351" y="3492598"/>
          <a:ext cx="3544500" cy="3210010"/>
        </p:xfrm>
        <a:graphic>
          <a:graphicData uri="http://schemas.openxmlformats.org/drawingml/2006/table">
            <a:tbl>
              <a:tblPr firstRow="1" bandRow="1">
                <a:noFill/>
                <a:tableStyleId>{3451E598-09E1-43EC-B2AC-09E2A2E3DA04}</a:tableStyleId>
              </a:tblPr>
              <a:tblGrid>
                <a:gridCol w="354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200"/>
                        <a:buFont typeface="Open Sans"/>
                        <a:buNone/>
                      </a:pPr>
                      <a:r>
                        <a:rPr lang="en-US" sz="2200" b="1" i="0" u="none" strike="noStrike" cap="none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Corpus (D)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200"/>
                        <a:buFont typeface="Open Sans"/>
                        <a:buNone/>
                      </a:pPr>
                      <a:r>
                        <a:rPr lang="en-US" sz="2200" b="1" i="0" u="none" strike="noStrike" cap="none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Set of Documents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Open Sans"/>
                        <a:buNone/>
                      </a:pPr>
                      <a:r>
                        <a:rPr lang="en-US" sz="2200" b="0" i="0" u="none" strike="noStrike" cap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 have a little daughter</a:t>
                      </a:r>
                      <a:endParaRPr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Open Sans"/>
                        <a:buNone/>
                      </a:pPr>
                      <a:r>
                        <a:rPr lang="en-US" sz="2200" b="0" i="0" u="none" strike="noStrike" cap="non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Mary had a little lamb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Open Sans"/>
                        <a:buNone/>
                      </a:pPr>
                      <a:r>
                        <a:rPr lang="en-US" sz="2200" b="0" i="0" u="none" strike="noStrike" cap="non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Twinkle twinkle little star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Open Sans"/>
                        <a:buNone/>
                      </a:pPr>
                      <a:r>
                        <a:rPr lang="en-US" sz="2200" b="0" i="0" u="none" strike="noStrike" cap="none" dirty="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The silence of lambs</a:t>
                      </a:r>
                      <a:endParaRPr dirty="0"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20" name="Google Shape;520;p21"/>
          <p:cNvSpPr/>
          <p:nvPr/>
        </p:nvSpPr>
        <p:spPr>
          <a:xfrm>
            <a:off x="5734050" y="5097601"/>
            <a:ext cx="723900" cy="10103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8D5C4"/>
          </a:solidFill>
          <a:ln w="190500" cap="rnd" cmpd="sng">
            <a:solidFill>
              <a:srgbClr val="D8D5C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21" name="Google Shape;521;p21"/>
          <p:cNvSpPr txBox="1">
            <a:spLocks noGrp="1"/>
          </p:cNvSpPr>
          <p:nvPr>
            <p:ph type="body" idx="1"/>
          </p:nvPr>
        </p:nvSpPr>
        <p:spPr>
          <a:xfrm>
            <a:off x="1291857" y="1512833"/>
            <a:ext cx="13696999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</a:pPr>
            <a:r>
              <a:rPr lang="en-US">
                <a:latin typeface="Open Sans"/>
                <a:ea typeface="Open Sans"/>
                <a:cs typeface="Open Sans"/>
                <a:sym typeface="Open Sans"/>
              </a:rPr>
              <a:t>Working with the same vocabulary from the previous (one-hot-encoding) section:</a:t>
            </a:r>
            <a:endParaRPr/>
          </a:p>
        </p:txBody>
      </p:sp>
      <p:sp>
        <p:nvSpPr>
          <p:cNvPr id="522" name="Google Shape;522;p21"/>
          <p:cNvSpPr/>
          <p:nvPr/>
        </p:nvSpPr>
        <p:spPr>
          <a:xfrm>
            <a:off x="9464697" y="3752850"/>
            <a:ext cx="2743200" cy="81915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Vocabulary</a:t>
            </a:r>
            <a:endParaRPr/>
          </a:p>
        </p:txBody>
      </p:sp>
      <p:graphicFrame>
        <p:nvGraphicFramePr>
          <p:cNvPr id="523" name="Google Shape;523;p21"/>
          <p:cNvGraphicFramePr/>
          <p:nvPr/>
        </p:nvGraphicFramePr>
        <p:xfrm>
          <a:off x="7053945" y="4753976"/>
          <a:ext cx="7564725" cy="687250"/>
        </p:xfrm>
        <a:graphic>
          <a:graphicData uri="http://schemas.openxmlformats.org/drawingml/2006/table">
            <a:tbl>
              <a:tblPr firstRow="1" bandRow="1">
                <a:noFill/>
                <a:tableStyleId>{3451E598-09E1-43EC-B2AC-09E2A2E3DA04}</a:tableStyleId>
              </a:tblPr>
              <a:tblGrid>
                <a:gridCol w="1080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6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4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3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5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93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806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872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u="none" strike="noStrike" cap="none" dirty="0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little</a:t>
                      </a:r>
                      <a:endParaRPr sz="2200" b="0" i="0" u="none" strike="noStrike" cap="none" dirty="0">
                        <a:solidFill>
                          <a:srgbClr val="3F3F3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D8D5C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8D5C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8D5C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5C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5C4">
                        <a:alpha val="2078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u="none" strike="noStrike" cap="none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daughter</a:t>
                      </a:r>
                      <a:endParaRPr sz="2200" b="0" i="0" u="none" strike="noStrike" cap="none">
                        <a:solidFill>
                          <a:srgbClr val="3F3F3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D8D5C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8D5C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8D5C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5C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5C4">
                        <a:alpha val="2078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u="none" strike="noStrike" cap="none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lamb</a:t>
                      </a:r>
                      <a:endParaRPr sz="2200" b="0" i="0" u="none" strike="noStrike" cap="none">
                        <a:solidFill>
                          <a:srgbClr val="3F3F3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D8D5C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8D5C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8D5C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5C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5C4">
                        <a:alpha val="2078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u="none" strike="noStrike" cap="none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twinkle</a:t>
                      </a:r>
                      <a:endParaRPr sz="2200" b="0" i="0" u="none" strike="noStrike" cap="none">
                        <a:solidFill>
                          <a:srgbClr val="3F3F3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D8D5C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8D5C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8D5C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5C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5C4">
                        <a:alpha val="2078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u="none" strike="noStrike" cap="none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star</a:t>
                      </a:r>
                      <a:endParaRPr sz="2200" b="0" i="0" u="none" strike="noStrike" cap="none">
                        <a:solidFill>
                          <a:srgbClr val="3F3F3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D8D5C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8D5C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8D5C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5C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5C4">
                        <a:alpha val="2078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u="none" strike="noStrike" cap="none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silence</a:t>
                      </a:r>
                      <a:endParaRPr sz="2200" b="0" i="0" u="none" strike="noStrike" cap="none">
                        <a:solidFill>
                          <a:srgbClr val="3F3F3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D8D5C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8D5C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8D5C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5C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5C4">
                        <a:alpha val="2078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u="none" strike="noStrike" cap="none" dirty="0" err="1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mary</a:t>
                      </a:r>
                      <a:endParaRPr sz="2200" b="0" i="0" u="none" strike="noStrike" cap="none" dirty="0">
                        <a:solidFill>
                          <a:srgbClr val="3F3F3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D8D5C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8D5C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8D5C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5C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5C4">
                        <a:alpha val="2078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24" name="Google Shape;524;p21"/>
          <p:cNvSpPr/>
          <p:nvPr/>
        </p:nvSpPr>
        <p:spPr>
          <a:xfrm>
            <a:off x="6096000" y="816324"/>
            <a:ext cx="4060110" cy="3810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25000">
                <a:srgbClr val="3645A9"/>
              </a:gs>
              <a:gs pos="50000">
                <a:srgbClr val="3645A9"/>
              </a:gs>
              <a:gs pos="75000">
                <a:srgbClr val="3645A9"/>
              </a:gs>
              <a:gs pos="100000">
                <a:srgbClr val="FFFFFF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22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</a:pPr>
            <a:r>
              <a:rPr lang="en-US"/>
              <a:t>Bag-of-Words: Example</a:t>
            </a:r>
            <a:endParaRPr/>
          </a:p>
        </p:txBody>
      </p:sp>
      <p:graphicFrame>
        <p:nvGraphicFramePr>
          <p:cNvPr id="530" name="Google Shape;530;p22"/>
          <p:cNvGraphicFramePr/>
          <p:nvPr/>
        </p:nvGraphicFramePr>
        <p:xfrm>
          <a:off x="1291860" y="3526970"/>
          <a:ext cx="13697075" cy="3382310"/>
        </p:xfrm>
        <a:graphic>
          <a:graphicData uri="http://schemas.openxmlformats.org/drawingml/2006/table">
            <a:tbl>
              <a:tblPr>
                <a:noFill/>
                <a:tableStyleId>{E47D01E6-4629-4F39-B131-EA1D3E16BC4B}</a:tableStyleId>
              </a:tblPr>
              <a:tblGrid>
                <a:gridCol w="3226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5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5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5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95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95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957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957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55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endParaRPr sz="22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u="none" strike="noStrike" cap="none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little</a:t>
                      </a:r>
                      <a:endParaRPr sz="2200" b="0" i="0" u="none" strike="noStrike" cap="none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525" marR="9525" marT="9525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u="none" strike="noStrike" cap="none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daughter</a:t>
                      </a:r>
                      <a:endParaRPr sz="2200" b="0" i="0" u="none" strike="noStrike" cap="none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525" marR="9525" marT="9525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u="none" strike="noStrike" cap="none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lamb</a:t>
                      </a:r>
                      <a:endParaRPr sz="2200" b="0" i="0" u="none" strike="noStrike" cap="none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525" marR="9525" marT="9525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u="none" strike="noStrike" cap="none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twinkle</a:t>
                      </a:r>
                      <a:endParaRPr sz="2200" b="0" i="0" u="none" strike="noStrike" cap="none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525" marR="9525" marT="9525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u="none" strike="noStrike" cap="none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star</a:t>
                      </a:r>
                      <a:endParaRPr sz="2200" b="0" i="0" u="none" strike="noStrike" cap="none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525" marR="9525" marT="9525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u="none" strike="noStrike" cap="none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silence</a:t>
                      </a:r>
                      <a:endParaRPr sz="2200" b="0" i="0" u="none" strike="noStrike" cap="none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525" marR="9525" marT="9525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u="none" strike="noStrike" cap="none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mary</a:t>
                      </a:r>
                      <a:endParaRPr sz="2200" b="0" i="0" u="none" strike="noStrike" cap="none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525" marR="9525" marT="9525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200"/>
                        <a:buFont typeface="Open Sans"/>
                        <a:buNone/>
                      </a:pPr>
                      <a:r>
                        <a:rPr lang="en-US" sz="2200" b="0" i="0" u="none" strike="noStrike" cap="none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 have a little daughter</a:t>
                      </a:r>
                      <a:endParaRPr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strike="noStrike" cap="none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2200" u="none" strike="noStrike" cap="none">
                        <a:solidFill>
                          <a:srgbClr val="3F3F3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strike="noStrike" cap="none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2200" u="none" strike="noStrike" cap="none">
                        <a:solidFill>
                          <a:srgbClr val="3F3F3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strike="noStrike" cap="none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2200" u="none" strike="noStrike" cap="none">
                        <a:solidFill>
                          <a:srgbClr val="3F3F3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strike="noStrike" cap="none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2200" u="none" strike="noStrike" cap="none">
                        <a:solidFill>
                          <a:srgbClr val="3F3F3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strike="noStrike" cap="none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2200" u="none" strike="noStrike" cap="none">
                        <a:solidFill>
                          <a:srgbClr val="3F3F3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strike="noStrike" cap="none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2200" u="none" strike="noStrike" cap="none">
                        <a:solidFill>
                          <a:srgbClr val="3F3F3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strike="noStrike" cap="none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2200" u="none" strike="noStrike" cap="none">
                        <a:solidFill>
                          <a:srgbClr val="3F3F3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D2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5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200"/>
                        <a:buFont typeface="Open Sans"/>
                        <a:buNone/>
                      </a:pPr>
                      <a:r>
                        <a:rPr lang="en-US" sz="2200" b="0" i="0" u="none" strike="noStrike" cap="none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Mary had a little lamb</a:t>
                      </a:r>
                      <a:endParaRPr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strike="noStrike" cap="none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2200" u="none" strike="noStrike" cap="none">
                        <a:solidFill>
                          <a:srgbClr val="3F3F3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strike="noStrike" cap="none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2200" u="none" strike="noStrike" cap="none">
                        <a:solidFill>
                          <a:srgbClr val="3F3F3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strike="noStrike" cap="none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2200" u="none" strike="noStrike" cap="none">
                        <a:solidFill>
                          <a:srgbClr val="3F3F3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strike="noStrike" cap="none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2200" u="none" strike="noStrike" cap="none">
                        <a:solidFill>
                          <a:srgbClr val="3F3F3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strike="noStrike" cap="none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2200" u="none" strike="noStrike" cap="none">
                        <a:solidFill>
                          <a:srgbClr val="3F3F3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strike="noStrike" cap="none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2200" u="none" strike="noStrike" cap="none">
                        <a:solidFill>
                          <a:srgbClr val="3F3F3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strike="noStrike" cap="none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2200" u="none" strike="noStrike" cap="none">
                        <a:solidFill>
                          <a:srgbClr val="3F3F3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5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200"/>
                        <a:buFont typeface="Open Sans"/>
                        <a:buNone/>
                      </a:pPr>
                      <a:r>
                        <a:rPr lang="en-US" sz="2200" b="0" i="0" u="none" strike="noStrike" cap="none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Twinkle twinkle little star</a:t>
                      </a:r>
                      <a:endParaRPr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strike="noStrike" cap="none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2200" u="none" strike="noStrike" cap="none">
                        <a:solidFill>
                          <a:srgbClr val="3F3F3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strike="noStrike" cap="none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2200" u="none" strike="noStrike" cap="none">
                        <a:solidFill>
                          <a:srgbClr val="3F3F3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strike="noStrike" cap="none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2200" u="none" strike="noStrike" cap="none">
                        <a:solidFill>
                          <a:srgbClr val="3F3F3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strike="noStrike" cap="none" dirty="0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2200" u="none" strike="noStrike" cap="none" dirty="0">
                        <a:solidFill>
                          <a:srgbClr val="3F3F3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strike="noStrike" cap="none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2200" u="none" strike="noStrike" cap="none">
                        <a:solidFill>
                          <a:srgbClr val="3F3F3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strike="noStrike" cap="none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2200" u="none" strike="noStrike" cap="none">
                        <a:solidFill>
                          <a:srgbClr val="3F3F3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strike="noStrike" cap="none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2200" u="none" strike="noStrike" cap="none">
                        <a:solidFill>
                          <a:srgbClr val="3F3F3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D2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5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200"/>
                        <a:buFont typeface="Open Sans"/>
                        <a:buNone/>
                      </a:pPr>
                      <a:r>
                        <a:rPr lang="en-US" sz="2200" b="0" i="0" u="none" strike="noStrike" cap="none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The silence of lambs</a:t>
                      </a:r>
                      <a:endParaRPr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strike="noStrike" cap="none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2200" u="none" strike="noStrike" cap="none">
                        <a:solidFill>
                          <a:srgbClr val="3F3F3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strike="noStrike" cap="none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2200" u="none" strike="noStrike" cap="none">
                        <a:solidFill>
                          <a:srgbClr val="3F3F3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strike="noStrike" cap="none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2200" u="none" strike="noStrike" cap="none">
                        <a:solidFill>
                          <a:srgbClr val="3F3F3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strike="noStrike" cap="none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2200" u="none" strike="noStrike" cap="none">
                        <a:solidFill>
                          <a:srgbClr val="3F3F3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strike="noStrike" cap="none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2200" u="none" strike="noStrike" cap="none">
                        <a:solidFill>
                          <a:srgbClr val="3F3F3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strike="noStrike" cap="none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2200" u="none" strike="noStrike" cap="none">
                        <a:solidFill>
                          <a:srgbClr val="3F3F3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strike="noStrike" cap="none" dirty="0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2200" u="none" strike="noStrike" cap="none" dirty="0">
                        <a:solidFill>
                          <a:srgbClr val="3F3F3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31" name="Google Shape;531;p22"/>
          <p:cNvSpPr txBox="1">
            <a:spLocks noGrp="1"/>
          </p:cNvSpPr>
          <p:nvPr>
            <p:ph type="body" idx="1"/>
          </p:nvPr>
        </p:nvSpPr>
        <p:spPr>
          <a:xfrm>
            <a:off x="1291857" y="1512833"/>
            <a:ext cx="13696999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</a:pPr>
            <a:r>
              <a:rPr lang="en-US" b="0" i="0">
                <a:latin typeface="Open Sans"/>
                <a:ea typeface="Open Sans"/>
                <a:cs typeface="Open Sans"/>
                <a:sym typeface="Open Sans"/>
              </a:rPr>
              <a:t>Shown </a:t>
            </a:r>
            <a:r>
              <a:rPr lang="en-US">
                <a:latin typeface="Open Sans"/>
                <a:ea typeface="Open Sans"/>
                <a:cs typeface="Open Sans"/>
                <a:sym typeface="Open Sans"/>
              </a:rPr>
              <a:t>below is the the document matrix using bag of words. The matrix has been generated using the term frequency scoring.</a:t>
            </a:r>
            <a:endParaRPr b="1" i="0" u="none" strike="noStrike" cap="none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534" name="Google Shape;534;p22"/>
          <p:cNvCxnSpPr/>
          <p:nvPr/>
        </p:nvCxnSpPr>
        <p:spPr>
          <a:xfrm rot="10800000" flipH="1">
            <a:off x="7537449" y="5472597"/>
            <a:ext cx="602907" cy="1907917"/>
          </a:xfrm>
          <a:prstGeom prst="straightConnector1">
            <a:avLst/>
          </a:prstGeom>
          <a:noFill/>
          <a:ln w="9525" cap="flat" cmpd="sng">
            <a:solidFill>
              <a:srgbClr val="3F3F3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35" name="Google Shape;535;p22"/>
          <p:cNvCxnSpPr/>
          <p:nvPr/>
        </p:nvCxnSpPr>
        <p:spPr>
          <a:xfrm rot="10800000" flipH="1">
            <a:off x="8088857" y="6060426"/>
            <a:ext cx="1447029" cy="1320088"/>
          </a:xfrm>
          <a:prstGeom prst="straightConnector1">
            <a:avLst/>
          </a:prstGeom>
          <a:noFill/>
          <a:ln w="9525" cap="flat" cmpd="sng">
            <a:solidFill>
              <a:srgbClr val="3F3F3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36" name="Google Shape;536;p22"/>
          <p:cNvSpPr txBox="1"/>
          <p:nvPr/>
        </p:nvSpPr>
        <p:spPr>
          <a:xfrm>
            <a:off x="6131514" y="7444851"/>
            <a:ext cx="2300951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Term Frequency</a:t>
            </a:r>
            <a:endParaRPr dirty="0"/>
          </a:p>
        </p:txBody>
      </p:sp>
      <p:sp>
        <p:nvSpPr>
          <p:cNvPr id="537" name="Google Shape;537;p22"/>
          <p:cNvSpPr/>
          <p:nvPr/>
        </p:nvSpPr>
        <p:spPr>
          <a:xfrm>
            <a:off x="6088380" y="7380514"/>
            <a:ext cx="2387963" cy="947162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38" name="Google Shape;538;p22"/>
          <p:cNvSpPr/>
          <p:nvPr/>
        </p:nvSpPr>
        <p:spPr>
          <a:xfrm>
            <a:off x="6096000" y="816324"/>
            <a:ext cx="4060110" cy="3810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25000">
                <a:srgbClr val="3645A9"/>
              </a:gs>
              <a:gs pos="50000">
                <a:srgbClr val="3645A9"/>
              </a:gs>
              <a:gs pos="75000">
                <a:srgbClr val="3645A9"/>
              </a:gs>
              <a:gs pos="100000">
                <a:srgbClr val="FFFFFF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5494C2B-A874-D64B-777C-F8D8FC4A3F5E}"/>
              </a:ext>
            </a:extLst>
          </p:cNvPr>
          <p:cNvSpPr/>
          <p:nvPr/>
        </p:nvSpPr>
        <p:spPr>
          <a:xfrm>
            <a:off x="7973505" y="4900337"/>
            <a:ext cx="578893" cy="50792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C46D55D-2143-8E8C-0A5B-52AABF7CAF3C}"/>
              </a:ext>
            </a:extLst>
          </p:cNvPr>
          <p:cNvSpPr/>
          <p:nvPr/>
        </p:nvSpPr>
        <p:spPr>
          <a:xfrm>
            <a:off x="9473908" y="5613462"/>
            <a:ext cx="578893" cy="50792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23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</a:pPr>
            <a:r>
              <a:rPr lang="en-US">
                <a:latin typeface="Open Sans"/>
                <a:ea typeface="Open Sans"/>
                <a:cs typeface="Open Sans"/>
                <a:sym typeface="Open Sans"/>
              </a:rPr>
              <a:t>Bag-of-Words: Recap of Terms Used</a:t>
            </a:r>
            <a:endParaRPr/>
          </a:p>
        </p:txBody>
      </p:sp>
      <p:grpSp>
        <p:nvGrpSpPr>
          <p:cNvPr id="544" name="Google Shape;544;p23"/>
          <p:cNvGrpSpPr/>
          <p:nvPr/>
        </p:nvGrpSpPr>
        <p:grpSpPr>
          <a:xfrm>
            <a:off x="1920885" y="2199627"/>
            <a:ext cx="4342646" cy="2030891"/>
            <a:chOff x="2060341" y="1966195"/>
            <a:chExt cx="4343400" cy="2031244"/>
          </a:xfrm>
        </p:grpSpPr>
        <p:sp>
          <p:nvSpPr>
            <p:cNvPr id="545" name="Google Shape;545;p23"/>
            <p:cNvSpPr/>
            <p:nvPr/>
          </p:nvSpPr>
          <p:spPr>
            <a:xfrm>
              <a:off x="2060341" y="1966195"/>
              <a:ext cx="4343400" cy="2031244"/>
            </a:xfrm>
            <a:prstGeom prst="roundRect">
              <a:avLst>
                <a:gd name="adj" fmla="val 16667"/>
              </a:avLst>
            </a:prstGeom>
            <a:solidFill>
              <a:srgbClr val="FFAFAF">
                <a:alpha val="24313"/>
              </a:srgbClr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4150" tIns="26650" rIns="660825" bIns="266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Open Sans"/>
                <a:buNone/>
              </a:pPr>
              <a:endParaRPr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46" name="Google Shape;546;p23"/>
            <p:cNvSpPr/>
            <p:nvPr/>
          </p:nvSpPr>
          <p:spPr>
            <a:xfrm>
              <a:off x="2763591" y="2298366"/>
              <a:ext cx="2770909" cy="430962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spcFirstLastPara="1" wrap="square" lIns="91425" tIns="45700" rIns="0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2200"/>
                <a:buFont typeface="Open Sans"/>
                <a:buNone/>
              </a:pPr>
              <a:r>
                <a:rPr lang="en-US" sz="2200" b="1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Term</a:t>
              </a:r>
              <a:endPara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47" name="Google Shape;547;p23"/>
            <p:cNvSpPr/>
            <p:nvPr/>
          </p:nvSpPr>
          <p:spPr>
            <a:xfrm>
              <a:off x="2279433" y="2908222"/>
              <a:ext cx="3821388" cy="845702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spcFirstLastPara="1" wrap="square" lIns="0" tIns="43150" rIns="0" bIns="4315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2200"/>
                <a:buFont typeface="Open Sans"/>
                <a:buNone/>
              </a:pPr>
              <a:r>
                <a:rPr lang="en-US" sz="2200" b="0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Each processed word is called term</a:t>
              </a:r>
              <a:endPara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548" name="Google Shape;548;p23"/>
          <p:cNvGrpSpPr/>
          <p:nvPr/>
        </p:nvGrpSpPr>
        <p:grpSpPr>
          <a:xfrm>
            <a:off x="9956483" y="2199627"/>
            <a:ext cx="4571206" cy="2030891"/>
            <a:chOff x="9956800" y="1981994"/>
            <a:chExt cx="4572000" cy="2031244"/>
          </a:xfrm>
        </p:grpSpPr>
        <p:sp>
          <p:nvSpPr>
            <p:cNvPr id="549" name="Google Shape;549;p23"/>
            <p:cNvSpPr/>
            <p:nvPr/>
          </p:nvSpPr>
          <p:spPr>
            <a:xfrm>
              <a:off x="9956800" y="1981994"/>
              <a:ext cx="4572000" cy="2031244"/>
            </a:xfrm>
            <a:prstGeom prst="roundRect">
              <a:avLst>
                <a:gd name="adj" fmla="val 16667"/>
              </a:avLst>
            </a:prstGeom>
            <a:solidFill>
              <a:srgbClr val="D8E2F3">
                <a:alpha val="74509"/>
              </a:srgbClr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4150" tIns="26650" rIns="660825" bIns="266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Open Sans"/>
                <a:buNone/>
              </a:pPr>
              <a:endParaRPr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50" name="Google Shape;550;p23"/>
            <p:cNvSpPr/>
            <p:nvPr/>
          </p:nvSpPr>
          <p:spPr>
            <a:xfrm>
              <a:off x="10502059" y="2272249"/>
              <a:ext cx="3413629" cy="430962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spcFirstLastPara="1" wrap="square" lIns="0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2200"/>
                <a:buFont typeface="Open Sans"/>
                <a:buNone/>
              </a:pPr>
              <a:r>
                <a:rPr lang="en-US" sz="2200" b="1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Term Frequency</a:t>
              </a:r>
              <a:endPara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51" name="Google Shape;551;p23"/>
            <p:cNvSpPr/>
            <p:nvPr/>
          </p:nvSpPr>
          <p:spPr>
            <a:xfrm>
              <a:off x="10299700" y="2837264"/>
              <a:ext cx="4000643" cy="764431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spcFirstLastPara="1" wrap="square" lIns="0" tIns="43150" rIns="0" bIns="4315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2200"/>
                <a:buFont typeface="Open Sans"/>
                <a:buNone/>
              </a:pPr>
              <a:r>
                <a:rPr lang="en-US" sz="2200" b="0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Frequency of a term-occurrence in a document</a:t>
              </a:r>
              <a:endPara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552" name="Google Shape;552;p23"/>
          <p:cNvGrpSpPr/>
          <p:nvPr/>
        </p:nvGrpSpPr>
        <p:grpSpPr>
          <a:xfrm>
            <a:off x="5956677" y="5671199"/>
            <a:ext cx="4342646" cy="2030891"/>
            <a:chOff x="5956300" y="5361887"/>
            <a:chExt cx="4343400" cy="2031244"/>
          </a:xfrm>
        </p:grpSpPr>
        <p:sp>
          <p:nvSpPr>
            <p:cNvPr id="553" name="Google Shape;553;p23"/>
            <p:cNvSpPr/>
            <p:nvPr/>
          </p:nvSpPr>
          <p:spPr>
            <a:xfrm>
              <a:off x="5956300" y="5361887"/>
              <a:ext cx="4343400" cy="2031244"/>
            </a:xfrm>
            <a:prstGeom prst="roundRect">
              <a:avLst>
                <a:gd name="adj" fmla="val 16667"/>
              </a:avLst>
            </a:prstGeom>
            <a:solidFill>
              <a:srgbClr val="ADF5EC">
                <a:alpha val="49411"/>
              </a:srgbClr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4150" tIns="26650" rIns="660825" bIns="266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Open Sans"/>
                <a:buNone/>
              </a:pPr>
              <a:endParaRPr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54" name="Google Shape;554;p23"/>
            <p:cNvSpPr/>
            <p:nvPr/>
          </p:nvSpPr>
          <p:spPr>
            <a:xfrm>
              <a:off x="6609099" y="5535854"/>
              <a:ext cx="3134331" cy="430962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spcFirstLastPara="1" wrap="square" lIns="0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2200"/>
                <a:buFont typeface="Open Sans"/>
                <a:buNone/>
              </a:pPr>
              <a:r>
                <a:rPr lang="en-US" sz="2200" b="1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Term Matrix</a:t>
              </a:r>
              <a:endPara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55" name="Google Shape;555;p23"/>
            <p:cNvSpPr/>
            <p:nvPr/>
          </p:nvSpPr>
          <p:spPr>
            <a:xfrm>
              <a:off x="6480827" y="6040533"/>
              <a:ext cx="3487405" cy="1103044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spcFirstLastPara="1" wrap="square" lIns="0" tIns="43150" rIns="0" bIns="4315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2200"/>
                <a:buFont typeface="Open Sans"/>
                <a:buNone/>
              </a:pPr>
              <a:r>
                <a:rPr lang="en-US" sz="2200" b="0" i="0" u="none" strike="noStrike" cap="none" dirty="0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Matrix showing frequency of each term-occurrence in documents</a:t>
              </a:r>
              <a:endParaRPr sz="2200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556" name="Google Shape;556;p23"/>
          <p:cNvGrpSpPr/>
          <p:nvPr/>
        </p:nvGrpSpPr>
        <p:grpSpPr>
          <a:xfrm>
            <a:off x="6390942" y="2531740"/>
            <a:ext cx="1679324" cy="1379954"/>
            <a:chOff x="6390640" y="2221883"/>
            <a:chExt cx="1679616" cy="1380194"/>
          </a:xfrm>
        </p:grpSpPr>
        <p:sp>
          <p:nvSpPr>
            <p:cNvPr id="557" name="Google Shape;557;p23"/>
            <p:cNvSpPr/>
            <p:nvPr/>
          </p:nvSpPr>
          <p:spPr>
            <a:xfrm>
              <a:off x="6899442" y="2256313"/>
              <a:ext cx="1170814" cy="1345764"/>
            </a:xfrm>
            <a:custGeom>
              <a:avLst/>
              <a:gdLst/>
              <a:ahLst/>
              <a:cxnLst/>
              <a:rect l="l" t="t" r="r" b="b"/>
              <a:pathLst>
                <a:path w="2678171" h="2330008" extrusionOk="0">
                  <a:moveTo>
                    <a:pt x="1339086" y="0"/>
                  </a:moveTo>
                  <a:lnTo>
                    <a:pt x="2678169" y="506777"/>
                  </a:lnTo>
                  <a:lnTo>
                    <a:pt x="2678169" y="1823231"/>
                  </a:lnTo>
                  <a:lnTo>
                    <a:pt x="1339086" y="2330008"/>
                  </a:lnTo>
                  <a:lnTo>
                    <a:pt x="2" y="1823231"/>
                  </a:lnTo>
                  <a:lnTo>
                    <a:pt x="2" y="506777"/>
                  </a:lnTo>
                  <a:lnTo>
                    <a:pt x="1339086" y="0"/>
                  </a:lnTo>
                  <a:close/>
                </a:path>
              </a:pathLst>
            </a:custGeom>
            <a:solidFill>
              <a:srgbClr val="FF8585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Open Sans"/>
                <a:buNone/>
              </a:pPr>
              <a:endParaRPr sz="2200" b="1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cxnSp>
          <p:nvCxnSpPr>
            <p:cNvPr id="558" name="Google Shape;558;p23"/>
            <p:cNvCxnSpPr/>
            <p:nvPr/>
          </p:nvCxnSpPr>
          <p:spPr>
            <a:xfrm rot="10800000">
              <a:off x="6390640" y="2221883"/>
              <a:ext cx="524042" cy="327921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oval" w="med" len="med"/>
            </a:ln>
          </p:spPr>
        </p:cxnSp>
      </p:grpSp>
      <p:grpSp>
        <p:nvGrpSpPr>
          <p:cNvPr id="559" name="Google Shape;559;p23"/>
          <p:cNvGrpSpPr/>
          <p:nvPr/>
        </p:nvGrpSpPr>
        <p:grpSpPr>
          <a:xfrm>
            <a:off x="8163916" y="2546977"/>
            <a:ext cx="1665156" cy="1364717"/>
            <a:chOff x="8163922" y="2237123"/>
            <a:chExt cx="1665445" cy="1364954"/>
          </a:xfrm>
        </p:grpSpPr>
        <p:sp>
          <p:nvSpPr>
            <p:cNvPr id="560" name="Google Shape;560;p23"/>
            <p:cNvSpPr/>
            <p:nvPr/>
          </p:nvSpPr>
          <p:spPr>
            <a:xfrm>
              <a:off x="8163922" y="2256313"/>
              <a:ext cx="1170814" cy="1345764"/>
            </a:xfrm>
            <a:custGeom>
              <a:avLst/>
              <a:gdLst/>
              <a:ahLst/>
              <a:cxnLst/>
              <a:rect l="l" t="t" r="r" b="b"/>
              <a:pathLst>
                <a:path w="2678171" h="2330008" extrusionOk="0">
                  <a:moveTo>
                    <a:pt x="1339086" y="0"/>
                  </a:moveTo>
                  <a:lnTo>
                    <a:pt x="2678169" y="506777"/>
                  </a:lnTo>
                  <a:lnTo>
                    <a:pt x="2678169" y="1823231"/>
                  </a:lnTo>
                  <a:lnTo>
                    <a:pt x="1339086" y="2330008"/>
                  </a:lnTo>
                  <a:lnTo>
                    <a:pt x="2" y="1823231"/>
                  </a:lnTo>
                  <a:lnTo>
                    <a:pt x="2" y="506777"/>
                  </a:lnTo>
                  <a:lnTo>
                    <a:pt x="1339086" y="0"/>
                  </a:lnTo>
                  <a:close/>
                </a:path>
              </a:pathLst>
            </a:custGeom>
            <a:solidFill>
              <a:srgbClr val="41A0CB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Open Sans"/>
                <a:buNone/>
              </a:pPr>
              <a:endParaRPr sz="2200" b="1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cxnSp>
          <p:nvCxnSpPr>
            <p:cNvPr id="561" name="Google Shape;561;p23"/>
            <p:cNvCxnSpPr/>
            <p:nvPr/>
          </p:nvCxnSpPr>
          <p:spPr>
            <a:xfrm flipH="1">
              <a:off x="9323948" y="2237123"/>
              <a:ext cx="505419" cy="316653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round/>
              <a:headEnd type="oval" w="med" len="med"/>
              <a:tailEnd type="none" w="sm" len="sm"/>
            </a:ln>
          </p:spPr>
        </p:cxnSp>
      </p:grpSp>
      <p:grpSp>
        <p:nvGrpSpPr>
          <p:cNvPr id="562" name="Google Shape;562;p23"/>
          <p:cNvGrpSpPr/>
          <p:nvPr/>
        </p:nvGrpSpPr>
        <p:grpSpPr>
          <a:xfrm>
            <a:off x="7529363" y="3708251"/>
            <a:ext cx="1170611" cy="1889244"/>
            <a:chOff x="7529259" y="3398598"/>
            <a:chExt cx="1170814" cy="1889572"/>
          </a:xfrm>
        </p:grpSpPr>
        <p:sp>
          <p:nvSpPr>
            <p:cNvPr id="563" name="Google Shape;563;p23"/>
            <p:cNvSpPr/>
            <p:nvPr/>
          </p:nvSpPr>
          <p:spPr>
            <a:xfrm>
              <a:off x="7529259" y="3398598"/>
              <a:ext cx="1170814" cy="1345764"/>
            </a:xfrm>
            <a:custGeom>
              <a:avLst/>
              <a:gdLst/>
              <a:ahLst/>
              <a:cxnLst/>
              <a:rect l="l" t="t" r="r" b="b"/>
              <a:pathLst>
                <a:path w="2678171" h="2330008" extrusionOk="0">
                  <a:moveTo>
                    <a:pt x="1339086" y="0"/>
                  </a:moveTo>
                  <a:lnTo>
                    <a:pt x="2678169" y="506777"/>
                  </a:lnTo>
                  <a:lnTo>
                    <a:pt x="2678169" y="1823231"/>
                  </a:lnTo>
                  <a:lnTo>
                    <a:pt x="1339086" y="2330008"/>
                  </a:lnTo>
                  <a:lnTo>
                    <a:pt x="2" y="1823231"/>
                  </a:lnTo>
                  <a:lnTo>
                    <a:pt x="2" y="506777"/>
                  </a:lnTo>
                  <a:lnTo>
                    <a:pt x="1339086" y="0"/>
                  </a:lnTo>
                  <a:close/>
                </a:path>
              </a:pathLst>
            </a:custGeom>
            <a:solidFill>
              <a:srgbClr val="17BFAB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Open Sans"/>
                <a:buNone/>
              </a:pPr>
              <a:endParaRPr sz="2200" b="1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cxnSp>
          <p:nvCxnSpPr>
            <p:cNvPr id="564" name="Google Shape;564;p23"/>
            <p:cNvCxnSpPr/>
            <p:nvPr/>
          </p:nvCxnSpPr>
          <p:spPr>
            <a:xfrm>
              <a:off x="8114939" y="4737118"/>
              <a:ext cx="0" cy="551052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oval" w="med" len="med"/>
            </a:ln>
          </p:spPr>
        </p:cxnSp>
      </p:grpSp>
      <p:grpSp>
        <p:nvGrpSpPr>
          <p:cNvPr id="565" name="Google Shape;565;p23"/>
          <p:cNvGrpSpPr/>
          <p:nvPr/>
        </p:nvGrpSpPr>
        <p:grpSpPr>
          <a:xfrm>
            <a:off x="7406392" y="2901387"/>
            <a:ext cx="1421397" cy="1421397"/>
            <a:chOff x="7406267" y="2591594"/>
            <a:chExt cx="1421644" cy="1421644"/>
          </a:xfrm>
        </p:grpSpPr>
        <p:sp>
          <p:nvSpPr>
            <p:cNvPr id="566" name="Google Shape;566;p23"/>
            <p:cNvSpPr/>
            <p:nvPr/>
          </p:nvSpPr>
          <p:spPr>
            <a:xfrm>
              <a:off x="7406267" y="2591594"/>
              <a:ext cx="1421644" cy="1421644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Open Sans"/>
                <a:buNone/>
              </a:pPr>
              <a:endParaRPr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567" name="Google Shape;567;p23"/>
            <p:cNvGrpSpPr/>
            <p:nvPr/>
          </p:nvGrpSpPr>
          <p:grpSpPr>
            <a:xfrm>
              <a:off x="7675563" y="2813051"/>
              <a:ext cx="890587" cy="985838"/>
              <a:chOff x="7675563" y="2813051"/>
              <a:chExt cx="890587" cy="985838"/>
            </a:xfrm>
          </p:grpSpPr>
          <p:sp>
            <p:nvSpPr>
              <p:cNvPr id="568" name="Google Shape;568;p23"/>
              <p:cNvSpPr/>
              <p:nvPr/>
            </p:nvSpPr>
            <p:spPr>
              <a:xfrm>
                <a:off x="7675563" y="2813051"/>
                <a:ext cx="879474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633" h="345" extrusionOk="0">
                    <a:moveTo>
                      <a:pt x="319" y="0"/>
                    </a:moveTo>
                    <a:cubicBezTo>
                      <a:pt x="387" y="1"/>
                      <a:pt x="455" y="8"/>
                      <a:pt x="520" y="31"/>
                    </a:cubicBezTo>
                    <a:cubicBezTo>
                      <a:pt x="550" y="42"/>
                      <a:pt x="580" y="57"/>
                      <a:pt x="603" y="80"/>
                    </a:cubicBezTo>
                    <a:cubicBezTo>
                      <a:pt x="621" y="98"/>
                      <a:pt x="631" y="119"/>
                      <a:pt x="630" y="144"/>
                    </a:cubicBezTo>
                    <a:cubicBezTo>
                      <a:pt x="630" y="163"/>
                      <a:pt x="629" y="182"/>
                      <a:pt x="630" y="200"/>
                    </a:cubicBezTo>
                    <a:cubicBezTo>
                      <a:pt x="633" y="237"/>
                      <a:pt x="617" y="264"/>
                      <a:pt x="590" y="284"/>
                    </a:cubicBezTo>
                    <a:cubicBezTo>
                      <a:pt x="542" y="320"/>
                      <a:pt x="487" y="334"/>
                      <a:pt x="430" y="344"/>
                    </a:cubicBezTo>
                    <a:cubicBezTo>
                      <a:pt x="423" y="345"/>
                      <a:pt x="418" y="341"/>
                      <a:pt x="412" y="337"/>
                    </a:cubicBezTo>
                    <a:cubicBezTo>
                      <a:pt x="349" y="301"/>
                      <a:pt x="286" y="301"/>
                      <a:pt x="223" y="338"/>
                    </a:cubicBezTo>
                    <a:cubicBezTo>
                      <a:pt x="216" y="342"/>
                      <a:pt x="210" y="345"/>
                      <a:pt x="202" y="344"/>
                    </a:cubicBezTo>
                    <a:cubicBezTo>
                      <a:pt x="153" y="334"/>
                      <a:pt x="104" y="322"/>
                      <a:pt x="61" y="295"/>
                    </a:cubicBezTo>
                    <a:cubicBezTo>
                      <a:pt x="24" y="272"/>
                      <a:pt x="0" y="242"/>
                      <a:pt x="5" y="195"/>
                    </a:cubicBezTo>
                    <a:cubicBezTo>
                      <a:pt x="7" y="182"/>
                      <a:pt x="7" y="167"/>
                      <a:pt x="5" y="153"/>
                    </a:cubicBezTo>
                    <a:cubicBezTo>
                      <a:pt x="1" y="112"/>
                      <a:pt x="22" y="84"/>
                      <a:pt x="54" y="62"/>
                    </a:cubicBezTo>
                    <a:cubicBezTo>
                      <a:pt x="99" y="31"/>
                      <a:pt x="151" y="18"/>
                      <a:pt x="204" y="9"/>
                    </a:cubicBezTo>
                    <a:cubicBezTo>
                      <a:pt x="242" y="3"/>
                      <a:pt x="280" y="0"/>
                      <a:pt x="319" y="0"/>
                    </a:cubicBezTo>
                    <a:close/>
                  </a:path>
                </a:pathLst>
              </a:custGeom>
              <a:solidFill>
                <a:srgbClr val="A5A5A5"/>
              </a:solidFill>
              <a:ln>
                <a:noFill/>
              </a:ln>
            </p:spPr>
            <p:txBody>
              <a:bodyPr spcFirstLastPara="1" wrap="square" lIns="91400" tIns="45700" rIns="914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200"/>
                  <a:buFont typeface="Open Sans"/>
                  <a:buNone/>
                </a:pPr>
                <a:endParaRPr sz="2200" b="0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569" name="Google Shape;569;p23"/>
              <p:cNvSpPr/>
              <p:nvPr/>
            </p:nvSpPr>
            <p:spPr>
              <a:xfrm>
                <a:off x="7678738" y="3470276"/>
                <a:ext cx="876299" cy="328613"/>
              </a:xfrm>
              <a:custGeom>
                <a:avLst/>
                <a:gdLst/>
                <a:ahLst/>
                <a:cxnLst/>
                <a:rect l="l" t="t" r="r" b="b"/>
                <a:pathLst>
                  <a:path w="630" h="237" extrusionOk="0">
                    <a:moveTo>
                      <a:pt x="2" y="0"/>
                    </a:moveTo>
                    <a:cubicBezTo>
                      <a:pt x="36" y="52"/>
                      <a:pt x="86" y="73"/>
                      <a:pt x="139" y="89"/>
                    </a:cubicBezTo>
                    <a:cubicBezTo>
                      <a:pt x="150" y="92"/>
                      <a:pt x="157" y="97"/>
                      <a:pt x="163" y="107"/>
                    </a:cubicBezTo>
                    <a:cubicBezTo>
                      <a:pt x="234" y="222"/>
                      <a:pt x="396" y="221"/>
                      <a:pt x="467" y="106"/>
                    </a:cubicBezTo>
                    <a:cubicBezTo>
                      <a:pt x="473" y="97"/>
                      <a:pt x="479" y="92"/>
                      <a:pt x="490" y="89"/>
                    </a:cubicBezTo>
                    <a:cubicBezTo>
                      <a:pt x="506" y="84"/>
                      <a:pt x="523" y="78"/>
                      <a:pt x="538" y="71"/>
                    </a:cubicBezTo>
                    <a:cubicBezTo>
                      <a:pt x="573" y="56"/>
                      <a:pt x="603" y="35"/>
                      <a:pt x="621" y="0"/>
                    </a:cubicBezTo>
                    <a:cubicBezTo>
                      <a:pt x="629" y="4"/>
                      <a:pt x="627" y="11"/>
                      <a:pt x="627" y="16"/>
                    </a:cubicBezTo>
                    <a:cubicBezTo>
                      <a:pt x="627" y="37"/>
                      <a:pt x="626" y="59"/>
                      <a:pt x="627" y="80"/>
                    </a:cubicBezTo>
                    <a:cubicBezTo>
                      <a:pt x="630" y="117"/>
                      <a:pt x="612" y="144"/>
                      <a:pt x="584" y="165"/>
                    </a:cubicBezTo>
                    <a:cubicBezTo>
                      <a:pt x="545" y="192"/>
                      <a:pt x="501" y="207"/>
                      <a:pt x="455" y="216"/>
                    </a:cubicBezTo>
                    <a:cubicBezTo>
                      <a:pt x="348" y="237"/>
                      <a:pt x="242" y="236"/>
                      <a:pt x="136" y="207"/>
                    </a:cubicBezTo>
                    <a:cubicBezTo>
                      <a:pt x="104" y="198"/>
                      <a:pt x="74" y="185"/>
                      <a:pt x="46" y="165"/>
                    </a:cubicBezTo>
                    <a:cubicBezTo>
                      <a:pt x="17" y="144"/>
                      <a:pt x="0" y="117"/>
                      <a:pt x="2" y="79"/>
                    </a:cubicBezTo>
                    <a:cubicBezTo>
                      <a:pt x="4" y="53"/>
                      <a:pt x="2" y="27"/>
                      <a:pt x="2" y="0"/>
                    </a:cubicBezTo>
                    <a:close/>
                  </a:path>
                </a:pathLst>
              </a:custGeom>
              <a:solidFill>
                <a:srgbClr val="A5A5A5"/>
              </a:solidFill>
              <a:ln>
                <a:noFill/>
              </a:ln>
            </p:spPr>
            <p:txBody>
              <a:bodyPr spcFirstLastPara="1" wrap="square" lIns="91400" tIns="45700" rIns="914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200"/>
                  <a:buFont typeface="Open Sans"/>
                  <a:buNone/>
                </a:pPr>
                <a:endParaRPr sz="2200" b="0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570" name="Google Shape;570;p23"/>
              <p:cNvSpPr/>
              <p:nvPr/>
            </p:nvSpPr>
            <p:spPr>
              <a:xfrm>
                <a:off x="7924800" y="3298826"/>
                <a:ext cx="382587" cy="385763"/>
              </a:xfrm>
              <a:custGeom>
                <a:avLst/>
                <a:gdLst/>
                <a:ahLst/>
                <a:cxnLst/>
                <a:rect l="l" t="t" r="r" b="b"/>
                <a:pathLst>
                  <a:path w="275" h="277" extrusionOk="0">
                    <a:moveTo>
                      <a:pt x="81" y="226"/>
                    </a:moveTo>
                    <a:cubicBezTo>
                      <a:pt x="74" y="227"/>
                      <a:pt x="70" y="233"/>
                      <a:pt x="64" y="236"/>
                    </a:cubicBezTo>
                    <a:cubicBezTo>
                      <a:pt x="58" y="240"/>
                      <a:pt x="54" y="248"/>
                      <a:pt x="46" y="240"/>
                    </a:cubicBezTo>
                    <a:cubicBezTo>
                      <a:pt x="39" y="232"/>
                      <a:pt x="29" y="227"/>
                      <a:pt x="35" y="215"/>
                    </a:cubicBezTo>
                    <a:cubicBezTo>
                      <a:pt x="37" y="211"/>
                      <a:pt x="38" y="207"/>
                      <a:pt x="39" y="203"/>
                    </a:cubicBezTo>
                    <a:cubicBezTo>
                      <a:pt x="47" y="179"/>
                      <a:pt x="41" y="166"/>
                      <a:pt x="17" y="157"/>
                    </a:cubicBezTo>
                    <a:cubicBezTo>
                      <a:pt x="6" y="154"/>
                      <a:pt x="0" y="149"/>
                      <a:pt x="0" y="135"/>
                    </a:cubicBezTo>
                    <a:cubicBezTo>
                      <a:pt x="0" y="121"/>
                      <a:pt x="10" y="121"/>
                      <a:pt x="18" y="119"/>
                    </a:cubicBezTo>
                    <a:cubicBezTo>
                      <a:pt x="39" y="113"/>
                      <a:pt x="45" y="101"/>
                      <a:pt x="39" y="81"/>
                    </a:cubicBezTo>
                    <a:cubicBezTo>
                      <a:pt x="37" y="75"/>
                      <a:pt x="36" y="70"/>
                      <a:pt x="34" y="65"/>
                    </a:cubicBezTo>
                    <a:cubicBezTo>
                      <a:pt x="27" y="54"/>
                      <a:pt x="33" y="47"/>
                      <a:pt x="40" y="39"/>
                    </a:cubicBezTo>
                    <a:cubicBezTo>
                      <a:pt x="48" y="31"/>
                      <a:pt x="55" y="35"/>
                      <a:pt x="63" y="38"/>
                    </a:cubicBezTo>
                    <a:cubicBezTo>
                      <a:pt x="89" y="50"/>
                      <a:pt x="104" y="44"/>
                      <a:pt x="115" y="18"/>
                    </a:cubicBezTo>
                    <a:cubicBezTo>
                      <a:pt x="120" y="7"/>
                      <a:pt x="125" y="0"/>
                      <a:pt x="139" y="0"/>
                    </a:cubicBezTo>
                    <a:cubicBezTo>
                      <a:pt x="154" y="1"/>
                      <a:pt x="154" y="11"/>
                      <a:pt x="157" y="20"/>
                    </a:cubicBezTo>
                    <a:cubicBezTo>
                      <a:pt x="165" y="43"/>
                      <a:pt x="179" y="48"/>
                      <a:pt x="202" y="39"/>
                    </a:cubicBezTo>
                    <a:cubicBezTo>
                      <a:pt x="212" y="35"/>
                      <a:pt x="222" y="24"/>
                      <a:pt x="234" y="38"/>
                    </a:cubicBezTo>
                    <a:cubicBezTo>
                      <a:pt x="240" y="46"/>
                      <a:pt x="243" y="52"/>
                      <a:pt x="239" y="62"/>
                    </a:cubicBezTo>
                    <a:cubicBezTo>
                      <a:pt x="227" y="96"/>
                      <a:pt x="230" y="104"/>
                      <a:pt x="264" y="120"/>
                    </a:cubicBezTo>
                    <a:cubicBezTo>
                      <a:pt x="274" y="124"/>
                      <a:pt x="275" y="130"/>
                      <a:pt x="275" y="138"/>
                    </a:cubicBezTo>
                    <a:cubicBezTo>
                      <a:pt x="275" y="148"/>
                      <a:pt x="272" y="153"/>
                      <a:pt x="263" y="156"/>
                    </a:cubicBezTo>
                    <a:cubicBezTo>
                      <a:pt x="254" y="159"/>
                      <a:pt x="244" y="160"/>
                      <a:pt x="238" y="168"/>
                    </a:cubicBezTo>
                    <a:cubicBezTo>
                      <a:pt x="228" y="181"/>
                      <a:pt x="229" y="195"/>
                      <a:pt x="238" y="208"/>
                    </a:cubicBezTo>
                    <a:cubicBezTo>
                      <a:pt x="244" y="217"/>
                      <a:pt x="245" y="225"/>
                      <a:pt x="236" y="234"/>
                    </a:cubicBezTo>
                    <a:cubicBezTo>
                      <a:pt x="227" y="244"/>
                      <a:pt x="220" y="242"/>
                      <a:pt x="210" y="238"/>
                    </a:cubicBezTo>
                    <a:cubicBezTo>
                      <a:pt x="180" y="226"/>
                      <a:pt x="169" y="231"/>
                      <a:pt x="157" y="263"/>
                    </a:cubicBezTo>
                    <a:cubicBezTo>
                      <a:pt x="154" y="271"/>
                      <a:pt x="151" y="277"/>
                      <a:pt x="140" y="276"/>
                    </a:cubicBezTo>
                    <a:cubicBezTo>
                      <a:pt x="131" y="276"/>
                      <a:pt x="123" y="276"/>
                      <a:pt x="117" y="265"/>
                    </a:cubicBezTo>
                    <a:cubicBezTo>
                      <a:pt x="111" y="252"/>
                      <a:pt x="108" y="235"/>
                      <a:pt x="90" y="230"/>
                    </a:cubicBezTo>
                    <a:cubicBezTo>
                      <a:pt x="87" y="229"/>
                      <a:pt x="84" y="228"/>
                      <a:pt x="81" y="226"/>
                    </a:cubicBezTo>
                    <a:close/>
                    <a:moveTo>
                      <a:pt x="77" y="138"/>
                    </a:moveTo>
                    <a:cubicBezTo>
                      <a:pt x="77" y="171"/>
                      <a:pt x="104" y="198"/>
                      <a:pt x="137" y="199"/>
                    </a:cubicBezTo>
                    <a:cubicBezTo>
                      <a:pt x="170" y="199"/>
                      <a:pt x="198" y="172"/>
                      <a:pt x="198" y="138"/>
                    </a:cubicBezTo>
                    <a:cubicBezTo>
                      <a:pt x="198" y="105"/>
                      <a:pt x="170" y="77"/>
                      <a:pt x="137" y="78"/>
                    </a:cubicBezTo>
                    <a:cubicBezTo>
                      <a:pt x="104" y="78"/>
                      <a:pt x="77" y="105"/>
                      <a:pt x="77" y="138"/>
                    </a:cubicBezTo>
                    <a:close/>
                  </a:path>
                </a:pathLst>
              </a:custGeom>
              <a:solidFill>
                <a:srgbClr val="A5A5A5"/>
              </a:solidFill>
              <a:ln>
                <a:noFill/>
              </a:ln>
            </p:spPr>
            <p:txBody>
              <a:bodyPr spcFirstLastPara="1" wrap="square" lIns="91400" tIns="45700" rIns="914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200"/>
                  <a:buFont typeface="Open Sans"/>
                  <a:buNone/>
                </a:pPr>
                <a:endParaRPr sz="2200" b="0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571" name="Google Shape;571;p23"/>
              <p:cNvSpPr/>
              <p:nvPr/>
            </p:nvSpPr>
            <p:spPr>
              <a:xfrm>
                <a:off x="8326438" y="3222626"/>
                <a:ext cx="239712" cy="292100"/>
              </a:xfrm>
              <a:custGeom>
                <a:avLst/>
                <a:gdLst/>
                <a:ahLst/>
                <a:cxnLst/>
                <a:rect l="l" t="t" r="r" b="b"/>
                <a:pathLst>
                  <a:path w="172" h="210" extrusionOk="0">
                    <a:moveTo>
                      <a:pt x="157" y="0"/>
                    </a:moveTo>
                    <a:cubicBezTo>
                      <a:pt x="164" y="19"/>
                      <a:pt x="159" y="37"/>
                      <a:pt x="161" y="53"/>
                    </a:cubicBezTo>
                    <a:cubicBezTo>
                      <a:pt x="172" y="149"/>
                      <a:pt x="115" y="178"/>
                      <a:pt x="36" y="207"/>
                    </a:cubicBezTo>
                    <a:cubicBezTo>
                      <a:pt x="29" y="210"/>
                      <a:pt x="25" y="208"/>
                      <a:pt x="26" y="199"/>
                    </a:cubicBezTo>
                    <a:cubicBezTo>
                      <a:pt x="27" y="166"/>
                      <a:pt x="20" y="136"/>
                      <a:pt x="4" y="107"/>
                    </a:cubicBezTo>
                    <a:cubicBezTo>
                      <a:pt x="0" y="100"/>
                      <a:pt x="2" y="98"/>
                      <a:pt x="9" y="96"/>
                    </a:cubicBezTo>
                    <a:cubicBezTo>
                      <a:pt x="16" y="95"/>
                      <a:pt x="22" y="92"/>
                      <a:pt x="28" y="90"/>
                    </a:cubicBezTo>
                    <a:cubicBezTo>
                      <a:pt x="80" y="74"/>
                      <a:pt x="128" y="53"/>
                      <a:pt x="157" y="0"/>
                    </a:cubicBezTo>
                    <a:close/>
                  </a:path>
                </a:pathLst>
              </a:custGeom>
              <a:solidFill>
                <a:srgbClr val="A5A5A5"/>
              </a:solidFill>
              <a:ln>
                <a:noFill/>
              </a:ln>
            </p:spPr>
            <p:txBody>
              <a:bodyPr spcFirstLastPara="1" wrap="square" lIns="91400" tIns="45700" rIns="914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200"/>
                  <a:buFont typeface="Open Sans"/>
                  <a:buNone/>
                </a:pPr>
                <a:endParaRPr sz="2200" b="0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572" name="Google Shape;572;p23"/>
              <p:cNvSpPr/>
              <p:nvPr/>
            </p:nvSpPr>
            <p:spPr>
              <a:xfrm>
                <a:off x="7678738" y="3227388"/>
                <a:ext cx="227012" cy="287338"/>
              </a:xfrm>
              <a:custGeom>
                <a:avLst/>
                <a:gdLst/>
                <a:ahLst/>
                <a:cxnLst/>
                <a:rect l="l" t="t" r="r" b="b"/>
                <a:pathLst>
                  <a:path w="163" h="207" extrusionOk="0">
                    <a:moveTo>
                      <a:pt x="163" y="96"/>
                    </a:moveTo>
                    <a:cubicBezTo>
                      <a:pt x="145" y="128"/>
                      <a:pt x="136" y="160"/>
                      <a:pt x="137" y="194"/>
                    </a:cubicBezTo>
                    <a:cubicBezTo>
                      <a:pt x="138" y="203"/>
                      <a:pt x="136" y="207"/>
                      <a:pt x="125" y="203"/>
                    </a:cubicBezTo>
                    <a:cubicBezTo>
                      <a:pt x="96" y="193"/>
                      <a:pt x="68" y="181"/>
                      <a:pt x="43" y="162"/>
                    </a:cubicBezTo>
                    <a:cubicBezTo>
                      <a:pt x="16" y="141"/>
                      <a:pt x="0" y="115"/>
                      <a:pt x="2" y="79"/>
                    </a:cubicBezTo>
                    <a:cubicBezTo>
                      <a:pt x="4" y="52"/>
                      <a:pt x="2" y="26"/>
                      <a:pt x="5" y="0"/>
                    </a:cubicBezTo>
                    <a:cubicBezTo>
                      <a:pt x="41" y="59"/>
                      <a:pt x="101" y="78"/>
                      <a:pt x="163" y="96"/>
                    </a:cubicBezTo>
                    <a:close/>
                  </a:path>
                </a:pathLst>
              </a:custGeom>
              <a:solidFill>
                <a:srgbClr val="A5A5A5"/>
              </a:solidFill>
              <a:ln>
                <a:noFill/>
              </a:ln>
            </p:spPr>
            <p:txBody>
              <a:bodyPr spcFirstLastPara="1" wrap="square" lIns="91400" tIns="45700" rIns="914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200"/>
                  <a:buFont typeface="Open Sans"/>
                  <a:buNone/>
                </a:pPr>
                <a:endParaRPr sz="2200" b="0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sp>
        <p:nvSpPr>
          <p:cNvPr id="573" name="Google Shape;573;p23"/>
          <p:cNvSpPr/>
          <p:nvPr/>
        </p:nvSpPr>
        <p:spPr>
          <a:xfrm>
            <a:off x="5055877" y="816324"/>
            <a:ext cx="6156000" cy="3810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25000">
                <a:srgbClr val="3645A9"/>
              </a:gs>
              <a:gs pos="50000">
                <a:srgbClr val="3645A9"/>
              </a:gs>
              <a:gs pos="75000">
                <a:srgbClr val="3645A9"/>
              </a:gs>
              <a:gs pos="100000">
                <a:srgbClr val="FFFFFF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24"/>
          <p:cNvSpPr txBox="1">
            <a:spLocks noGrp="1"/>
          </p:cNvSpPr>
          <p:nvPr>
            <p:ph type="body" idx="1"/>
          </p:nvPr>
        </p:nvSpPr>
        <p:spPr>
          <a:xfrm>
            <a:off x="0" y="4114800"/>
            <a:ext cx="16256001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/>
              <a:t>TF-IDF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25"/>
          <p:cNvSpPr/>
          <p:nvPr/>
        </p:nvSpPr>
        <p:spPr>
          <a:xfrm>
            <a:off x="2394885" y="3340910"/>
            <a:ext cx="11466229" cy="388112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rgbClr val="28B2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84" name="Google Shape;584;p25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</a:pPr>
            <a:r>
              <a:rPr lang="en-US">
                <a:latin typeface="Open Sans"/>
                <a:ea typeface="Open Sans"/>
                <a:cs typeface="Open Sans"/>
                <a:sym typeface="Open Sans"/>
              </a:rPr>
              <a:t>TF-IDF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85" name="Google Shape;585;p25"/>
          <p:cNvSpPr txBox="1">
            <a:spLocks noGrp="1"/>
          </p:cNvSpPr>
          <p:nvPr>
            <p:ph type="body" idx="1"/>
          </p:nvPr>
        </p:nvSpPr>
        <p:spPr>
          <a:xfrm>
            <a:off x="1291857" y="1512833"/>
            <a:ext cx="13696999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b="0" i="0" u="none" strike="noStrike" cap="none">
                <a:latin typeface="Open Sans"/>
                <a:ea typeface="Open Sans"/>
                <a:cs typeface="Open Sans"/>
                <a:sym typeface="Open Sans"/>
              </a:rPr>
              <a:t>Bag-of-Words assumes that each word is equally important. However, in real-world scenario, each word has its own weight based on the context.</a:t>
            </a:r>
            <a:endParaRPr/>
          </a:p>
        </p:txBody>
      </p:sp>
      <p:sp>
        <p:nvSpPr>
          <p:cNvPr id="586" name="Google Shape;586;p25"/>
          <p:cNvSpPr txBox="1"/>
          <p:nvPr/>
        </p:nvSpPr>
        <p:spPr>
          <a:xfrm>
            <a:off x="3695141" y="4218524"/>
            <a:ext cx="9604084" cy="86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For instance, the term </a:t>
            </a:r>
            <a:r>
              <a:rPr lang="en-US" sz="2200" b="1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cost</a:t>
            </a:r>
            <a:r>
              <a:rPr lang="en-US" sz="2200" b="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 might occur more frequently in an economy related document.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87" name="Google Shape;587;p25"/>
          <p:cNvSpPr txBox="1"/>
          <p:nvPr/>
        </p:nvSpPr>
        <p:spPr>
          <a:xfrm>
            <a:off x="3695140" y="5429416"/>
            <a:ext cx="9604083" cy="86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In such cases, TF-IDF is more helpful as it </a:t>
            </a:r>
            <a:r>
              <a:rPr lang="en-US" sz="2200" b="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assigns weights to the words based on their relevance in the document.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588" name="Google Shape;588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95050" y="4218524"/>
            <a:ext cx="431800" cy="44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9" name="Google Shape;589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95050" y="5605588"/>
            <a:ext cx="431800" cy="444500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25"/>
          <p:cNvSpPr/>
          <p:nvPr/>
        </p:nvSpPr>
        <p:spPr>
          <a:xfrm>
            <a:off x="7472990" y="816324"/>
            <a:ext cx="1314465" cy="3810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25000">
                <a:srgbClr val="3645A9"/>
              </a:gs>
              <a:gs pos="50000">
                <a:srgbClr val="3645A9"/>
              </a:gs>
              <a:gs pos="75000">
                <a:srgbClr val="3645A9"/>
              </a:gs>
              <a:gs pos="100000">
                <a:srgbClr val="FFFFFF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26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</a:pPr>
            <a:r>
              <a:rPr lang="en-US">
                <a:latin typeface="Open Sans"/>
                <a:ea typeface="Open Sans"/>
                <a:cs typeface="Open Sans"/>
                <a:sym typeface="Open Sans"/>
              </a:rPr>
              <a:t>TF-IDF</a:t>
            </a:r>
            <a:endParaRPr/>
          </a:p>
        </p:txBody>
      </p:sp>
      <p:sp>
        <p:nvSpPr>
          <p:cNvPr id="596" name="Google Shape;596;p26"/>
          <p:cNvSpPr txBox="1">
            <a:spLocks noGrp="1"/>
          </p:cNvSpPr>
          <p:nvPr>
            <p:ph type="body" idx="1"/>
          </p:nvPr>
        </p:nvSpPr>
        <p:spPr>
          <a:xfrm>
            <a:off x="1291857" y="1512833"/>
            <a:ext cx="13696999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</a:pPr>
            <a:r>
              <a:rPr lang="en-US" b="0" i="0" u="none" strike="noStrike" cap="none">
                <a:latin typeface="Open Sans"/>
                <a:ea typeface="Open Sans"/>
                <a:cs typeface="Open Sans"/>
                <a:sym typeface="Open Sans"/>
              </a:rPr>
              <a:t>Term Frequency-Inverse Document Frequency or TF-IDF, is a numerical statistic that reflects the importance of a word in a document relative to a collection of documents. </a:t>
            </a:r>
            <a:endParaRPr/>
          </a:p>
        </p:txBody>
      </p:sp>
      <p:sp>
        <p:nvSpPr>
          <p:cNvPr id="597" name="Google Shape;597;p26"/>
          <p:cNvSpPr txBox="1"/>
          <p:nvPr/>
        </p:nvSpPr>
        <p:spPr>
          <a:xfrm>
            <a:off x="1291857" y="6028356"/>
            <a:ext cx="4832027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Measures how often a term (word) appears in a document</a:t>
            </a:r>
            <a:endParaRPr/>
          </a:p>
        </p:txBody>
      </p:sp>
      <p:sp>
        <p:nvSpPr>
          <p:cNvPr id="598" name="Google Shape;598;p26"/>
          <p:cNvSpPr txBox="1"/>
          <p:nvPr/>
        </p:nvSpPr>
        <p:spPr>
          <a:xfrm>
            <a:off x="10458528" y="5842820"/>
            <a:ext cx="4832028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Measures how important a term is across a collection of documents</a:t>
            </a:r>
            <a:endParaRPr/>
          </a:p>
        </p:txBody>
      </p:sp>
      <p:grpSp>
        <p:nvGrpSpPr>
          <p:cNvPr id="599" name="Google Shape;599;p26"/>
          <p:cNvGrpSpPr/>
          <p:nvPr/>
        </p:nvGrpSpPr>
        <p:grpSpPr>
          <a:xfrm>
            <a:off x="5583870" y="3675352"/>
            <a:ext cx="5088259" cy="2769714"/>
            <a:chOff x="4043040" y="2507456"/>
            <a:chExt cx="4091632" cy="2249488"/>
          </a:xfrm>
        </p:grpSpPr>
        <p:sp>
          <p:nvSpPr>
            <p:cNvPr id="600" name="Google Shape;600;p26"/>
            <p:cNvSpPr/>
            <p:nvPr/>
          </p:nvSpPr>
          <p:spPr>
            <a:xfrm>
              <a:off x="7456809" y="3566716"/>
              <a:ext cx="677863" cy="131763"/>
            </a:xfrm>
            <a:custGeom>
              <a:avLst/>
              <a:gdLst/>
              <a:ahLst/>
              <a:cxnLst/>
              <a:rect l="l" t="t" r="r" b="b"/>
              <a:pathLst>
                <a:path w="427" h="83" extrusionOk="0">
                  <a:moveTo>
                    <a:pt x="42" y="0"/>
                  </a:moveTo>
                  <a:lnTo>
                    <a:pt x="61" y="3"/>
                  </a:lnTo>
                  <a:lnTo>
                    <a:pt x="74" y="15"/>
                  </a:lnTo>
                  <a:lnTo>
                    <a:pt x="82" y="32"/>
                  </a:lnTo>
                  <a:lnTo>
                    <a:pt x="344" y="32"/>
                  </a:lnTo>
                  <a:lnTo>
                    <a:pt x="352" y="15"/>
                  </a:lnTo>
                  <a:lnTo>
                    <a:pt x="367" y="3"/>
                  </a:lnTo>
                  <a:lnTo>
                    <a:pt x="385" y="0"/>
                  </a:lnTo>
                  <a:lnTo>
                    <a:pt x="402" y="3"/>
                  </a:lnTo>
                  <a:lnTo>
                    <a:pt x="415" y="12"/>
                  </a:lnTo>
                  <a:lnTo>
                    <a:pt x="423" y="25"/>
                  </a:lnTo>
                  <a:lnTo>
                    <a:pt x="427" y="41"/>
                  </a:lnTo>
                  <a:lnTo>
                    <a:pt x="423" y="58"/>
                  </a:lnTo>
                  <a:lnTo>
                    <a:pt x="415" y="71"/>
                  </a:lnTo>
                  <a:lnTo>
                    <a:pt x="402" y="79"/>
                  </a:lnTo>
                  <a:lnTo>
                    <a:pt x="385" y="83"/>
                  </a:lnTo>
                  <a:lnTo>
                    <a:pt x="367" y="79"/>
                  </a:lnTo>
                  <a:lnTo>
                    <a:pt x="352" y="68"/>
                  </a:lnTo>
                  <a:lnTo>
                    <a:pt x="344" y="51"/>
                  </a:lnTo>
                  <a:lnTo>
                    <a:pt x="82" y="51"/>
                  </a:lnTo>
                  <a:lnTo>
                    <a:pt x="74" y="68"/>
                  </a:lnTo>
                  <a:lnTo>
                    <a:pt x="61" y="79"/>
                  </a:lnTo>
                  <a:lnTo>
                    <a:pt x="42" y="83"/>
                  </a:lnTo>
                  <a:lnTo>
                    <a:pt x="26" y="79"/>
                  </a:lnTo>
                  <a:lnTo>
                    <a:pt x="13" y="71"/>
                  </a:lnTo>
                  <a:lnTo>
                    <a:pt x="3" y="58"/>
                  </a:lnTo>
                  <a:lnTo>
                    <a:pt x="0" y="41"/>
                  </a:lnTo>
                  <a:lnTo>
                    <a:pt x="3" y="25"/>
                  </a:lnTo>
                  <a:lnTo>
                    <a:pt x="13" y="12"/>
                  </a:lnTo>
                  <a:lnTo>
                    <a:pt x="26" y="3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FF7B4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50"/>
                <a:buFont typeface="Arial"/>
                <a:buNone/>
              </a:pPr>
              <a:endParaRPr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01" name="Google Shape;601;p26"/>
            <p:cNvSpPr/>
            <p:nvPr/>
          </p:nvSpPr>
          <p:spPr>
            <a:xfrm>
              <a:off x="4043040" y="3566716"/>
              <a:ext cx="677863" cy="131763"/>
            </a:xfrm>
            <a:custGeom>
              <a:avLst/>
              <a:gdLst/>
              <a:ahLst/>
              <a:cxnLst/>
              <a:rect l="l" t="t" r="r" b="b"/>
              <a:pathLst>
                <a:path w="427" h="83" extrusionOk="0">
                  <a:moveTo>
                    <a:pt x="42" y="0"/>
                  </a:moveTo>
                  <a:lnTo>
                    <a:pt x="60" y="3"/>
                  </a:lnTo>
                  <a:lnTo>
                    <a:pt x="74" y="15"/>
                  </a:lnTo>
                  <a:lnTo>
                    <a:pt x="83" y="32"/>
                  </a:lnTo>
                  <a:lnTo>
                    <a:pt x="345" y="32"/>
                  </a:lnTo>
                  <a:lnTo>
                    <a:pt x="353" y="15"/>
                  </a:lnTo>
                  <a:lnTo>
                    <a:pt x="366" y="3"/>
                  </a:lnTo>
                  <a:lnTo>
                    <a:pt x="384" y="0"/>
                  </a:lnTo>
                  <a:lnTo>
                    <a:pt x="401" y="3"/>
                  </a:lnTo>
                  <a:lnTo>
                    <a:pt x="414" y="12"/>
                  </a:lnTo>
                  <a:lnTo>
                    <a:pt x="424" y="25"/>
                  </a:lnTo>
                  <a:lnTo>
                    <a:pt x="427" y="41"/>
                  </a:lnTo>
                  <a:lnTo>
                    <a:pt x="424" y="58"/>
                  </a:lnTo>
                  <a:lnTo>
                    <a:pt x="414" y="71"/>
                  </a:lnTo>
                  <a:lnTo>
                    <a:pt x="401" y="79"/>
                  </a:lnTo>
                  <a:lnTo>
                    <a:pt x="384" y="83"/>
                  </a:lnTo>
                  <a:lnTo>
                    <a:pt x="366" y="79"/>
                  </a:lnTo>
                  <a:lnTo>
                    <a:pt x="353" y="68"/>
                  </a:lnTo>
                  <a:lnTo>
                    <a:pt x="345" y="51"/>
                  </a:lnTo>
                  <a:lnTo>
                    <a:pt x="83" y="51"/>
                  </a:lnTo>
                  <a:lnTo>
                    <a:pt x="74" y="68"/>
                  </a:lnTo>
                  <a:lnTo>
                    <a:pt x="60" y="79"/>
                  </a:lnTo>
                  <a:lnTo>
                    <a:pt x="42" y="83"/>
                  </a:lnTo>
                  <a:lnTo>
                    <a:pt x="25" y="79"/>
                  </a:lnTo>
                  <a:lnTo>
                    <a:pt x="12" y="71"/>
                  </a:lnTo>
                  <a:lnTo>
                    <a:pt x="4" y="58"/>
                  </a:lnTo>
                  <a:lnTo>
                    <a:pt x="0" y="41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5" y="3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41A0A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50"/>
                <a:buFont typeface="Arial"/>
                <a:buNone/>
              </a:pPr>
              <a:endParaRPr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602" name="Google Shape;602;p26"/>
            <p:cNvGrpSpPr/>
            <p:nvPr/>
          </p:nvGrpSpPr>
          <p:grpSpPr>
            <a:xfrm>
              <a:off x="4962526" y="2507456"/>
              <a:ext cx="2255838" cy="2249488"/>
              <a:chOff x="4961731" y="2507456"/>
              <a:chExt cx="2255838" cy="2249488"/>
            </a:xfrm>
          </p:grpSpPr>
          <p:sp>
            <p:nvSpPr>
              <p:cNvPr id="603" name="Google Shape;603;p26"/>
              <p:cNvSpPr/>
              <p:nvPr/>
            </p:nvSpPr>
            <p:spPr>
              <a:xfrm>
                <a:off x="6111081" y="2507456"/>
                <a:ext cx="942975" cy="649288"/>
              </a:xfrm>
              <a:custGeom>
                <a:avLst/>
                <a:gdLst/>
                <a:ahLst/>
                <a:cxnLst/>
                <a:rect l="l" t="t" r="r" b="b"/>
                <a:pathLst>
                  <a:path w="594" h="409" extrusionOk="0">
                    <a:moveTo>
                      <a:pt x="0" y="0"/>
                    </a:moveTo>
                    <a:lnTo>
                      <a:pt x="83" y="5"/>
                    </a:lnTo>
                    <a:lnTo>
                      <a:pt x="162" y="19"/>
                    </a:lnTo>
                    <a:lnTo>
                      <a:pt x="238" y="43"/>
                    </a:lnTo>
                    <a:lnTo>
                      <a:pt x="308" y="74"/>
                    </a:lnTo>
                    <a:lnTo>
                      <a:pt x="376" y="112"/>
                    </a:lnTo>
                    <a:lnTo>
                      <a:pt x="439" y="158"/>
                    </a:lnTo>
                    <a:lnTo>
                      <a:pt x="496" y="212"/>
                    </a:lnTo>
                    <a:lnTo>
                      <a:pt x="547" y="274"/>
                    </a:lnTo>
                    <a:lnTo>
                      <a:pt x="594" y="341"/>
                    </a:lnTo>
                    <a:lnTo>
                      <a:pt x="478" y="409"/>
                    </a:lnTo>
                    <a:lnTo>
                      <a:pt x="437" y="351"/>
                    </a:lnTo>
                    <a:lnTo>
                      <a:pt x="391" y="298"/>
                    </a:lnTo>
                    <a:lnTo>
                      <a:pt x="336" y="252"/>
                    </a:lnTo>
                    <a:lnTo>
                      <a:pt x="279" y="212"/>
                    </a:lnTo>
                    <a:lnTo>
                      <a:pt x="214" y="179"/>
                    </a:lnTo>
                    <a:lnTo>
                      <a:pt x="147" y="155"/>
                    </a:lnTo>
                    <a:lnTo>
                      <a:pt x="76" y="140"/>
                    </a:lnTo>
                    <a:lnTo>
                      <a:pt x="0" y="13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7B4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rm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200"/>
                  <a:buFont typeface="Arial"/>
                  <a:buNone/>
                </a:pPr>
                <a:endParaRPr sz="2200" b="0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604" name="Google Shape;604;p26"/>
              <p:cNvSpPr/>
              <p:nvPr/>
            </p:nvSpPr>
            <p:spPr>
              <a:xfrm>
                <a:off x="6890544" y="3088481"/>
                <a:ext cx="327025" cy="1087438"/>
              </a:xfrm>
              <a:custGeom>
                <a:avLst/>
                <a:gdLst/>
                <a:ahLst/>
                <a:cxnLst/>
                <a:rect l="l" t="t" r="r" b="b"/>
                <a:pathLst>
                  <a:path w="206" h="685" extrusionOk="0">
                    <a:moveTo>
                      <a:pt x="117" y="0"/>
                    </a:moveTo>
                    <a:lnTo>
                      <a:pt x="152" y="74"/>
                    </a:lnTo>
                    <a:lnTo>
                      <a:pt x="180" y="148"/>
                    </a:lnTo>
                    <a:lnTo>
                      <a:pt x="198" y="226"/>
                    </a:lnTo>
                    <a:lnTo>
                      <a:pt x="206" y="304"/>
                    </a:lnTo>
                    <a:lnTo>
                      <a:pt x="206" y="381"/>
                    </a:lnTo>
                    <a:lnTo>
                      <a:pt x="198" y="459"/>
                    </a:lnTo>
                    <a:lnTo>
                      <a:pt x="180" y="536"/>
                    </a:lnTo>
                    <a:lnTo>
                      <a:pt x="152" y="610"/>
                    </a:lnTo>
                    <a:lnTo>
                      <a:pt x="117" y="685"/>
                    </a:lnTo>
                    <a:lnTo>
                      <a:pt x="0" y="619"/>
                    </a:lnTo>
                    <a:lnTo>
                      <a:pt x="30" y="554"/>
                    </a:lnTo>
                    <a:lnTo>
                      <a:pt x="53" y="487"/>
                    </a:lnTo>
                    <a:lnTo>
                      <a:pt x="66" y="416"/>
                    </a:lnTo>
                    <a:lnTo>
                      <a:pt x="71" y="341"/>
                    </a:lnTo>
                    <a:lnTo>
                      <a:pt x="66" y="269"/>
                    </a:lnTo>
                    <a:lnTo>
                      <a:pt x="53" y="198"/>
                    </a:lnTo>
                    <a:lnTo>
                      <a:pt x="30" y="130"/>
                    </a:lnTo>
                    <a:lnTo>
                      <a:pt x="0" y="66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rgbClr val="41A0A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rm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200"/>
                  <a:buFont typeface="Arial"/>
                  <a:buNone/>
                </a:pPr>
                <a:endParaRPr sz="2200" b="0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605" name="Google Shape;605;p26"/>
              <p:cNvSpPr/>
              <p:nvPr/>
            </p:nvSpPr>
            <p:spPr>
              <a:xfrm>
                <a:off x="6111081" y="4107656"/>
                <a:ext cx="942975" cy="649288"/>
              </a:xfrm>
              <a:custGeom>
                <a:avLst/>
                <a:gdLst/>
                <a:ahLst/>
                <a:cxnLst/>
                <a:rect l="l" t="t" r="r" b="b"/>
                <a:pathLst>
                  <a:path w="594" h="409" extrusionOk="0">
                    <a:moveTo>
                      <a:pt x="478" y="0"/>
                    </a:moveTo>
                    <a:lnTo>
                      <a:pt x="594" y="67"/>
                    </a:lnTo>
                    <a:lnTo>
                      <a:pt x="547" y="135"/>
                    </a:lnTo>
                    <a:lnTo>
                      <a:pt x="496" y="196"/>
                    </a:lnTo>
                    <a:lnTo>
                      <a:pt x="439" y="251"/>
                    </a:lnTo>
                    <a:lnTo>
                      <a:pt x="376" y="297"/>
                    </a:lnTo>
                    <a:lnTo>
                      <a:pt x="308" y="335"/>
                    </a:lnTo>
                    <a:lnTo>
                      <a:pt x="238" y="366"/>
                    </a:lnTo>
                    <a:lnTo>
                      <a:pt x="162" y="389"/>
                    </a:lnTo>
                    <a:lnTo>
                      <a:pt x="83" y="404"/>
                    </a:lnTo>
                    <a:lnTo>
                      <a:pt x="0" y="409"/>
                    </a:lnTo>
                    <a:lnTo>
                      <a:pt x="0" y="275"/>
                    </a:lnTo>
                    <a:lnTo>
                      <a:pt x="76" y="269"/>
                    </a:lnTo>
                    <a:lnTo>
                      <a:pt x="147" y="252"/>
                    </a:lnTo>
                    <a:lnTo>
                      <a:pt x="214" y="229"/>
                    </a:lnTo>
                    <a:lnTo>
                      <a:pt x="279" y="196"/>
                    </a:lnTo>
                    <a:lnTo>
                      <a:pt x="336" y="157"/>
                    </a:lnTo>
                    <a:lnTo>
                      <a:pt x="391" y="110"/>
                    </a:lnTo>
                    <a:lnTo>
                      <a:pt x="437" y="58"/>
                    </a:lnTo>
                    <a:lnTo>
                      <a:pt x="478" y="0"/>
                    </a:lnTo>
                    <a:close/>
                  </a:path>
                </a:pathLst>
              </a:custGeom>
              <a:solidFill>
                <a:srgbClr val="FF7B4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rm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200"/>
                  <a:buFont typeface="Arial"/>
                  <a:buNone/>
                </a:pPr>
                <a:endParaRPr sz="2200" b="0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606" name="Google Shape;606;p26"/>
              <p:cNvSpPr/>
              <p:nvPr/>
            </p:nvSpPr>
            <p:spPr>
              <a:xfrm>
                <a:off x="5126831" y="4107656"/>
                <a:ext cx="942975" cy="649288"/>
              </a:xfrm>
              <a:custGeom>
                <a:avLst/>
                <a:gdLst/>
                <a:ahLst/>
                <a:cxnLst/>
                <a:rect l="l" t="t" r="r" b="b"/>
                <a:pathLst>
                  <a:path w="594" h="409" extrusionOk="0">
                    <a:moveTo>
                      <a:pt x="116" y="0"/>
                    </a:moveTo>
                    <a:lnTo>
                      <a:pt x="157" y="58"/>
                    </a:lnTo>
                    <a:lnTo>
                      <a:pt x="205" y="110"/>
                    </a:lnTo>
                    <a:lnTo>
                      <a:pt x="257" y="157"/>
                    </a:lnTo>
                    <a:lnTo>
                      <a:pt x="317" y="196"/>
                    </a:lnTo>
                    <a:lnTo>
                      <a:pt x="379" y="229"/>
                    </a:lnTo>
                    <a:lnTo>
                      <a:pt x="447" y="254"/>
                    </a:lnTo>
                    <a:lnTo>
                      <a:pt x="520" y="269"/>
                    </a:lnTo>
                    <a:lnTo>
                      <a:pt x="594" y="275"/>
                    </a:lnTo>
                    <a:lnTo>
                      <a:pt x="594" y="409"/>
                    </a:lnTo>
                    <a:lnTo>
                      <a:pt x="511" y="404"/>
                    </a:lnTo>
                    <a:lnTo>
                      <a:pt x="432" y="389"/>
                    </a:lnTo>
                    <a:lnTo>
                      <a:pt x="358" y="366"/>
                    </a:lnTo>
                    <a:lnTo>
                      <a:pt x="285" y="335"/>
                    </a:lnTo>
                    <a:lnTo>
                      <a:pt x="218" y="297"/>
                    </a:lnTo>
                    <a:lnTo>
                      <a:pt x="155" y="251"/>
                    </a:lnTo>
                    <a:lnTo>
                      <a:pt x="98" y="196"/>
                    </a:lnTo>
                    <a:lnTo>
                      <a:pt x="46" y="135"/>
                    </a:lnTo>
                    <a:lnTo>
                      <a:pt x="0" y="67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rgbClr val="41A0A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rm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200"/>
                  <a:buFont typeface="Arial"/>
                  <a:buNone/>
                </a:pPr>
                <a:endParaRPr sz="2200" b="0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607" name="Google Shape;607;p26"/>
              <p:cNvSpPr/>
              <p:nvPr/>
            </p:nvSpPr>
            <p:spPr>
              <a:xfrm>
                <a:off x="4961731" y="3088481"/>
                <a:ext cx="328613" cy="1087438"/>
              </a:xfrm>
              <a:custGeom>
                <a:avLst/>
                <a:gdLst/>
                <a:ahLst/>
                <a:cxnLst/>
                <a:rect l="l" t="t" r="r" b="b"/>
                <a:pathLst>
                  <a:path w="207" h="685" extrusionOk="0">
                    <a:moveTo>
                      <a:pt x="91" y="0"/>
                    </a:moveTo>
                    <a:lnTo>
                      <a:pt x="207" y="66"/>
                    </a:lnTo>
                    <a:lnTo>
                      <a:pt x="177" y="130"/>
                    </a:lnTo>
                    <a:lnTo>
                      <a:pt x="155" y="198"/>
                    </a:lnTo>
                    <a:lnTo>
                      <a:pt x="141" y="269"/>
                    </a:lnTo>
                    <a:lnTo>
                      <a:pt x="137" y="341"/>
                    </a:lnTo>
                    <a:lnTo>
                      <a:pt x="141" y="416"/>
                    </a:lnTo>
                    <a:lnTo>
                      <a:pt x="155" y="487"/>
                    </a:lnTo>
                    <a:lnTo>
                      <a:pt x="177" y="554"/>
                    </a:lnTo>
                    <a:lnTo>
                      <a:pt x="207" y="619"/>
                    </a:lnTo>
                    <a:lnTo>
                      <a:pt x="91" y="685"/>
                    </a:lnTo>
                    <a:lnTo>
                      <a:pt x="55" y="610"/>
                    </a:lnTo>
                    <a:lnTo>
                      <a:pt x="28" y="536"/>
                    </a:lnTo>
                    <a:lnTo>
                      <a:pt x="10" y="459"/>
                    </a:lnTo>
                    <a:lnTo>
                      <a:pt x="0" y="381"/>
                    </a:lnTo>
                    <a:lnTo>
                      <a:pt x="0" y="304"/>
                    </a:lnTo>
                    <a:lnTo>
                      <a:pt x="10" y="226"/>
                    </a:lnTo>
                    <a:lnTo>
                      <a:pt x="28" y="148"/>
                    </a:lnTo>
                    <a:lnTo>
                      <a:pt x="55" y="74"/>
                    </a:lnTo>
                    <a:lnTo>
                      <a:pt x="91" y="0"/>
                    </a:lnTo>
                    <a:close/>
                  </a:path>
                </a:pathLst>
              </a:custGeom>
              <a:solidFill>
                <a:srgbClr val="FF7B4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rm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200"/>
                  <a:buFont typeface="Arial"/>
                  <a:buNone/>
                </a:pPr>
                <a:endParaRPr sz="2200" b="0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608" name="Google Shape;608;p26"/>
              <p:cNvSpPr/>
              <p:nvPr/>
            </p:nvSpPr>
            <p:spPr>
              <a:xfrm>
                <a:off x="5126831" y="2507456"/>
                <a:ext cx="942975" cy="649288"/>
              </a:xfrm>
              <a:custGeom>
                <a:avLst/>
                <a:gdLst/>
                <a:ahLst/>
                <a:cxnLst/>
                <a:rect l="l" t="t" r="r" b="b"/>
                <a:pathLst>
                  <a:path w="594" h="409" extrusionOk="0">
                    <a:moveTo>
                      <a:pt x="594" y="0"/>
                    </a:moveTo>
                    <a:lnTo>
                      <a:pt x="594" y="133"/>
                    </a:lnTo>
                    <a:lnTo>
                      <a:pt x="520" y="140"/>
                    </a:lnTo>
                    <a:lnTo>
                      <a:pt x="447" y="155"/>
                    </a:lnTo>
                    <a:lnTo>
                      <a:pt x="379" y="179"/>
                    </a:lnTo>
                    <a:lnTo>
                      <a:pt x="317" y="212"/>
                    </a:lnTo>
                    <a:lnTo>
                      <a:pt x="257" y="252"/>
                    </a:lnTo>
                    <a:lnTo>
                      <a:pt x="205" y="298"/>
                    </a:lnTo>
                    <a:lnTo>
                      <a:pt x="157" y="351"/>
                    </a:lnTo>
                    <a:lnTo>
                      <a:pt x="116" y="409"/>
                    </a:lnTo>
                    <a:lnTo>
                      <a:pt x="0" y="341"/>
                    </a:lnTo>
                    <a:lnTo>
                      <a:pt x="46" y="274"/>
                    </a:lnTo>
                    <a:lnTo>
                      <a:pt x="98" y="212"/>
                    </a:lnTo>
                    <a:lnTo>
                      <a:pt x="155" y="158"/>
                    </a:lnTo>
                    <a:lnTo>
                      <a:pt x="218" y="112"/>
                    </a:lnTo>
                    <a:lnTo>
                      <a:pt x="285" y="74"/>
                    </a:lnTo>
                    <a:lnTo>
                      <a:pt x="358" y="43"/>
                    </a:lnTo>
                    <a:lnTo>
                      <a:pt x="432" y="19"/>
                    </a:lnTo>
                    <a:lnTo>
                      <a:pt x="511" y="5"/>
                    </a:lnTo>
                    <a:lnTo>
                      <a:pt x="594" y="0"/>
                    </a:lnTo>
                    <a:close/>
                  </a:path>
                </a:pathLst>
              </a:custGeom>
              <a:solidFill>
                <a:srgbClr val="41A0A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rm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200"/>
                  <a:buFont typeface="Arial"/>
                  <a:buNone/>
                </a:pPr>
                <a:endParaRPr sz="2200" b="0" i="0" u="none" strike="noStrike" cap="none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sp>
        <p:nvSpPr>
          <p:cNvPr id="609" name="Google Shape;609;p26"/>
          <p:cNvSpPr/>
          <p:nvPr/>
        </p:nvSpPr>
        <p:spPr>
          <a:xfrm>
            <a:off x="1967156" y="4675216"/>
            <a:ext cx="3190747" cy="842019"/>
          </a:xfrm>
          <a:prstGeom prst="roundRect">
            <a:avLst>
              <a:gd name="adj" fmla="val 8201"/>
            </a:avLst>
          </a:prstGeom>
          <a:solidFill>
            <a:schemeClr val="accent6">
              <a:lumMod val="60000"/>
              <a:lumOff val="40000"/>
              <a:alpha val="72549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Term Frequency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10" name="Google Shape;610;p26"/>
          <p:cNvSpPr/>
          <p:nvPr/>
        </p:nvSpPr>
        <p:spPr>
          <a:xfrm>
            <a:off x="11030999" y="4720806"/>
            <a:ext cx="3190747" cy="842019"/>
          </a:xfrm>
          <a:prstGeom prst="roundRect">
            <a:avLst>
              <a:gd name="adj" fmla="val 8201"/>
            </a:avLst>
          </a:prstGeom>
          <a:solidFill>
            <a:srgbClr val="FF7B47">
              <a:alpha val="66274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Inverse Document Frequency</a:t>
            </a:r>
            <a:endParaRPr sz="2200" b="1" dirty="0">
              <a:solidFill>
                <a:schemeClr val="tx1">
                  <a:lumMod val="75000"/>
                  <a:lumOff val="25000"/>
                </a:schemeClr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11" name="Google Shape;611;p26"/>
          <p:cNvSpPr/>
          <p:nvPr/>
        </p:nvSpPr>
        <p:spPr>
          <a:xfrm>
            <a:off x="7337342" y="4266889"/>
            <a:ext cx="1581314" cy="1586640"/>
          </a:xfrm>
          <a:prstGeom prst="ellipse">
            <a:avLst/>
          </a:prstGeom>
          <a:solidFill>
            <a:schemeClr val="lt2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785" dist="33020" dir="3180000" algn="ctr">
              <a:srgbClr val="000000">
                <a:alpha val="2941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pen Sans"/>
              <a:buNone/>
            </a:pPr>
            <a:endParaRPr sz="2200" b="1" i="0" u="none" strike="noStrike" cap="non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12" name="Google Shape;612;p26"/>
          <p:cNvSpPr txBox="1"/>
          <p:nvPr/>
        </p:nvSpPr>
        <p:spPr>
          <a:xfrm>
            <a:off x="7565234" y="4900316"/>
            <a:ext cx="1201845" cy="430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Open Sans"/>
              <a:buNone/>
            </a:pPr>
            <a:r>
              <a:rPr lang="en-US" sz="2200" b="1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TF-IDF</a:t>
            </a: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13" name="Google Shape;613;p26"/>
          <p:cNvSpPr/>
          <p:nvPr/>
        </p:nvSpPr>
        <p:spPr>
          <a:xfrm>
            <a:off x="7472990" y="816324"/>
            <a:ext cx="1314465" cy="3810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25000">
                <a:srgbClr val="3645A9"/>
              </a:gs>
              <a:gs pos="50000">
                <a:srgbClr val="3645A9"/>
              </a:gs>
              <a:gs pos="75000">
                <a:srgbClr val="3645A9"/>
              </a:gs>
              <a:gs pos="100000">
                <a:srgbClr val="FFFFFF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27"/>
          <p:cNvSpPr/>
          <p:nvPr/>
        </p:nvSpPr>
        <p:spPr>
          <a:xfrm>
            <a:off x="5265486" y="2688196"/>
            <a:ext cx="6386710" cy="1134095"/>
          </a:xfrm>
          <a:prstGeom prst="roundRect">
            <a:avLst>
              <a:gd name="adj" fmla="val 16667"/>
            </a:avLst>
          </a:prstGeom>
          <a:solidFill>
            <a:srgbClr val="28B2C7">
              <a:alpha val="40784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19" name="Google Shape;619;p27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</a:pPr>
            <a:r>
              <a:rPr lang="en-US">
                <a:latin typeface="Open Sans"/>
                <a:ea typeface="Open Sans"/>
                <a:cs typeface="Open Sans"/>
                <a:sym typeface="Open Sans"/>
              </a:rPr>
              <a:t>TF-IDF</a:t>
            </a:r>
            <a:endParaRPr/>
          </a:p>
        </p:txBody>
      </p:sp>
      <p:sp>
        <p:nvSpPr>
          <p:cNvPr id="620" name="Google Shape;620;p27"/>
          <p:cNvSpPr txBox="1">
            <a:spLocks noGrp="1"/>
          </p:cNvSpPr>
          <p:nvPr>
            <p:ph type="body" idx="1"/>
          </p:nvPr>
        </p:nvSpPr>
        <p:spPr>
          <a:xfrm>
            <a:off x="1291857" y="1512833"/>
            <a:ext cx="13696999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TF-IDF score for a term in a document is the product of its TF and IDF values.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21" name="Google Shape;621;p27"/>
          <p:cNvSpPr txBox="1"/>
          <p:nvPr/>
        </p:nvSpPr>
        <p:spPr>
          <a:xfrm>
            <a:off x="1485758" y="5825156"/>
            <a:ext cx="6143541" cy="89466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825" t="-7041" r="-619" b="-1971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atin typeface="Open Sans"/>
                <a:ea typeface="Open Sans"/>
                <a:cs typeface="Open Sans"/>
                <a:sym typeface="Open Sans"/>
              </a:rPr>
              <a:t> </a:t>
            </a:r>
            <a:endParaRPr dirty="0"/>
          </a:p>
        </p:txBody>
      </p:sp>
      <p:sp>
        <p:nvSpPr>
          <p:cNvPr id="622" name="Google Shape;622;p27"/>
          <p:cNvSpPr txBox="1"/>
          <p:nvPr/>
        </p:nvSpPr>
        <p:spPr>
          <a:xfrm>
            <a:off x="10065376" y="5831408"/>
            <a:ext cx="3612079" cy="88216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1747" r="-2097" b="-17141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Open Sans"/>
                <a:ea typeface="Open Sans"/>
                <a:cs typeface="Open Sans"/>
                <a:sym typeface="Open Sans"/>
              </a:rPr>
              <a:t> </a:t>
            </a:r>
            <a:endParaRPr/>
          </a:p>
        </p:txBody>
      </p:sp>
      <p:sp>
        <p:nvSpPr>
          <p:cNvPr id="623" name="Google Shape;623;p27"/>
          <p:cNvSpPr txBox="1"/>
          <p:nvPr/>
        </p:nvSpPr>
        <p:spPr>
          <a:xfrm>
            <a:off x="5668975" y="3039038"/>
            <a:ext cx="5579733" cy="43088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l="-908" t="-8569" r="-1817" b="-3428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Open Sans"/>
                <a:ea typeface="Open Sans"/>
                <a:cs typeface="Open Sans"/>
                <a:sym typeface="Open Sans"/>
              </a:rPr>
              <a:t> </a:t>
            </a:r>
            <a:endParaRPr/>
          </a:p>
        </p:txBody>
      </p:sp>
      <p:sp>
        <p:nvSpPr>
          <p:cNvPr id="624" name="Google Shape;624;p27"/>
          <p:cNvSpPr txBox="1"/>
          <p:nvPr/>
        </p:nvSpPr>
        <p:spPr>
          <a:xfrm>
            <a:off x="2107757" y="4247449"/>
            <a:ext cx="4899541" cy="86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TF (</a:t>
            </a:r>
            <a:r>
              <a:rPr lang="en-US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t,d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) is term frequency of term </a:t>
            </a:r>
            <a:r>
              <a:rPr lang="en-US" sz="2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 in document </a:t>
            </a:r>
            <a:r>
              <a:rPr lang="en-US" sz="2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endParaRPr sz="2200" dirty="0">
              <a:solidFill>
                <a:schemeClr val="tx1">
                  <a:lumMod val="75000"/>
                  <a:lumOff val="25000"/>
                </a:schemeClr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25" name="Google Shape;625;p27"/>
          <p:cNvSpPr txBox="1"/>
          <p:nvPr/>
        </p:nvSpPr>
        <p:spPr>
          <a:xfrm>
            <a:off x="9435092" y="4247449"/>
            <a:ext cx="5071712" cy="86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IDF(t) is inverse document frequency of term </a:t>
            </a:r>
            <a:r>
              <a:rPr lang="en-US" sz="22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26" name="Google Shape;626;p27"/>
          <p:cNvSpPr/>
          <p:nvPr/>
        </p:nvSpPr>
        <p:spPr>
          <a:xfrm>
            <a:off x="1291857" y="5473137"/>
            <a:ext cx="6531343" cy="1598706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28B2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27" name="Google Shape;627;p27"/>
          <p:cNvSpPr/>
          <p:nvPr/>
        </p:nvSpPr>
        <p:spPr>
          <a:xfrm>
            <a:off x="9335559" y="5473137"/>
            <a:ext cx="5071712" cy="1598706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28B2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28" name="Google Shape;628;p27"/>
          <p:cNvSpPr/>
          <p:nvPr/>
        </p:nvSpPr>
        <p:spPr>
          <a:xfrm>
            <a:off x="4364878" y="7805854"/>
            <a:ext cx="7526245" cy="646770"/>
          </a:xfrm>
          <a:prstGeom prst="roundRect">
            <a:avLst>
              <a:gd name="adj" fmla="val 16667"/>
            </a:avLst>
          </a:prstGeom>
          <a:solidFill>
            <a:srgbClr val="28B2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Refer to jupyter notebook for examples.</a:t>
            </a:r>
            <a:endParaRPr/>
          </a:p>
        </p:txBody>
      </p:sp>
      <p:sp>
        <p:nvSpPr>
          <p:cNvPr id="629" name="Google Shape;629;p27"/>
          <p:cNvSpPr/>
          <p:nvPr/>
        </p:nvSpPr>
        <p:spPr>
          <a:xfrm>
            <a:off x="7472990" y="816324"/>
            <a:ext cx="1314465" cy="3810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25000">
                <a:srgbClr val="3645A9"/>
              </a:gs>
              <a:gs pos="50000">
                <a:srgbClr val="3645A9"/>
              </a:gs>
              <a:gs pos="75000">
                <a:srgbClr val="3645A9"/>
              </a:gs>
              <a:gs pos="100000">
                <a:srgbClr val="FFFFFF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28"/>
          <p:cNvSpPr txBox="1">
            <a:spLocks noGrp="1"/>
          </p:cNvSpPr>
          <p:nvPr>
            <p:ph type="body" idx="1"/>
          </p:nvPr>
        </p:nvSpPr>
        <p:spPr>
          <a:xfrm>
            <a:off x="1332875" y="1967907"/>
            <a:ext cx="9036000" cy="10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</a:pPr>
            <a:r>
              <a:rPr lang="en-US"/>
              <a:t>Word vectorization is </a:t>
            </a:r>
            <a:r>
              <a:rPr lang="en-US" sz="2200">
                <a:latin typeface="Open Sans"/>
                <a:ea typeface="Open Sans"/>
                <a:cs typeface="Open Sans"/>
                <a:sym typeface="Open Sans"/>
              </a:rPr>
              <a:t>used to capture the semantic meaning of words and their relationships in a numerical format.</a:t>
            </a:r>
            <a:endParaRPr/>
          </a:p>
        </p:txBody>
      </p:sp>
      <p:sp>
        <p:nvSpPr>
          <p:cNvPr id="635" name="Google Shape;635;p28"/>
          <p:cNvSpPr txBox="1">
            <a:spLocks noGrp="1"/>
          </p:cNvSpPr>
          <p:nvPr>
            <p:ph type="body" idx="2"/>
          </p:nvPr>
        </p:nvSpPr>
        <p:spPr>
          <a:xfrm>
            <a:off x="1331837" y="3228021"/>
            <a:ext cx="9036000" cy="10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</a:pPr>
            <a:r>
              <a:rPr lang="en-US"/>
              <a:t>The distance measure between the word vectors enables the assessment of both similarities and differences between the words.</a:t>
            </a:r>
            <a:endParaRPr/>
          </a:p>
        </p:txBody>
      </p:sp>
      <p:sp>
        <p:nvSpPr>
          <p:cNvPr id="636" name="Google Shape;636;p28"/>
          <p:cNvSpPr txBox="1">
            <a:spLocks noGrp="1"/>
          </p:cNvSpPr>
          <p:nvPr>
            <p:ph type="body" idx="3"/>
          </p:nvPr>
        </p:nvSpPr>
        <p:spPr>
          <a:xfrm>
            <a:off x="1331837" y="4488135"/>
            <a:ext cx="9036000" cy="10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</a:pPr>
            <a:r>
              <a:rPr lang="en-US"/>
              <a:t>Various techniques used for word vectorization include one-hot-encoding, bag of words and TF-IDF.</a:t>
            </a:r>
            <a:endParaRPr/>
          </a:p>
        </p:txBody>
      </p:sp>
      <p:pic>
        <p:nvPicPr>
          <p:cNvPr id="637" name="Google Shape;637;p28" descr="A blue and white circle with a white circle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636" y="2030249"/>
            <a:ext cx="396244" cy="387931"/>
          </a:xfrm>
          <a:prstGeom prst="rect">
            <a:avLst/>
          </a:prstGeom>
          <a:noFill/>
          <a:ln>
            <a:noFill/>
          </a:ln>
        </p:spPr>
      </p:pic>
      <p:pic>
        <p:nvPicPr>
          <p:cNvPr id="638" name="Google Shape;638;p28" descr="A blue and white circle with a white circle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636" y="4550777"/>
            <a:ext cx="396244" cy="387931"/>
          </a:xfrm>
          <a:prstGeom prst="rect">
            <a:avLst/>
          </a:prstGeom>
          <a:noFill/>
          <a:ln>
            <a:noFill/>
          </a:ln>
        </p:spPr>
      </p:pic>
      <p:pic>
        <p:nvPicPr>
          <p:cNvPr id="639" name="Google Shape;639;p28" descr="A blue and white circle with a white circle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636" y="3290513"/>
            <a:ext cx="396244" cy="3879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30"/>
          <p:cNvSpPr txBox="1">
            <a:spLocks noGrp="1"/>
          </p:cNvSpPr>
          <p:nvPr>
            <p:ph type="body" idx="5"/>
          </p:nvPr>
        </p:nvSpPr>
        <p:spPr>
          <a:xfrm>
            <a:off x="2967015" y="580287"/>
            <a:ext cx="12401573" cy="1447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</a:pPr>
            <a:r>
              <a:rPr lang="en-US" b="1" i="0"/>
              <a:t>Which technique represents a document as an unordered set of words, ignoring grammar and word order?</a:t>
            </a:r>
            <a:endParaRPr/>
          </a:p>
        </p:txBody>
      </p:sp>
      <p:sp>
        <p:nvSpPr>
          <p:cNvPr id="649" name="Google Shape;649;p30"/>
          <p:cNvSpPr txBox="1">
            <a:spLocks noGrp="1"/>
          </p:cNvSpPr>
          <p:nvPr>
            <p:ph type="body" idx="6"/>
          </p:nvPr>
        </p:nvSpPr>
        <p:spPr>
          <a:xfrm>
            <a:off x="1562390" y="1193800"/>
            <a:ext cx="1135063" cy="83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650" name="Google Shape;650;p30"/>
          <p:cNvSpPr txBox="1"/>
          <p:nvPr/>
        </p:nvSpPr>
        <p:spPr>
          <a:xfrm>
            <a:off x="2338682" y="2698180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Word embeddings</a:t>
            </a:r>
            <a:endParaRPr/>
          </a:p>
        </p:txBody>
      </p:sp>
      <p:sp>
        <p:nvSpPr>
          <p:cNvPr id="651" name="Google Shape;651;p30"/>
          <p:cNvSpPr txBox="1"/>
          <p:nvPr/>
        </p:nvSpPr>
        <p:spPr>
          <a:xfrm>
            <a:off x="2342798" y="3629064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Bag-of-words</a:t>
            </a:r>
            <a:endParaRPr sz="20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52" name="Google Shape;652;p30"/>
          <p:cNvSpPr txBox="1"/>
          <p:nvPr/>
        </p:nvSpPr>
        <p:spPr>
          <a:xfrm>
            <a:off x="2342798" y="4568181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TF-IDF</a:t>
            </a:r>
            <a:endParaRPr sz="20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53" name="Google Shape;653;p30"/>
          <p:cNvSpPr txBox="1"/>
          <p:nvPr/>
        </p:nvSpPr>
        <p:spPr>
          <a:xfrm>
            <a:off x="2346914" y="5511422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Word2Vec</a:t>
            </a:r>
            <a:endParaRPr sz="20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31"/>
          <p:cNvSpPr txBox="1">
            <a:spLocks noGrp="1"/>
          </p:cNvSpPr>
          <p:nvPr>
            <p:ph type="body" idx="1"/>
          </p:nvPr>
        </p:nvSpPr>
        <p:spPr>
          <a:xfrm>
            <a:off x="3484605" y="7277661"/>
            <a:ext cx="8601033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24F93"/>
              </a:buClr>
              <a:buSzPts val="2000"/>
              <a:buNone/>
            </a:pPr>
            <a:r>
              <a:rPr lang="en-US"/>
              <a:t>B</a:t>
            </a:r>
            <a:endParaRPr/>
          </a:p>
        </p:txBody>
      </p:sp>
      <p:sp>
        <p:nvSpPr>
          <p:cNvPr id="659" name="Google Shape;659;p31"/>
          <p:cNvSpPr txBox="1">
            <a:spLocks noGrp="1"/>
          </p:cNvSpPr>
          <p:nvPr>
            <p:ph type="body" idx="2"/>
          </p:nvPr>
        </p:nvSpPr>
        <p:spPr>
          <a:xfrm>
            <a:off x="669925" y="7935913"/>
            <a:ext cx="13095288" cy="1004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</a:pPr>
            <a:r>
              <a:rPr lang="en-US" dirty="0"/>
              <a:t>The method is known as bag-of-words, as the order of the words is lost entirely.</a:t>
            </a:r>
            <a:endParaRPr dirty="0"/>
          </a:p>
        </p:txBody>
      </p:sp>
      <p:sp>
        <p:nvSpPr>
          <p:cNvPr id="660" name="Google Shape;660;p31"/>
          <p:cNvSpPr txBox="1">
            <a:spLocks noGrp="1"/>
          </p:cNvSpPr>
          <p:nvPr>
            <p:ph type="body" idx="7"/>
          </p:nvPr>
        </p:nvSpPr>
        <p:spPr>
          <a:xfrm>
            <a:off x="2967015" y="580287"/>
            <a:ext cx="12401573" cy="1447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</a:pPr>
            <a:r>
              <a:rPr lang="en-US" b="1" i="0"/>
              <a:t>Which technique represents a document as an unordered set of words, ignoring grammar and word order?</a:t>
            </a:r>
            <a:endParaRPr/>
          </a:p>
        </p:txBody>
      </p:sp>
      <p:sp>
        <p:nvSpPr>
          <p:cNvPr id="661" name="Google Shape;661;p31"/>
          <p:cNvSpPr txBox="1">
            <a:spLocks noGrp="1"/>
          </p:cNvSpPr>
          <p:nvPr>
            <p:ph type="body" idx="8"/>
          </p:nvPr>
        </p:nvSpPr>
        <p:spPr>
          <a:xfrm>
            <a:off x="1562390" y="1193800"/>
            <a:ext cx="1135063" cy="83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662" name="Google Shape;662;p31"/>
          <p:cNvSpPr txBox="1"/>
          <p:nvPr/>
        </p:nvSpPr>
        <p:spPr>
          <a:xfrm>
            <a:off x="2338682" y="2698180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Word embeddings</a:t>
            </a:r>
            <a:endParaRPr/>
          </a:p>
        </p:txBody>
      </p:sp>
      <p:sp>
        <p:nvSpPr>
          <p:cNvPr id="663" name="Google Shape;663;p31"/>
          <p:cNvSpPr txBox="1"/>
          <p:nvPr/>
        </p:nvSpPr>
        <p:spPr>
          <a:xfrm>
            <a:off x="2342798" y="3629064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Bag-of-words</a:t>
            </a:r>
            <a:endParaRPr sz="20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4" name="Google Shape;664;p31"/>
          <p:cNvSpPr txBox="1"/>
          <p:nvPr/>
        </p:nvSpPr>
        <p:spPr>
          <a:xfrm>
            <a:off x="2342798" y="4568181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TF-IDF</a:t>
            </a:r>
            <a:endParaRPr sz="20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5" name="Google Shape;665;p31"/>
          <p:cNvSpPr txBox="1"/>
          <p:nvPr/>
        </p:nvSpPr>
        <p:spPr>
          <a:xfrm>
            <a:off x="2346914" y="5511422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Word2Vec</a:t>
            </a:r>
            <a:endParaRPr sz="20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32"/>
          <p:cNvSpPr txBox="1">
            <a:spLocks noGrp="1"/>
          </p:cNvSpPr>
          <p:nvPr>
            <p:ph type="body" idx="5"/>
          </p:nvPr>
        </p:nvSpPr>
        <p:spPr>
          <a:xfrm>
            <a:off x="2967015" y="580287"/>
            <a:ext cx="12401573" cy="1447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</a:pPr>
            <a:r>
              <a:rPr lang="en-US" b="1" i="0"/>
              <a:t>Which word vectorization technique is more effective in capturing the importance of rare words in a document?</a:t>
            </a:r>
            <a:endParaRPr/>
          </a:p>
        </p:txBody>
      </p:sp>
      <p:sp>
        <p:nvSpPr>
          <p:cNvPr id="671" name="Google Shape;671;p32"/>
          <p:cNvSpPr txBox="1">
            <a:spLocks noGrp="1"/>
          </p:cNvSpPr>
          <p:nvPr>
            <p:ph type="body" idx="6"/>
          </p:nvPr>
        </p:nvSpPr>
        <p:spPr>
          <a:xfrm>
            <a:off x="1562390" y="1193800"/>
            <a:ext cx="1135063" cy="83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672" name="Google Shape;672;p32"/>
          <p:cNvSpPr txBox="1"/>
          <p:nvPr/>
        </p:nvSpPr>
        <p:spPr>
          <a:xfrm>
            <a:off x="2338682" y="2698180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TF-IDF</a:t>
            </a:r>
            <a:endParaRPr sz="20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73" name="Google Shape;673;p32"/>
          <p:cNvSpPr txBox="1"/>
          <p:nvPr/>
        </p:nvSpPr>
        <p:spPr>
          <a:xfrm>
            <a:off x="2342798" y="3629064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Bag-of-words</a:t>
            </a:r>
            <a:endParaRPr/>
          </a:p>
        </p:txBody>
      </p:sp>
      <p:sp>
        <p:nvSpPr>
          <p:cNvPr id="674" name="Google Shape;674;p32"/>
          <p:cNvSpPr txBox="1"/>
          <p:nvPr/>
        </p:nvSpPr>
        <p:spPr>
          <a:xfrm>
            <a:off x="2342798" y="4568181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Word embeddings</a:t>
            </a:r>
            <a:endParaRPr/>
          </a:p>
        </p:txBody>
      </p:sp>
      <p:sp>
        <p:nvSpPr>
          <p:cNvPr id="675" name="Google Shape;675;p32"/>
          <p:cNvSpPr txBox="1"/>
          <p:nvPr/>
        </p:nvSpPr>
        <p:spPr>
          <a:xfrm>
            <a:off x="2346914" y="5511422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Word2Vec</a:t>
            </a:r>
            <a:endParaRPr sz="20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33"/>
          <p:cNvSpPr txBox="1">
            <a:spLocks noGrp="1"/>
          </p:cNvSpPr>
          <p:nvPr>
            <p:ph type="body" idx="1"/>
          </p:nvPr>
        </p:nvSpPr>
        <p:spPr>
          <a:xfrm>
            <a:off x="3484605" y="7277661"/>
            <a:ext cx="8601033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24F93"/>
              </a:buClr>
              <a:buSzPts val="2000"/>
              <a:buNone/>
            </a:pPr>
            <a:r>
              <a:rPr lang="en-US"/>
              <a:t>A</a:t>
            </a:r>
            <a:endParaRPr/>
          </a:p>
        </p:txBody>
      </p:sp>
      <p:sp>
        <p:nvSpPr>
          <p:cNvPr id="681" name="Google Shape;681;p33"/>
          <p:cNvSpPr txBox="1">
            <a:spLocks noGrp="1"/>
          </p:cNvSpPr>
          <p:nvPr>
            <p:ph type="body" idx="2"/>
          </p:nvPr>
        </p:nvSpPr>
        <p:spPr>
          <a:xfrm>
            <a:off x="669925" y="7935913"/>
            <a:ext cx="13095288" cy="1004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</a:pPr>
            <a:r>
              <a:rPr lang="en-US" dirty="0"/>
              <a:t>TF-IDF is more effective in this scenario, as it assigns weights to the words based on their relevance in the document.</a:t>
            </a:r>
            <a:endParaRPr dirty="0"/>
          </a:p>
        </p:txBody>
      </p:sp>
      <p:sp>
        <p:nvSpPr>
          <p:cNvPr id="686" name="Google Shape;686;p33"/>
          <p:cNvSpPr txBox="1">
            <a:spLocks noGrp="1"/>
          </p:cNvSpPr>
          <p:nvPr>
            <p:ph type="body" idx="7"/>
          </p:nvPr>
        </p:nvSpPr>
        <p:spPr>
          <a:xfrm>
            <a:off x="2967015" y="580287"/>
            <a:ext cx="12401573" cy="1447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</a:pPr>
            <a:r>
              <a:rPr lang="en-US" b="1" i="0"/>
              <a:t>Which word vectorization technique is more effective in capturing the importance of rare words in a document?</a:t>
            </a:r>
            <a:endParaRPr/>
          </a:p>
        </p:txBody>
      </p:sp>
      <p:sp>
        <p:nvSpPr>
          <p:cNvPr id="687" name="Google Shape;687;p33"/>
          <p:cNvSpPr txBox="1">
            <a:spLocks noGrp="1"/>
          </p:cNvSpPr>
          <p:nvPr>
            <p:ph type="body" idx="8"/>
          </p:nvPr>
        </p:nvSpPr>
        <p:spPr>
          <a:xfrm>
            <a:off x="1562390" y="1193800"/>
            <a:ext cx="1135063" cy="83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10" name="Google Shape;672;p32">
            <a:extLst>
              <a:ext uri="{FF2B5EF4-FFF2-40B4-BE49-F238E27FC236}">
                <a16:creationId xmlns:a16="http://schemas.microsoft.com/office/drawing/2014/main" id="{12C57A32-A478-BE9B-08A8-FE67BAE3AECF}"/>
              </a:ext>
            </a:extLst>
          </p:cNvPr>
          <p:cNvSpPr txBox="1"/>
          <p:nvPr/>
        </p:nvSpPr>
        <p:spPr>
          <a:xfrm>
            <a:off x="2338682" y="2698180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TF-IDF</a:t>
            </a:r>
            <a:endParaRPr sz="20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" name="Google Shape;673;p32">
            <a:extLst>
              <a:ext uri="{FF2B5EF4-FFF2-40B4-BE49-F238E27FC236}">
                <a16:creationId xmlns:a16="http://schemas.microsoft.com/office/drawing/2014/main" id="{CA4424F3-AD8B-2897-E92D-01A09658A71E}"/>
              </a:ext>
            </a:extLst>
          </p:cNvPr>
          <p:cNvSpPr txBox="1"/>
          <p:nvPr/>
        </p:nvSpPr>
        <p:spPr>
          <a:xfrm>
            <a:off x="2342798" y="3629064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Bag-of-words</a:t>
            </a:r>
            <a:endParaRPr/>
          </a:p>
        </p:txBody>
      </p:sp>
      <p:sp>
        <p:nvSpPr>
          <p:cNvPr id="12" name="Google Shape;674;p32">
            <a:extLst>
              <a:ext uri="{FF2B5EF4-FFF2-40B4-BE49-F238E27FC236}">
                <a16:creationId xmlns:a16="http://schemas.microsoft.com/office/drawing/2014/main" id="{0530BCDC-8080-2CD4-608F-168A5B55EB0C}"/>
              </a:ext>
            </a:extLst>
          </p:cNvPr>
          <p:cNvSpPr txBox="1"/>
          <p:nvPr/>
        </p:nvSpPr>
        <p:spPr>
          <a:xfrm>
            <a:off x="2342798" y="4568181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Word embeddings</a:t>
            </a:r>
            <a:endParaRPr/>
          </a:p>
        </p:txBody>
      </p:sp>
      <p:sp>
        <p:nvSpPr>
          <p:cNvPr id="13" name="Google Shape;675;p32">
            <a:extLst>
              <a:ext uri="{FF2B5EF4-FFF2-40B4-BE49-F238E27FC236}">
                <a16:creationId xmlns:a16="http://schemas.microsoft.com/office/drawing/2014/main" id="{70565A15-6CD7-C1BD-5B9F-CD99F7D967D2}"/>
              </a:ext>
            </a:extLst>
          </p:cNvPr>
          <p:cNvSpPr txBox="1"/>
          <p:nvPr/>
        </p:nvSpPr>
        <p:spPr>
          <a:xfrm>
            <a:off x="2346914" y="5511422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Word2Vec</a:t>
            </a:r>
            <a:endParaRPr sz="20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34"/>
          <p:cNvSpPr txBox="1">
            <a:spLocks noGrp="1"/>
          </p:cNvSpPr>
          <p:nvPr>
            <p:ph type="body" idx="5"/>
          </p:nvPr>
        </p:nvSpPr>
        <p:spPr>
          <a:xfrm>
            <a:off x="2967015" y="580287"/>
            <a:ext cx="12401573" cy="1447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</a:pPr>
            <a:r>
              <a:rPr lang="en-US" b="1" i="0" dirty="0"/>
              <a:t>In TF-IDF, what is the purpose of the IDF component?</a:t>
            </a:r>
            <a:endParaRPr dirty="0"/>
          </a:p>
        </p:txBody>
      </p:sp>
      <p:sp>
        <p:nvSpPr>
          <p:cNvPr id="693" name="Google Shape;693;p34"/>
          <p:cNvSpPr txBox="1">
            <a:spLocks noGrp="1"/>
          </p:cNvSpPr>
          <p:nvPr>
            <p:ph type="body" idx="6"/>
          </p:nvPr>
        </p:nvSpPr>
        <p:spPr>
          <a:xfrm>
            <a:off x="1562390" y="1193800"/>
            <a:ext cx="1135063" cy="83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r>
              <a:rPr lang="en-US"/>
              <a:t>3</a:t>
            </a:r>
            <a:endParaRPr/>
          </a:p>
        </p:txBody>
      </p:sp>
      <p:sp>
        <p:nvSpPr>
          <p:cNvPr id="694" name="Google Shape;694;p34"/>
          <p:cNvSpPr txBox="1"/>
          <p:nvPr/>
        </p:nvSpPr>
        <p:spPr>
          <a:xfrm>
            <a:off x="2338682" y="2698180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</a:pPr>
            <a:r>
              <a:rPr lang="en-US" sz="20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Captures word frequency in a document</a:t>
            </a:r>
            <a:endParaRPr sz="2000"/>
          </a:p>
        </p:txBody>
      </p:sp>
      <p:sp>
        <p:nvSpPr>
          <p:cNvPr id="695" name="Google Shape;695;p34"/>
          <p:cNvSpPr txBox="1"/>
          <p:nvPr/>
        </p:nvSpPr>
        <p:spPr>
          <a:xfrm>
            <a:off x="2342798" y="3629064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</a:pPr>
            <a:r>
              <a:rPr lang="en-US" sz="2000" b="0" i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Considers the importance of words across documents</a:t>
            </a:r>
            <a:endParaRPr sz="20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96" name="Google Shape;696;p34"/>
          <p:cNvSpPr txBox="1"/>
          <p:nvPr/>
        </p:nvSpPr>
        <p:spPr>
          <a:xfrm>
            <a:off x="2342798" y="4568181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</a:pPr>
            <a:r>
              <a:rPr lang="en-US" sz="2000" b="0" i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Measures the length of words</a:t>
            </a:r>
            <a:endParaRPr sz="20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97" name="Google Shape;697;p34"/>
          <p:cNvSpPr txBox="1"/>
          <p:nvPr/>
        </p:nvSpPr>
        <p:spPr>
          <a:xfrm>
            <a:off x="2346914" y="5511422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</a:pPr>
            <a:r>
              <a:rPr lang="en-US" sz="2000" b="0" i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Represents word semantics</a:t>
            </a:r>
            <a:endParaRPr sz="20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35"/>
          <p:cNvSpPr txBox="1">
            <a:spLocks noGrp="1"/>
          </p:cNvSpPr>
          <p:nvPr>
            <p:ph type="body" idx="1"/>
          </p:nvPr>
        </p:nvSpPr>
        <p:spPr>
          <a:xfrm>
            <a:off x="3484605" y="7277661"/>
            <a:ext cx="8601033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24F93"/>
              </a:buClr>
              <a:buSzPts val="2000"/>
              <a:buNone/>
            </a:pPr>
            <a:r>
              <a:rPr lang="en-US"/>
              <a:t>A</a:t>
            </a:r>
            <a:endParaRPr/>
          </a:p>
        </p:txBody>
      </p:sp>
      <p:sp>
        <p:nvSpPr>
          <p:cNvPr id="703" name="Google Shape;703;p35"/>
          <p:cNvSpPr txBox="1">
            <a:spLocks noGrp="1"/>
          </p:cNvSpPr>
          <p:nvPr>
            <p:ph type="body" idx="2"/>
          </p:nvPr>
        </p:nvSpPr>
        <p:spPr>
          <a:xfrm>
            <a:off x="669925" y="7935913"/>
            <a:ext cx="13095288" cy="1004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</a:pPr>
            <a:r>
              <a:rPr lang="en-US"/>
              <a:t>Inverse Document Frequencies (IDF) considers the importance of words across documents.</a:t>
            </a: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</a:pPr>
            <a:endParaRPr/>
          </a:p>
        </p:txBody>
      </p:sp>
      <p:sp>
        <p:nvSpPr>
          <p:cNvPr id="708" name="Google Shape;708;p35"/>
          <p:cNvSpPr txBox="1">
            <a:spLocks noGrp="1"/>
          </p:cNvSpPr>
          <p:nvPr>
            <p:ph type="body" idx="7"/>
          </p:nvPr>
        </p:nvSpPr>
        <p:spPr>
          <a:xfrm>
            <a:off x="2967015" y="580287"/>
            <a:ext cx="12401573" cy="1447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</a:pPr>
            <a:r>
              <a:rPr lang="en-US" b="1" i="0" dirty="0"/>
              <a:t>In TF-IDF, what is the purpose of the IDF component?</a:t>
            </a:r>
            <a:endParaRPr dirty="0"/>
          </a:p>
        </p:txBody>
      </p:sp>
      <p:sp>
        <p:nvSpPr>
          <p:cNvPr id="709" name="Google Shape;709;p35"/>
          <p:cNvSpPr txBox="1">
            <a:spLocks noGrp="1"/>
          </p:cNvSpPr>
          <p:nvPr>
            <p:ph type="body" idx="8"/>
          </p:nvPr>
        </p:nvSpPr>
        <p:spPr>
          <a:xfrm>
            <a:off x="1562390" y="1193800"/>
            <a:ext cx="1135063" cy="83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r>
              <a:rPr lang="en-US"/>
              <a:t>3</a:t>
            </a:r>
            <a:endParaRPr/>
          </a:p>
        </p:txBody>
      </p:sp>
      <p:sp>
        <p:nvSpPr>
          <p:cNvPr id="10" name="Google Shape;694;p34">
            <a:extLst>
              <a:ext uri="{FF2B5EF4-FFF2-40B4-BE49-F238E27FC236}">
                <a16:creationId xmlns:a16="http://schemas.microsoft.com/office/drawing/2014/main" id="{9E627A26-3E21-135B-7BAC-35D29AA16189}"/>
              </a:ext>
            </a:extLst>
          </p:cNvPr>
          <p:cNvSpPr txBox="1"/>
          <p:nvPr/>
        </p:nvSpPr>
        <p:spPr>
          <a:xfrm>
            <a:off x="2338682" y="2698180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</a:pPr>
            <a:r>
              <a:rPr lang="en-US" sz="20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Captures word frequency in a document</a:t>
            </a:r>
            <a:endParaRPr sz="2000"/>
          </a:p>
        </p:txBody>
      </p:sp>
      <p:sp>
        <p:nvSpPr>
          <p:cNvPr id="11" name="Google Shape;695;p34">
            <a:extLst>
              <a:ext uri="{FF2B5EF4-FFF2-40B4-BE49-F238E27FC236}">
                <a16:creationId xmlns:a16="http://schemas.microsoft.com/office/drawing/2014/main" id="{042B925B-9B07-3E2C-B903-88AA2A6AF337}"/>
              </a:ext>
            </a:extLst>
          </p:cNvPr>
          <p:cNvSpPr txBox="1"/>
          <p:nvPr/>
        </p:nvSpPr>
        <p:spPr>
          <a:xfrm>
            <a:off x="2342798" y="3629064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</a:pPr>
            <a:r>
              <a:rPr lang="en-US" sz="2000" b="0" i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Considers the importance of words across documents</a:t>
            </a:r>
            <a:endParaRPr sz="20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" name="Google Shape;696;p34">
            <a:extLst>
              <a:ext uri="{FF2B5EF4-FFF2-40B4-BE49-F238E27FC236}">
                <a16:creationId xmlns:a16="http://schemas.microsoft.com/office/drawing/2014/main" id="{469ABAF1-3597-E76E-B961-78F3FCC5215B}"/>
              </a:ext>
            </a:extLst>
          </p:cNvPr>
          <p:cNvSpPr txBox="1"/>
          <p:nvPr/>
        </p:nvSpPr>
        <p:spPr>
          <a:xfrm>
            <a:off x="2342798" y="4568181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</a:pPr>
            <a:r>
              <a:rPr lang="en-US" sz="2000" b="0" i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Measures the length of words</a:t>
            </a:r>
            <a:endParaRPr sz="20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" name="Google Shape;697;p34">
            <a:extLst>
              <a:ext uri="{FF2B5EF4-FFF2-40B4-BE49-F238E27FC236}">
                <a16:creationId xmlns:a16="http://schemas.microsoft.com/office/drawing/2014/main" id="{1A19DD82-9A17-D989-21C8-D19C216B637A}"/>
              </a:ext>
            </a:extLst>
          </p:cNvPr>
          <p:cNvSpPr txBox="1"/>
          <p:nvPr/>
        </p:nvSpPr>
        <p:spPr>
          <a:xfrm>
            <a:off x="2346914" y="5511422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</a:pPr>
            <a:r>
              <a:rPr lang="en-US" sz="2000" b="0" i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Represents word semantics</a:t>
            </a:r>
            <a:endParaRPr sz="20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36"/>
          <p:cNvSpPr txBox="1">
            <a:spLocks noGrp="1"/>
          </p:cNvSpPr>
          <p:nvPr>
            <p:ph type="body" idx="1"/>
          </p:nvPr>
        </p:nvSpPr>
        <p:spPr>
          <a:xfrm>
            <a:off x="0" y="4114800"/>
            <a:ext cx="16256001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023_LVC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1488</Words>
  <Application>Microsoft Office PowerPoint</Application>
  <PresentationFormat>Custom</PresentationFormat>
  <Paragraphs>314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Open Sans</vt:lpstr>
      <vt:lpstr>Arial</vt:lpstr>
      <vt:lpstr>Calibri</vt:lpstr>
      <vt:lpstr>Courier New</vt:lpstr>
      <vt:lpstr>2023_LVC</vt:lpstr>
      <vt:lpstr>PowerPoint Presentation</vt:lpstr>
      <vt:lpstr>PowerPoint Presentation</vt:lpstr>
      <vt:lpstr>PowerPoint Presentation</vt:lpstr>
      <vt:lpstr>PowerPoint Presentation</vt:lpstr>
      <vt:lpstr>What are Vectors?</vt:lpstr>
      <vt:lpstr>What are Vectors?</vt:lpstr>
      <vt:lpstr>What are Vectors?</vt:lpstr>
      <vt:lpstr>Word Analogies</vt:lpstr>
      <vt:lpstr>Word Analogies</vt:lpstr>
      <vt:lpstr>Distance Calculation</vt:lpstr>
      <vt:lpstr>Text Vectorization Techniques</vt:lpstr>
      <vt:lpstr>PowerPoint Presentation</vt:lpstr>
      <vt:lpstr>One-Hot-Encoding</vt:lpstr>
      <vt:lpstr>One-Hot-Encoding: Working</vt:lpstr>
      <vt:lpstr>One-Hot-Encoding: Working</vt:lpstr>
      <vt:lpstr>One-Hot-Encoding</vt:lpstr>
      <vt:lpstr>PowerPoint Presentation</vt:lpstr>
      <vt:lpstr>Bag-of-Words</vt:lpstr>
      <vt:lpstr>Bag-of-Words</vt:lpstr>
      <vt:lpstr>Bag-of-Words</vt:lpstr>
      <vt:lpstr>Bag-of-Words: Example</vt:lpstr>
      <vt:lpstr>Bag-of-Words: Example</vt:lpstr>
      <vt:lpstr>Bag-of-Words: Recap of Terms Used</vt:lpstr>
      <vt:lpstr>PowerPoint Presentation</vt:lpstr>
      <vt:lpstr>TF-IDF</vt:lpstr>
      <vt:lpstr>TF-IDF</vt:lpstr>
      <vt:lpstr>TF-IDF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Alok Parashar</dc:creator>
  <cp:lastModifiedBy>Vikas Singh</cp:lastModifiedBy>
  <cp:revision>4</cp:revision>
  <dcterms:created xsi:type="dcterms:W3CDTF">2023-05-19T12:36:11Z</dcterms:created>
  <dcterms:modified xsi:type="dcterms:W3CDTF">2023-12-29T10:21:57Z</dcterms:modified>
</cp:coreProperties>
</file>