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modifyVerifier cryptProviderType="rsaAES" cryptAlgorithmClass="hash" cryptAlgorithmType="typeAny" cryptAlgorithmSid="14" spinCount="100000" saltData="5kQgd00klAJ+DnFBfOVnPQ==" hashData="S+2ob7QWYWZG7vtSBtV5FEranx6EERjoMdpWmKX5pwNw7JfKfUlxop6T7p1EetKbjfbYGE+sd0PlvDWgr5GNgQ=="/>
  <p:extLst>
    <p:ext uri="{EFAFB233-063F-42B5-8137-9DF3F51BA10A}">
      <p15:sldGuideLst xmlns:p15="http://schemas.microsoft.com/office/powerpoint/2012/main">
        <p15:guide id="1" pos="4757">
          <p15:clr>
            <a:srgbClr val="A4A3A4"/>
          </p15:clr>
        </p15:guide>
        <p15:guide id="2" orient="horz" pos="431">
          <p15:clr>
            <a:srgbClr val="A4A3A4"/>
          </p15:clr>
        </p15:guide>
        <p15:guide id="3" pos="54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G34a/F+xGgGc8sBH65Cw9BC2+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94"/>
  </p:normalViewPr>
  <p:slideViewPr>
    <p:cSldViewPr snapToGrid="0">
      <p:cViewPr varScale="1">
        <p:scale>
          <a:sx n="48" d="100"/>
          <a:sy n="48" d="100"/>
        </p:scale>
        <p:origin x="858" y="66"/>
      </p:cViewPr>
      <p:guideLst>
        <p:guide pos="4757"/>
        <p:guide orient="horz" pos="431"/>
        <p:guide pos="54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urse Name">
  <p:cSld name="Course Nam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2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 Name">
  <p:cSld name="Lesson Nam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3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nowledge Check ">
  <p:cSld name="Knowledge Check 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4" descr="A picture containing arrow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4"/>
          <p:cNvSpPr/>
          <p:nvPr/>
        </p:nvSpPr>
        <p:spPr>
          <a:xfrm>
            <a:off x="8955907" y="4310390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tion">
  <p:cSld name="Questio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5"/>
          <p:cNvSpPr/>
          <p:nvPr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" name="Google Shape;25;p15"/>
          <p:cNvSpPr txBox="1"/>
          <p:nvPr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" name="Google Shape;26;p15"/>
          <p:cNvSpPr/>
          <p:nvPr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 cap="flat" cmpd="sng">
            <a:solidFill>
              <a:srgbClr val="3D9C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15"/>
          <p:cNvSpPr txBox="1"/>
          <p:nvPr/>
        </p:nvSpPr>
        <p:spPr>
          <a:xfrm>
            <a:off x="1708922" y="2698180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body" idx="1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/>
          <p:nvPr/>
        </p:nvSpPr>
        <p:spPr>
          <a:xfrm>
            <a:off x="1713038" y="3629064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B.</a:t>
            </a:r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2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/>
          <p:nvPr/>
        </p:nvSpPr>
        <p:spPr>
          <a:xfrm>
            <a:off x="1713038" y="4568181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C.</a:t>
            </a:r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body" idx="3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/>
          <p:nvPr/>
        </p:nvSpPr>
        <p:spPr>
          <a:xfrm>
            <a:off x="1717154" y="5511422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D.</a:t>
            </a:r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body" idx="4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5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b="1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_Ans_Are">
  <p:cSld name="Ques_Ans_Ar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6"/>
          <p:cNvSpPr txBox="1"/>
          <p:nvPr/>
        </p:nvSpPr>
        <p:spPr>
          <a:xfrm>
            <a:off x="670034" y="7369706"/>
            <a:ext cx="29134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are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0" name="Google Shape;40;p16"/>
          <p:cNvCxnSpPr/>
          <p:nvPr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6"/>
          <p:cNvCxnSpPr/>
          <p:nvPr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3484605" y="7277661"/>
            <a:ext cx="8601033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  <a:defRPr sz="2000" b="1">
                <a:solidFill>
                  <a:srgbClr val="024F93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/>
          <p:nvPr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" name="Google Shape;45;p16"/>
          <p:cNvSpPr txBox="1"/>
          <p:nvPr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" name="Google Shape;46;p16"/>
          <p:cNvSpPr/>
          <p:nvPr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 cap="flat" cmpd="sng">
            <a:solidFill>
              <a:srgbClr val="3D9C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" name="Google Shape;47;p16"/>
          <p:cNvSpPr txBox="1"/>
          <p:nvPr/>
        </p:nvSpPr>
        <p:spPr>
          <a:xfrm>
            <a:off x="1708922" y="2698180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/>
          <p:nvPr/>
        </p:nvSpPr>
        <p:spPr>
          <a:xfrm>
            <a:off x="1713038" y="3629064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B.</a:t>
            </a:r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body" idx="4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/>
          <p:nvPr/>
        </p:nvSpPr>
        <p:spPr>
          <a:xfrm>
            <a:off x="1713038" y="4568181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C.</a:t>
            </a:r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body" idx="5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/>
          <p:nvPr/>
        </p:nvSpPr>
        <p:spPr>
          <a:xfrm>
            <a:off x="1717154" y="5511422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D.</a:t>
            </a:r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body" idx="6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b="1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 Name">
  <p:cSld name="Topic Nam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7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ou Already Know">
  <p:cSld name="You Already Know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8"/>
          <p:cNvSpPr/>
          <p:nvPr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8"/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120">
          <p15:clr>
            <a:srgbClr val="00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You_already_know">
  <p:cSld name="Bullet_You_already_know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9"/>
          <p:cNvSpPr/>
          <p:nvPr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1250783" y="1512887"/>
            <a:ext cx="13732042" cy="6618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cap">
  <p:cSld name="Recap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0"/>
          <p:cNvSpPr/>
          <p:nvPr/>
        </p:nvSpPr>
        <p:spPr>
          <a:xfrm>
            <a:off x="352712" y="438867"/>
            <a:ext cx="240496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Recap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0"/>
          <p:cNvSpPr txBox="1">
            <a:spLocks noGrp="1"/>
          </p:cNvSpPr>
          <p:nvPr>
            <p:ph type="body" idx="1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2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day in the life">
  <p:cSld name="A day in the life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body" idx="2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_for_Aday_Recap">
  <p:cSld name="Bullets_for_Aday_Recap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>
            <a:spLocks noGrp="1"/>
          </p:cNvSpPr>
          <p:nvPr>
            <p:ph type="body" idx="1"/>
          </p:nvPr>
        </p:nvSpPr>
        <p:spPr>
          <a:xfrm>
            <a:off x="844889" y="1512833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body" idx="2"/>
          </p:nvPr>
        </p:nvSpPr>
        <p:spPr>
          <a:xfrm>
            <a:off x="844550" y="2603500"/>
            <a:ext cx="10807700" cy="5538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rning Objectives">
  <p:cSld name="Learning Objective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3"/>
          <p:cNvSpPr/>
          <p:nvPr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Learning Objectives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3"/>
          <p:cNvSpPr/>
          <p:nvPr/>
        </p:nvSpPr>
        <p:spPr>
          <a:xfrm>
            <a:off x="718944" y="1933649"/>
            <a:ext cx="7888027" cy="55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By the end of this lesson, you will be able to:</a:t>
            </a:r>
            <a:endParaRPr sz="18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23"/>
          <p:cNvSpPr/>
          <p:nvPr/>
        </p:nvSpPr>
        <p:spPr>
          <a:xfrm>
            <a:off x="2967652" y="837660"/>
            <a:ext cx="4391501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23"/>
          <p:cNvSpPr txBox="1">
            <a:spLocks noGrp="1"/>
          </p:cNvSpPr>
          <p:nvPr>
            <p:ph type="body" idx="1"/>
          </p:nvPr>
        </p:nvSpPr>
        <p:spPr>
          <a:xfrm>
            <a:off x="1332875" y="2758746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2"/>
          </p:nvPr>
        </p:nvSpPr>
        <p:spPr>
          <a:xfrm>
            <a:off x="1332356" y="3558751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body" idx="3"/>
          </p:nvPr>
        </p:nvSpPr>
        <p:spPr>
          <a:xfrm>
            <a:off x="1331837" y="4383470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4"/>
          </p:nvPr>
        </p:nvSpPr>
        <p:spPr>
          <a:xfrm>
            <a:off x="1332873" y="5195833"/>
            <a:ext cx="9034445" cy="10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4"/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body" idx="2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6" name="Google Shape;96;p24" descr="A picture containing colorfulness, pattern, rectangle, screensho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66008" y="913238"/>
            <a:ext cx="1219478" cy="729146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4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Content_Slide">
  <p:cSld name="Bullet_Content_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>
            <a:spLocks noGrp="1"/>
          </p:cNvSpPr>
          <p:nvPr>
            <p:ph type="body" idx="1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1" name="Google Shape;101;p25" descr="A picture containing colorfulness, pattern, rectangle, screensho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66008" y="897196"/>
            <a:ext cx="1219478" cy="729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>
            <a:spLocks noGrp="1"/>
          </p:cNvSpPr>
          <p:nvPr>
            <p:ph type="body" idx="2"/>
          </p:nvPr>
        </p:nvSpPr>
        <p:spPr>
          <a:xfrm>
            <a:off x="1285825" y="2612636"/>
            <a:ext cx="13697000" cy="551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es_Ans_IS">
  <p:cSld name="Ques_Ans_IS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6"/>
          <p:cNvSpPr txBox="1"/>
          <p:nvPr/>
        </p:nvSpPr>
        <p:spPr>
          <a:xfrm>
            <a:off x="670034" y="7369706"/>
            <a:ext cx="274905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is</a:t>
            </a: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7" name="Google Shape;107;p26"/>
          <p:cNvCxnSpPr/>
          <p:nvPr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8" name="Google Shape;108;p26"/>
          <p:cNvCxnSpPr/>
          <p:nvPr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" name="Google Shape;109;p26"/>
          <p:cNvSpPr txBox="1">
            <a:spLocks noGrp="1"/>
          </p:cNvSpPr>
          <p:nvPr>
            <p:ph type="body" idx="1"/>
          </p:nvPr>
        </p:nvSpPr>
        <p:spPr>
          <a:xfrm>
            <a:off x="3251201" y="7277661"/>
            <a:ext cx="8834438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  <a:defRPr sz="2000" b="1">
                <a:solidFill>
                  <a:srgbClr val="024F93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26"/>
          <p:cNvSpPr/>
          <p:nvPr/>
        </p:nvSpPr>
        <p:spPr>
          <a:xfrm>
            <a:off x="1281113" y="584654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26"/>
          <p:cNvSpPr txBox="1"/>
          <p:nvPr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26"/>
          <p:cNvSpPr/>
          <p:nvPr/>
        </p:nvSpPr>
        <p:spPr>
          <a:xfrm>
            <a:off x="1275907" y="580480"/>
            <a:ext cx="14093455" cy="1446622"/>
          </a:xfrm>
          <a:prstGeom prst="rect">
            <a:avLst/>
          </a:prstGeom>
          <a:noFill/>
          <a:ln w="12700" cap="flat" cmpd="sng">
            <a:solidFill>
              <a:srgbClr val="3D9C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26"/>
          <p:cNvSpPr txBox="1"/>
          <p:nvPr/>
        </p:nvSpPr>
        <p:spPr>
          <a:xfrm>
            <a:off x="1717154" y="5511422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D.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1713038" y="4568181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C.</a:t>
            </a:r>
            <a:endParaRPr/>
          </a:p>
        </p:txBody>
      </p:sp>
      <p:sp>
        <p:nvSpPr>
          <p:cNvPr id="116" name="Google Shape;116;p26"/>
          <p:cNvSpPr txBox="1"/>
          <p:nvPr/>
        </p:nvSpPr>
        <p:spPr>
          <a:xfrm>
            <a:off x="1713038" y="3629064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B.</a:t>
            </a:r>
            <a:endParaRPr/>
          </a:p>
        </p:txBody>
      </p:sp>
      <p:sp>
        <p:nvSpPr>
          <p:cNvPr id="117" name="Google Shape;117;p26"/>
          <p:cNvSpPr txBox="1"/>
          <p:nvPr/>
        </p:nvSpPr>
        <p:spPr>
          <a:xfrm>
            <a:off x="1708922" y="2698180"/>
            <a:ext cx="465463" cy="42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A.</a:t>
            </a:r>
            <a:endParaRPr/>
          </a:p>
        </p:txBody>
      </p:sp>
      <p:sp>
        <p:nvSpPr>
          <p:cNvPr id="118" name="Google Shape;118;p26"/>
          <p:cNvSpPr txBox="1">
            <a:spLocks noGrp="1"/>
          </p:cNvSpPr>
          <p:nvPr>
            <p:ph type="body" idx="3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6"/>
          <p:cNvSpPr txBox="1">
            <a:spLocks noGrp="1"/>
          </p:cNvSpPr>
          <p:nvPr>
            <p:ph type="body" idx="4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6"/>
          <p:cNvSpPr txBox="1">
            <a:spLocks noGrp="1"/>
          </p:cNvSpPr>
          <p:nvPr>
            <p:ph type="body" idx="5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6"/>
          <p:cNvSpPr txBox="1">
            <a:spLocks noGrp="1"/>
          </p:cNvSpPr>
          <p:nvPr>
            <p:ph type="body" idx="6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 b="1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Takeaways">
  <p:cSld name="Key Takeaways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7"/>
          <p:cNvSpPr/>
          <p:nvPr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sz="1400" b="0" i="0" u="none" strike="noStrike" cap="non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7"/>
          <p:cNvSpPr/>
          <p:nvPr/>
        </p:nvSpPr>
        <p:spPr>
          <a:xfrm>
            <a:off x="3559993" y="837660"/>
            <a:ext cx="3377485" cy="38100"/>
          </a:xfrm>
          <a:prstGeom prst="ellipse">
            <a:avLst/>
          </a:prstGeom>
          <a:gradFill>
            <a:gsLst>
              <a:gs pos="0">
                <a:srgbClr val="FFFFFF">
                  <a:alpha val="0"/>
                </a:srgbClr>
              </a:gs>
              <a:gs pos="25000">
                <a:srgbClr val="3645A9"/>
              </a:gs>
              <a:gs pos="50000">
                <a:srgbClr val="3645A9"/>
              </a:gs>
              <a:gs pos="75000">
                <a:srgbClr val="3645A9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27"/>
          <p:cNvSpPr txBox="1">
            <a:spLocks noGrp="1"/>
          </p:cNvSpPr>
          <p:nvPr>
            <p:ph type="body" idx="1"/>
          </p:nvPr>
        </p:nvSpPr>
        <p:spPr>
          <a:xfrm>
            <a:off x="1332875" y="1967907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body" idx="2"/>
          </p:nvPr>
        </p:nvSpPr>
        <p:spPr>
          <a:xfrm>
            <a:off x="1332356" y="2755555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27"/>
          <p:cNvSpPr txBox="1">
            <a:spLocks noGrp="1"/>
          </p:cNvSpPr>
          <p:nvPr>
            <p:ph type="body" idx="3"/>
          </p:nvPr>
        </p:nvSpPr>
        <p:spPr>
          <a:xfrm>
            <a:off x="1331837" y="3567917"/>
            <a:ext cx="90360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body" idx="4"/>
          </p:nvPr>
        </p:nvSpPr>
        <p:spPr>
          <a:xfrm>
            <a:off x="1332873" y="4392637"/>
            <a:ext cx="9034445" cy="10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ssisted Practice">
  <p:cSld name="Assisted Practice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8"/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body" idx="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8"/>
          <p:cNvSpPr txBox="1">
            <a:spLocks noGrp="1"/>
          </p:cNvSpPr>
          <p:nvPr>
            <p:ph type="body" idx="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assisted Practice">
  <p:cSld name="Unassisted Practice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9"/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body" idx="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9"/>
          <p:cNvSpPr txBox="1">
            <a:spLocks noGrp="1"/>
          </p:cNvSpPr>
          <p:nvPr>
            <p:ph type="body" idx="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for_Practise">
  <p:cSld name="Bullet_for_Practis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>
            <a:spLocks noGrp="1"/>
          </p:cNvSpPr>
          <p:nvPr>
            <p:ph type="body" idx="1"/>
          </p:nvPr>
        </p:nvSpPr>
        <p:spPr>
          <a:xfrm>
            <a:off x="1291857" y="1788696"/>
            <a:ext cx="13696999" cy="82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30"/>
          <p:cNvSpPr txBox="1">
            <a:spLocks noGrp="1"/>
          </p:cNvSpPr>
          <p:nvPr>
            <p:ph type="body" idx="2"/>
          </p:nvPr>
        </p:nvSpPr>
        <p:spPr>
          <a:xfrm>
            <a:off x="1285825" y="2872126"/>
            <a:ext cx="13697000" cy="5406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-End Project">
  <p:cSld name="Section-End Projec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1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1"/>
          <p:cNvSpPr txBox="1">
            <a:spLocks noGrp="1"/>
          </p:cNvSpPr>
          <p:nvPr>
            <p:ph type="body" idx="1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-end Project">
  <p:cSld name="Lesson-end Projec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2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2"/>
          <p:cNvSpPr txBox="1">
            <a:spLocks noGrp="1"/>
          </p:cNvSpPr>
          <p:nvPr>
            <p:ph type="body" idx="1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-End Project">
  <p:cSld name="Phase-End Projec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3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3"/>
          <p:cNvSpPr txBox="1">
            <a:spLocks noGrp="1"/>
          </p:cNvSpPr>
          <p:nvPr>
            <p:ph type="body" idx="1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for_projects">
  <p:cSld name="Bullet_for_projects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>
            <a:spLocks noGrp="1"/>
          </p:cNvSpPr>
          <p:nvPr>
            <p:ph type="body" idx="1"/>
          </p:nvPr>
        </p:nvSpPr>
        <p:spPr>
          <a:xfrm>
            <a:off x="4834890" y="1377162"/>
            <a:ext cx="10314607" cy="681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">
  <p:cSld name="Case Study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5"/>
          <p:cNvSpPr txBox="1">
            <a:spLocks noGrp="1"/>
          </p:cNvSpPr>
          <p:nvPr>
            <p:ph type="body" idx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4" name="Google Shape;164;p35" descr="A picture containing child art, table, illustration,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2176" y="2171113"/>
            <a:ext cx="4823955" cy="4555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">
  <p:cSld name="Discussion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3264" y="2051538"/>
            <a:ext cx="4661781" cy="479473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6"/>
          <p:cNvSpPr txBox="1">
            <a:spLocks noGrp="1"/>
          </p:cNvSpPr>
          <p:nvPr>
            <p:ph type="body" idx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-Content">
  <p:cSld name="Discussion-Conten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7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2" name="Google Shape;172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50" y="2249238"/>
            <a:ext cx="4290990" cy="441337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>
            <a:spLocks noGrp="1"/>
          </p:cNvSpPr>
          <p:nvPr>
            <p:ph type="body" idx="1"/>
          </p:nvPr>
        </p:nvSpPr>
        <p:spPr>
          <a:xfrm>
            <a:off x="5394960" y="1761785"/>
            <a:ext cx="10346786" cy="626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le-Play Activities">
  <p:cSld name="Role-Play Activitie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8"/>
          <p:cNvSpPr txBox="1">
            <a:spLocks noGrp="1"/>
          </p:cNvSpPr>
          <p:nvPr>
            <p:ph type="body" idx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7" name="Google Shape;177;p38" descr="A group of people reading books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7129" y="2323120"/>
            <a:ext cx="5664389" cy="4497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urse-end Project">
  <p:cSld name="Course-end Projec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16255996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9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Arial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9"/>
          <p:cNvSpPr txBox="1">
            <a:spLocks noGrp="1"/>
          </p:cNvSpPr>
          <p:nvPr>
            <p:ph type="body" idx="1"/>
          </p:nvPr>
        </p:nvSpPr>
        <p:spPr>
          <a:xfrm>
            <a:off x="4845052" y="1364776"/>
            <a:ext cx="10303962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fore the Next Class">
  <p:cSld name="Before the Next Class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0"/>
          <p:cNvSpPr/>
          <p:nvPr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Open Sans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Before the Next Class</a:t>
            </a:r>
            <a:endParaRPr sz="2800" b="1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40"/>
          <p:cNvSpPr txBox="1">
            <a:spLocks noGrp="1"/>
          </p:cNvSpPr>
          <p:nvPr>
            <p:ph type="body" idx="1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at Next?">
  <p:cSld name="What Next?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1"/>
          <p:cNvSpPr/>
          <p:nvPr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Open Sans"/>
              <a:buNone/>
            </a:pPr>
            <a:r>
              <a:rPr lang="en-US" sz="2800" b="1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What’s Next?</a:t>
            </a:r>
            <a:endParaRPr sz="2800" b="1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41"/>
          <p:cNvSpPr txBox="1">
            <a:spLocks noGrp="1"/>
          </p:cNvSpPr>
          <p:nvPr>
            <p:ph type="body" idx="1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Open Sans"/>
              <a:buNone/>
              <a:defRPr sz="220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_for_whatnext_nextclass">
  <p:cSld name="Bullets_for_whatnext_nextclass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2"/>
          <p:cNvSpPr txBox="1">
            <a:spLocks noGrp="1"/>
          </p:cNvSpPr>
          <p:nvPr>
            <p:ph type="body" idx="1"/>
          </p:nvPr>
        </p:nvSpPr>
        <p:spPr>
          <a:xfrm>
            <a:off x="670649" y="1377162"/>
            <a:ext cx="8439490" cy="681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  <a:defRPr>
                <a:solidFill>
                  <a:srgbClr val="3F3F3F"/>
                </a:solidFill>
              </a:defRPr>
            </a:lvl1pPr>
            <a:lvl2pPr marL="914400" lvl="1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68300" algn="l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Courier New"/>
              <a:buChar char="o"/>
              <a:defRPr>
                <a:solidFill>
                  <a:srgbClr val="3F3F3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1117600" y="487363"/>
            <a:ext cx="14020800" cy="176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Open Sans"/>
              <a:buNone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1117600" y="2433638"/>
            <a:ext cx="14020800" cy="580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683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68300" algn="l" rtl="0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6">
          <p15:clr>
            <a:srgbClr val="5ACBF0"/>
          </p15:clr>
        </p15:guide>
        <p15:guide id="2" pos="5120">
          <p15:clr>
            <a:srgbClr val="000000"/>
          </p15:clr>
        </p15:guide>
        <p15:guide id="3" orient="horz" pos="2880">
          <p15:clr>
            <a:srgbClr val="000000"/>
          </p15:clr>
        </p15:guide>
        <p15:guide id="4" orient="horz" pos="5184">
          <p15:clr>
            <a:srgbClr val="5ACBF0"/>
          </p15:clr>
        </p15:guide>
        <p15:guide id="5" pos="1016">
          <p15:clr>
            <a:srgbClr val="5ACBF0"/>
          </p15:clr>
        </p15:guide>
        <p15:guide id="6" pos="512">
          <p15:clr>
            <a:srgbClr val="F26B43"/>
          </p15:clr>
        </p15:guide>
        <p15:guide id="7" pos="9224">
          <p15:clr>
            <a:srgbClr val="5ACBF0"/>
          </p15:clr>
        </p15:guide>
        <p15:guide id="8" pos="9728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 pos="5472">
          <p15:clr>
            <a:srgbClr val="F26B43"/>
          </p15:clr>
        </p15:guide>
        <p15:guide id="11" pos="8576">
          <p15:clr>
            <a:srgbClr val="5ACBF0"/>
          </p15:clr>
        </p15:guide>
        <p15:guide id="12" pos="8192">
          <p15:clr>
            <a:srgbClr val="5ACBF0"/>
          </p15:clr>
        </p15:guide>
        <p15:guide id="13" pos="1664">
          <p15:clr>
            <a:srgbClr val="5ACBF0"/>
          </p15:clr>
        </p15:guide>
        <p15:guide id="14" pos="2048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3F3F3F"/>
              </a:buClr>
              <a:buSzPts val="3733"/>
              <a:buNone/>
            </a:pPr>
            <a:r>
              <a:rPr lang="en-US" dirty="0"/>
              <a:t>Natural Language Processing and</a:t>
            </a:r>
          </a:p>
          <a:p>
            <a:pPr marL="0" lvl="0" indent="0" algn="ctr" rtl="0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rgbClr val="3F3F3F"/>
              </a:buClr>
              <a:buSzPts val="3733"/>
              <a:buNone/>
            </a:pPr>
            <a:r>
              <a:rPr lang="en-US" dirty="0"/>
              <a:t> Speech Recognition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"/>
          <p:cNvSpPr txBox="1">
            <a:spLocks noGrp="1"/>
          </p:cNvSpPr>
          <p:nvPr>
            <p:ph type="body" idx="1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Attention Models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"/>
          <p:cNvSpPr txBox="1">
            <a:spLocks noGrp="1"/>
          </p:cNvSpPr>
          <p:nvPr>
            <p:ph type="body" idx="5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dirty="0"/>
              <a:t>What is the primary purpose of attention mechanisms in natural language processing?</a:t>
            </a:r>
            <a:endParaRPr dirty="0"/>
          </a:p>
        </p:txBody>
      </p:sp>
      <p:sp>
        <p:nvSpPr>
          <p:cNvPr id="211" name="Google Shape;211;p4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212" name="Google Shape;212;p4"/>
          <p:cNvSpPr txBox="1"/>
          <p:nvPr/>
        </p:nvSpPr>
        <p:spPr>
          <a:xfrm>
            <a:off x="2338682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Dimensionality reduction</a:t>
            </a:r>
            <a:endParaRPr/>
          </a:p>
        </p:txBody>
      </p:sp>
      <p:sp>
        <p:nvSpPr>
          <p:cNvPr id="213" name="Google Shape;213;p4"/>
          <p:cNvSpPr txBox="1"/>
          <p:nvPr/>
        </p:nvSpPr>
        <p:spPr>
          <a:xfrm>
            <a:off x="2342798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Capturing sequential information</a:t>
            </a:r>
            <a:endParaRPr/>
          </a:p>
        </p:txBody>
      </p:sp>
      <p:sp>
        <p:nvSpPr>
          <p:cNvPr id="214" name="Google Shape;214;p4"/>
          <p:cNvSpPr txBox="1"/>
          <p:nvPr/>
        </p:nvSpPr>
        <p:spPr>
          <a:xfrm>
            <a:off x="2342798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Focusing on specific parts of input sequences</a:t>
            </a:r>
            <a:endParaRPr/>
          </a:p>
        </p:txBody>
      </p:sp>
      <p:sp>
        <p:nvSpPr>
          <p:cNvPr id="215" name="Google Shape;215;p4"/>
          <p:cNvSpPr txBox="1"/>
          <p:nvPr/>
        </p:nvSpPr>
        <p:spPr>
          <a:xfrm>
            <a:off x="2346914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Image classification</a:t>
            </a:r>
            <a:endParaRPr sz="20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"/>
          <p:cNvSpPr txBox="1">
            <a:spLocks noGrp="1"/>
          </p:cNvSpPr>
          <p:nvPr>
            <p:ph type="body" idx="1"/>
          </p:nvPr>
        </p:nvSpPr>
        <p:spPr>
          <a:xfrm>
            <a:off x="3484605" y="7277661"/>
            <a:ext cx="8601033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</a:pPr>
            <a:r>
              <a:rPr lang="en-US"/>
              <a:t>C</a:t>
            </a:r>
            <a:endParaRPr/>
          </a:p>
        </p:txBody>
      </p:sp>
      <p:sp>
        <p:nvSpPr>
          <p:cNvPr id="221" name="Google Shape;221;p5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None/>
            </a:pPr>
            <a:r>
              <a:rPr lang="en-US" i="0">
                <a:solidFill>
                  <a:srgbClr val="374151"/>
                </a:solidFill>
              </a:rPr>
              <a:t>Attention mechanisms in NLP allow models to focus on specific parts of input sequences, enabling them to give more weight to relevant information.</a:t>
            </a:r>
            <a:endParaRPr/>
          </a:p>
        </p:txBody>
      </p:sp>
      <p:sp>
        <p:nvSpPr>
          <p:cNvPr id="222" name="Google Shape;222;p5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/>
              <a:t>What is the primary purpose of attention mechanisms in natural language processing?</a:t>
            </a:r>
            <a:endParaRPr/>
          </a:p>
        </p:txBody>
      </p:sp>
      <p:sp>
        <p:nvSpPr>
          <p:cNvPr id="223" name="Google Shape;223;p5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224" name="Google Shape;224;p5"/>
          <p:cNvSpPr txBox="1"/>
          <p:nvPr/>
        </p:nvSpPr>
        <p:spPr>
          <a:xfrm>
            <a:off x="2338682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3F3F3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Dimensionality reduction</a:t>
            </a:r>
            <a:endParaRPr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2342798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Capturing sequential information</a:t>
            </a:r>
            <a:endParaRPr sz="2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2342798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F3F3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Focusing on specific parts of input sequences</a:t>
            </a:r>
            <a:endParaRPr sz="2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3F3F3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2346914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37415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Image classification</a:t>
            </a:r>
            <a:endParaRPr sz="2000" b="0" i="0" u="none" strike="noStrike" cap="none" dirty="0">
              <a:solidFill>
                <a:srgbClr val="3F3F3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 txBox="1">
            <a:spLocks noGrp="1"/>
          </p:cNvSpPr>
          <p:nvPr>
            <p:ph type="body" idx="5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/>
              <a:t>What key innovation distinguishes the transformer architecture from traditional recurrent neural networks (RNNs) in NLP?</a:t>
            </a:r>
            <a:endParaRPr/>
          </a:p>
        </p:txBody>
      </p:sp>
      <p:sp>
        <p:nvSpPr>
          <p:cNvPr id="233" name="Google Shape;233;p6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2338682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Use of convolutional layers</a:t>
            </a:r>
            <a:endParaRPr sz="20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2342798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Attention mechanisms</a:t>
            </a:r>
            <a:endParaRPr sz="20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2342798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Fixed-size input sequences</a:t>
            </a:r>
            <a:endParaRPr sz="20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2346914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Lack of layer-wise connections</a:t>
            </a:r>
            <a:endParaRPr sz="2000" b="0" i="0" u="none" strike="noStrike" cap="none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"/>
          <p:cNvSpPr txBox="1">
            <a:spLocks noGrp="1"/>
          </p:cNvSpPr>
          <p:nvPr>
            <p:ph type="body" idx="1"/>
          </p:nvPr>
        </p:nvSpPr>
        <p:spPr>
          <a:xfrm>
            <a:off x="3484605" y="7277661"/>
            <a:ext cx="8601033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</a:pPr>
            <a:r>
              <a:rPr lang="en-US"/>
              <a:t>B</a:t>
            </a:r>
            <a:endParaRPr/>
          </a:p>
        </p:txBody>
      </p:sp>
      <p:sp>
        <p:nvSpPr>
          <p:cNvPr id="243" name="Google Shape;243;p7"/>
          <p:cNvSpPr txBox="1">
            <a:spLocks noGrp="1"/>
          </p:cNvSpPr>
          <p:nvPr>
            <p:ph type="body" idx="2"/>
          </p:nvPr>
        </p:nvSpPr>
        <p:spPr>
          <a:xfrm>
            <a:off x="669925" y="7935913"/>
            <a:ext cx="13095288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r>
              <a:rPr lang="en-US"/>
              <a:t>The transformer architecture is characterized by its attention mechanisms, which allow it to capture long-range dependencies in input sequences more effectively than traditional RNNs.</a:t>
            </a:r>
            <a:endParaRPr/>
          </a:p>
        </p:txBody>
      </p:sp>
      <p:sp>
        <p:nvSpPr>
          <p:cNvPr id="244" name="Google Shape;244;p7"/>
          <p:cNvSpPr txBox="1">
            <a:spLocks noGrp="1"/>
          </p:cNvSpPr>
          <p:nvPr>
            <p:ph type="body" idx="3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None/>
            </a:pPr>
            <a:r>
              <a:rPr lang="en-US" b="0" i="0">
                <a:solidFill>
                  <a:srgbClr val="374151"/>
                </a:solidFill>
              </a:rPr>
              <a:t>Use of convolutional layers</a:t>
            </a:r>
            <a:endParaRPr/>
          </a:p>
        </p:txBody>
      </p:sp>
      <p:sp>
        <p:nvSpPr>
          <p:cNvPr id="245" name="Google Shape;245;p7"/>
          <p:cNvSpPr txBox="1">
            <a:spLocks noGrp="1"/>
          </p:cNvSpPr>
          <p:nvPr>
            <p:ph type="body" idx="4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None/>
            </a:pPr>
            <a:r>
              <a:rPr lang="en-US" b="0" i="0">
                <a:solidFill>
                  <a:srgbClr val="374151"/>
                </a:solidFill>
              </a:rPr>
              <a:t>Attention mechanisms</a:t>
            </a:r>
            <a:endParaRPr/>
          </a:p>
        </p:txBody>
      </p:sp>
      <p:sp>
        <p:nvSpPr>
          <p:cNvPr id="246" name="Google Shape;246;p7"/>
          <p:cNvSpPr txBox="1">
            <a:spLocks noGrp="1"/>
          </p:cNvSpPr>
          <p:nvPr>
            <p:ph type="body" idx="5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None/>
            </a:pPr>
            <a:r>
              <a:rPr lang="en-US" b="0" i="0">
                <a:solidFill>
                  <a:srgbClr val="374151"/>
                </a:solidFill>
              </a:rPr>
              <a:t>Fixed-size input sequences</a:t>
            </a:r>
            <a:endParaRPr/>
          </a:p>
        </p:txBody>
      </p:sp>
      <p:sp>
        <p:nvSpPr>
          <p:cNvPr id="247" name="Google Shape;247;p7"/>
          <p:cNvSpPr txBox="1">
            <a:spLocks noGrp="1"/>
          </p:cNvSpPr>
          <p:nvPr>
            <p:ph type="body" idx="6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None/>
            </a:pPr>
            <a:r>
              <a:rPr lang="en-US" b="0" i="0">
                <a:solidFill>
                  <a:srgbClr val="374151"/>
                </a:solidFill>
              </a:rPr>
              <a:t>Lack of layer-wise connections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</a:pPr>
            <a:endParaRPr/>
          </a:p>
        </p:txBody>
      </p:sp>
      <p:sp>
        <p:nvSpPr>
          <p:cNvPr id="248" name="Google Shape;248;p7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/>
              <a:t>What key innovation distinguishes the transformer architecture from traditional recurrent neural networks (RNNs) in NLP?</a:t>
            </a:r>
            <a:endParaRPr/>
          </a:p>
        </p:txBody>
      </p:sp>
      <p:sp>
        <p:nvSpPr>
          <p:cNvPr id="249" name="Google Shape;249;p7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"/>
          <p:cNvSpPr txBox="1">
            <a:spLocks noGrp="1"/>
          </p:cNvSpPr>
          <p:nvPr>
            <p:ph type="body" idx="5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/>
              <a:t>What is a common characteristic of both BERT and GPT models in the context of natural language processing?</a:t>
            </a:r>
            <a:endParaRPr/>
          </a:p>
        </p:txBody>
      </p:sp>
      <p:sp>
        <p:nvSpPr>
          <p:cNvPr id="255" name="Google Shape;255;p8"/>
          <p:cNvSpPr txBox="1">
            <a:spLocks noGrp="1"/>
          </p:cNvSpPr>
          <p:nvPr>
            <p:ph type="body" idx="6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56" name="Google Shape;256;p8"/>
          <p:cNvSpPr txBox="1"/>
          <p:nvPr/>
        </p:nvSpPr>
        <p:spPr>
          <a:xfrm>
            <a:off x="2338682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They are based on convolutional neural networks.</a:t>
            </a:r>
            <a:endParaRPr sz="2000" b="0" i="0" u="none" strike="noStrike" cap="none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2342798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rPr>
              <a:t>They do not use attention mechanisms.</a:t>
            </a:r>
            <a:endParaRPr sz="2000" b="0" i="0" u="none" strike="noStrike" cap="none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8" name="Google Shape;258;p8"/>
          <p:cNvSpPr txBox="1"/>
          <p:nvPr/>
        </p:nvSpPr>
        <p:spPr>
          <a:xfrm>
            <a:off x="2342798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They are specifically designed for image processing.</a:t>
            </a:r>
            <a:endParaRPr sz="2000" b="0" i="0" u="none" strike="noStrike" cap="none" dirty="0">
              <a:solidFill>
                <a:srgbClr val="3F3F3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2346914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They utilize attention mechanisms for contextual understanding.</a:t>
            </a:r>
            <a:endParaRPr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"/>
          <p:cNvSpPr txBox="1">
            <a:spLocks noGrp="1"/>
          </p:cNvSpPr>
          <p:nvPr>
            <p:ph type="body" idx="1"/>
          </p:nvPr>
        </p:nvSpPr>
        <p:spPr>
          <a:xfrm>
            <a:off x="3484605" y="7277661"/>
            <a:ext cx="8601033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24F93"/>
              </a:buClr>
              <a:buSzPts val="2000"/>
              <a:buNone/>
            </a:pPr>
            <a:r>
              <a:rPr lang="en-US"/>
              <a:t>D</a:t>
            </a:r>
            <a:endParaRPr/>
          </a:p>
        </p:txBody>
      </p:sp>
      <p:sp>
        <p:nvSpPr>
          <p:cNvPr id="265" name="Google Shape;265;p9"/>
          <p:cNvSpPr txBox="1">
            <a:spLocks noGrp="1"/>
          </p:cNvSpPr>
          <p:nvPr>
            <p:ph type="body" idx="2"/>
          </p:nvPr>
        </p:nvSpPr>
        <p:spPr>
          <a:xfrm>
            <a:off x="669924" y="7935913"/>
            <a:ext cx="13980353" cy="100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en-US" dirty="0"/>
              <a:t>Sequence models, such as BERT and GPT, contribute to sentiment analysis by effectively capturing the order of words and contextual information in text, allowing for a more nuanced understanding of sentiment expression.</a:t>
            </a:r>
            <a:endParaRPr dirty="0"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endParaRPr dirty="0"/>
          </a:p>
        </p:txBody>
      </p:sp>
      <p:sp>
        <p:nvSpPr>
          <p:cNvPr id="266" name="Google Shape;266;p9"/>
          <p:cNvSpPr txBox="1">
            <a:spLocks noGrp="1"/>
          </p:cNvSpPr>
          <p:nvPr>
            <p:ph type="body" idx="3"/>
          </p:nvPr>
        </p:nvSpPr>
        <p:spPr>
          <a:xfrm>
            <a:off x="2330450" y="2698180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None/>
            </a:pPr>
            <a:r>
              <a:rPr lang="en-US" b="0" i="0" dirty="0">
                <a:solidFill>
                  <a:srgbClr val="374151"/>
                </a:solidFill>
              </a:rPr>
              <a:t>They are based on convolutional neural networks.</a:t>
            </a:r>
            <a:endParaRPr dirty="0"/>
          </a:p>
        </p:txBody>
      </p:sp>
      <p:sp>
        <p:nvSpPr>
          <p:cNvPr id="267" name="Google Shape;267;p9"/>
          <p:cNvSpPr txBox="1">
            <a:spLocks noGrp="1"/>
          </p:cNvSpPr>
          <p:nvPr>
            <p:ph type="body" idx="4"/>
          </p:nvPr>
        </p:nvSpPr>
        <p:spPr>
          <a:xfrm>
            <a:off x="2334566" y="3629064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None/>
            </a:pPr>
            <a:r>
              <a:rPr lang="en-US" b="0" i="0" dirty="0">
                <a:solidFill>
                  <a:srgbClr val="374151"/>
                </a:solidFill>
              </a:rPr>
              <a:t>They do not use attention mechanisms.</a:t>
            </a:r>
            <a:endParaRPr dirty="0"/>
          </a:p>
        </p:txBody>
      </p:sp>
      <p:sp>
        <p:nvSpPr>
          <p:cNvPr id="268" name="Google Shape;268;p9"/>
          <p:cNvSpPr txBox="1">
            <a:spLocks noGrp="1"/>
          </p:cNvSpPr>
          <p:nvPr>
            <p:ph type="body" idx="5"/>
          </p:nvPr>
        </p:nvSpPr>
        <p:spPr>
          <a:xfrm>
            <a:off x="2334566" y="4568181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b="0" i="0" dirty="0"/>
              <a:t>They are specifically designed for image processing.</a:t>
            </a:r>
            <a:endParaRPr dirty="0"/>
          </a:p>
        </p:txBody>
      </p:sp>
      <p:sp>
        <p:nvSpPr>
          <p:cNvPr id="269" name="Google Shape;269;p9"/>
          <p:cNvSpPr txBox="1">
            <a:spLocks noGrp="1"/>
          </p:cNvSpPr>
          <p:nvPr>
            <p:ph type="body" idx="6"/>
          </p:nvPr>
        </p:nvSpPr>
        <p:spPr>
          <a:xfrm>
            <a:off x="2338682" y="5511422"/>
            <a:ext cx="11250613" cy="836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 dirty="0"/>
              <a:t>They utilize attention mechanisms for contextual understanding.</a:t>
            </a:r>
            <a:endParaRPr dirty="0"/>
          </a:p>
        </p:txBody>
      </p:sp>
      <p:sp>
        <p:nvSpPr>
          <p:cNvPr id="270" name="Google Shape;270;p9"/>
          <p:cNvSpPr txBox="1">
            <a:spLocks noGrp="1"/>
          </p:cNvSpPr>
          <p:nvPr>
            <p:ph type="body" idx="7"/>
          </p:nvPr>
        </p:nvSpPr>
        <p:spPr>
          <a:xfrm>
            <a:off x="2967015" y="580287"/>
            <a:ext cx="12401573" cy="1447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None/>
            </a:pPr>
            <a:r>
              <a:rPr lang="en-US"/>
              <a:t>What is a common characteristic of both BERT and GPT models in the context of natural language processing?</a:t>
            </a:r>
            <a:endParaRPr/>
          </a:p>
        </p:txBody>
      </p:sp>
      <p:sp>
        <p:nvSpPr>
          <p:cNvPr id="271" name="Google Shape;271;p9"/>
          <p:cNvSpPr txBox="1">
            <a:spLocks noGrp="1"/>
          </p:cNvSpPr>
          <p:nvPr>
            <p:ph type="body" idx="8"/>
          </p:nvPr>
        </p:nvSpPr>
        <p:spPr>
          <a:xfrm>
            <a:off x="1562390" y="1193800"/>
            <a:ext cx="1135063" cy="83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en-US"/>
              <a:t>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"/>
          <p:cNvSpPr txBox="1">
            <a:spLocks noGrp="1"/>
          </p:cNvSpPr>
          <p:nvPr>
            <p:ph type="body" idx="1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3_LVC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324</Words>
  <Application>Microsoft Office PowerPoint</Application>
  <PresentationFormat>Custom</PresentationFormat>
  <Paragraphs>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Open Sans</vt:lpstr>
      <vt:lpstr>Arial</vt:lpstr>
      <vt:lpstr>Calibri</vt:lpstr>
      <vt:lpstr>Courier New</vt:lpstr>
      <vt:lpstr>2023_LVC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Alok Parashar</dc:creator>
  <cp:lastModifiedBy>Vikas Singh</cp:lastModifiedBy>
  <cp:revision>5</cp:revision>
  <dcterms:created xsi:type="dcterms:W3CDTF">2023-05-19T12:36:11Z</dcterms:created>
  <dcterms:modified xsi:type="dcterms:W3CDTF">2023-12-29T10:24:03Z</dcterms:modified>
</cp:coreProperties>
</file>