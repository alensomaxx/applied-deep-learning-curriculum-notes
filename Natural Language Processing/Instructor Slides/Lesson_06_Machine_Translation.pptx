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2" r:id="rId9"/>
  </p:sldIdLst>
  <p:sldSz cx="16256000" cy="9144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tbJ2ibbftjLhXwcex33m/w==" hashData="bOeA+sWJ5LxIPmtfaPVHPiryehBO1DkeIgoEJ/UWJ7iQJbGWfxQ4+RyQhMHTjcKCagrQUgf++M25Zt4wiMjIVA=="/>
  <p:extLst>
    <p:ext uri="{EFAFB233-063F-42B5-8137-9DF3F51BA10A}">
      <p15:sldGuideLst xmlns:p15="http://schemas.microsoft.com/office/powerpoint/2012/main">
        <p15:guide id="1" pos="5075">
          <p15:clr>
            <a:srgbClr val="A4A3A4"/>
          </p15:clr>
        </p15:guide>
        <p15:guide id="2" orient="horz" pos="1678">
          <p15:clr>
            <a:srgbClr val="A4A3A4"/>
          </p15:clr>
        </p15:guide>
        <p15:guide id="3" pos="7501">
          <p15:clr>
            <a:srgbClr val="A4A3A4"/>
          </p15:clr>
        </p15:guide>
        <p15:guide id="4" pos="6209">
          <p15:clr>
            <a:srgbClr val="A4A3A4"/>
          </p15:clr>
        </p15:guide>
        <p15:guide id="5" pos="4031">
          <p15:clr>
            <a:srgbClr val="A4A3A4"/>
          </p15:clr>
        </p15:guide>
        <p15:guide id="6" pos="2739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n0hBJaDn//O2z3FqNeJOKidSb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48" d="100"/>
          <a:sy n="48" d="100"/>
        </p:scale>
        <p:origin x="858" y="66"/>
      </p:cViewPr>
      <p:guideLst>
        <p:guide pos="5075"/>
        <p:guide orient="horz" pos="1678"/>
        <p:guide pos="7501"/>
        <p:guide pos="6209"/>
        <p:guide pos="4031"/>
        <p:guide pos="27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49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Name">
  <p:cSld name="Course Nam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9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>
  <p:cSld name="Lesson Nam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0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Topic Nam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>
  <p:cSld name="Knowledge Check 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6" descr="A picture containing arrow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6"/>
          <p:cNvSpPr/>
          <p:nvPr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7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47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47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47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47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7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IS">
  <p:cSld name="Ques_Ans_I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8"/>
          <p:cNvSpPr txBox="1"/>
          <p:nvPr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2" name="Google Shape;72;p48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48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8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48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48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48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80" name="Google Shape;80;p48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81" name="Google Shape;81;p48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82" name="Google Shape;82;p48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8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8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8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8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>
  <p:cSld name="You Already Know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9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9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49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00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You_already_know">
  <p:cSld name="Bullet_You_already_know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0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0"/>
          <p:cNvSpPr txBox="1">
            <a:spLocks noGrp="1"/>
          </p:cNvSpPr>
          <p:nvPr>
            <p:ph type="body" idx="1"/>
          </p:nvPr>
        </p:nvSpPr>
        <p:spPr>
          <a:xfrm>
            <a:off x="1250783" y="1512887"/>
            <a:ext cx="13732042" cy="661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>
  <p:cSld name="Recap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1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1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51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>
  <p:cSld name="A day in the lif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2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2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5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Aday_Recap">
  <p:cSld name="Bullets_for_Aday_Recap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3"/>
          <p:cNvSpPr txBox="1">
            <a:spLocks noGrp="1"/>
          </p:cNvSpPr>
          <p:nvPr>
            <p:ph type="body" idx="1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53"/>
          <p:cNvSpPr txBox="1">
            <a:spLocks noGrp="1"/>
          </p:cNvSpPr>
          <p:nvPr>
            <p:ph type="body" idx="2"/>
          </p:nvPr>
        </p:nvSpPr>
        <p:spPr>
          <a:xfrm>
            <a:off x="844550" y="2603500"/>
            <a:ext cx="10807700" cy="55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Are">
  <p:cSld name="Ques_Ans_Ar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4"/>
          <p:cNvSpPr txBox="1"/>
          <p:nvPr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5" name="Google Shape;115;p54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54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54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54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54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54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54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54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123" name="Google Shape;123;p54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54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125" name="Google Shape;125;p54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54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127" name="Google Shape;127;p54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4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129" name="Google Shape;129;p54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4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4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sisted Practice">
  <p:cSld name="Assisted Practic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5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55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>
  <p:cSld name="Unassisted Practic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6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6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56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actise">
  <p:cSld name="Bullet_for_Practis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7"/>
          <p:cNvSpPr txBox="1">
            <a:spLocks noGrp="1"/>
          </p:cNvSpPr>
          <p:nvPr>
            <p:ph type="body" idx="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57"/>
          <p:cNvSpPr txBox="1">
            <a:spLocks noGrp="1"/>
          </p:cNvSpPr>
          <p:nvPr>
            <p:ph type="body" idx="2"/>
          </p:nvPr>
        </p:nvSpPr>
        <p:spPr>
          <a:xfrm>
            <a:off x="1285825" y="2872126"/>
            <a:ext cx="13697000" cy="54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>
  <p:cSld name="Section-End Pro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8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>
  <p:cSld name="Lesson-end Pro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9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>
  <p:cSld name="Phase-End Pro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0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60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ojects">
  <p:cSld name="Bullet_for_pro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1"/>
          <p:cNvSpPr txBox="1">
            <a:spLocks noGrp="1"/>
          </p:cNvSpPr>
          <p:nvPr>
            <p:ph type="body" idx="1"/>
          </p:nvPr>
        </p:nvSpPr>
        <p:spPr>
          <a:xfrm>
            <a:off x="4834890" y="1377162"/>
            <a:ext cx="10314607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2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62" descr="A picture containing child art, table, illustration,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2176" y="2171113"/>
            <a:ext cx="4823955" cy="45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Discuss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3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>
  <p:cSld name="Discussion-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4"/>
          <p:cNvSpPr txBox="1">
            <a:spLocks noGrp="1"/>
          </p:cNvSpPr>
          <p:nvPr>
            <p:ph type="body" idx="1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le-Play Activities">
  <p:cSld name="Role-Play Activitie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5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65" descr="A group of people reading book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129" y="2323120"/>
            <a:ext cx="5664389" cy="449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>
  <p:cSld name="Course-end Pro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6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66"/>
          <p:cNvSpPr txBox="1">
            <a:spLocks noGrp="1"/>
          </p:cNvSpPr>
          <p:nvPr>
            <p:ph type="body" idx="1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>
  <p:cSld name="Before the Next Clas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7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67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>
  <p:cSld name="What Next?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8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68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whatnext_nextclass">
  <p:cSld name="Bullets_for_whatnext_nextclas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9"/>
          <p:cNvSpPr txBox="1">
            <a:spLocks noGrp="1"/>
          </p:cNvSpPr>
          <p:nvPr>
            <p:ph type="body" idx="1"/>
          </p:nvPr>
        </p:nvSpPr>
        <p:spPr>
          <a:xfrm>
            <a:off x="670649" y="1377162"/>
            <a:ext cx="8439490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>
          <p15:clr>
            <a:srgbClr val="5ACBF0"/>
          </p15:clr>
        </p15:guide>
        <p15:guide id="2" pos="5120">
          <p15:clr>
            <a:srgbClr val="000000"/>
          </p15:clr>
        </p15:guide>
        <p15:guide id="3" orient="horz" pos="2880">
          <p15:clr>
            <a:srgbClr val="000000"/>
          </p15:clr>
        </p15:guide>
        <p15:guide id="4" orient="horz" pos="5184">
          <p15:clr>
            <a:srgbClr val="5ACBF0"/>
          </p15:clr>
        </p15:guide>
        <p15:guide id="5" pos="1016">
          <p15:clr>
            <a:srgbClr val="5ACBF0"/>
          </p15:clr>
        </p15:guide>
        <p15:guide id="6" pos="512">
          <p15:clr>
            <a:srgbClr val="F26B43"/>
          </p15:clr>
        </p15:guide>
        <p15:guide id="7" pos="9224">
          <p15:clr>
            <a:srgbClr val="5ACBF0"/>
          </p15:clr>
        </p15:guide>
        <p15:guide id="8" pos="972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 pos="5472">
          <p15:clr>
            <a:srgbClr val="F26B43"/>
          </p15:clr>
        </p15:guide>
        <p15:guide id="11" pos="8576">
          <p15:clr>
            <a:srgbClr val="5ACBF0"/>
          </p15:clr>
        </p15:guide>
        <p15:guide id="12" pos="8192">
          <p15:clr>
            <a:srgbClr val="5ACBF0"/>
          </p15:clr>
        </p15:guide>
        <p15:guide id="13" pos="1664">
          <p15:clr>
            <a:srgbClr val="5ACBF0"/>
          </p15:clr>
        </p15:guide>
        <p15:guide id="14" pos="20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Natural Language Processing and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Speech Recognition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Machine Translation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1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875" indent="0" algn="l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measure the distance between source and target language words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5" name="Google Shape;615;p31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875" indent="0" algn="l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calculate the probability of translation for each word</a:t>
            </a:r>
          </a:p>
        </p:txBody>
      </p:sp>
      <p:sp>
        <p:nvSpPr>
          <p:cNvPr id="616" name="Google Shape;616;p31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625" indent="0" algn="l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assess the overall similarity of documents or sentences in different languages</a:t>
            </a:r>
          </a:p>
        </p:txBody>
      </p:sp>
      <p:sp>
        <p:nvSpPr>
          <p:cNvPr id="617" name="Google Shape;617;p31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625" indent="0" algn="l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determine the grammatical correctness of translated sentences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8" name="Google Shape;618;p31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IN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primary purpose of using cosine similarity in machine translation?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9" name="Google Shape;619;p31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2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200"/>
              <a:buNone/>
            </a:pPr>
            <a:r>
              <a:rPr lang="en-US" sz="2200" dirty="0"/>
              <a:t>C</a:t>
            </a:r>
            <a:endParaRPr dirty="0"/>
          </a:p>
        </p:txBody>
      </p:sp>
      <p:sp>
        <p:nvSpPr>
          <p:cNvPr id="625" name="Google Shape;625;p32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IN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Cosine similarity helps assess the overall similarity of documents or sentences in different languages.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0" name="Google Shape;630;p32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IN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primary purpose of using cosine similarity in machine translation?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1" name="Google Shape;631;p32"/>
          <p:cNvSpPr txBox="1">
            <a:spLocks noGrp="1"/>
          </p:cNvSpPr>
          <p:nvPr>
            <p:ph type="body" idx="8"/>
          </p:nvPr>
        </p:nvSpPr>
        <p:spPr>
          <a:xfrm>
            <a:off x="156210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0" name="Google Shape;614;p31">
            <a:extLst>
              <a:ext uri="{FF2B5EF4-FFF2-40B4-BE49-F238E27FC236}">
                <a16:creationId xmlns:a16="http://schemas.microsoft.com/office/drawing/2014/main" id="{7ECA910C-1E31-50B9-554E-08B9376B6C51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24F9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875" indent="0"/>
            <a:r>
              <a:rPr lang="en-IN" b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measure the distance between source and target language words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Google Shape;615;p31">
            <a:extLst>
              <a:ext uri="{FF2B5EF4-FFF2-40B4-BE49-F238E27FC236}">
                <a16:creationId xmlns:a16="http://schemas.microsoft.com/office/drawing/2014/main" id="{72A67C39-715E-0AD3-FCC6-172ADFD4D48D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875" indent="0"/>
            <a:r>
              <a:rPr lang="en-IN" b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calculate the probability of translation for each word</a:t>
            </a:r>
          </a:p>
        </p:txBody>
      </p:sp>
      <p:sp>
        <p:nvSpPr>
          <p:cNvPr id="12" name="Google Shape;616;p31">
            <a:extLst>
              <a:ext uri="{FF2B5EF4-FFF2-40B4-BE49-F238E27FC236}">
                <a16:creationId xmlns:a16="http://schemas.microsoft.com/office/drawing/2014/main" id="{B62D4663-EF09-68C4-7B09-BF111949631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625" indent="0" algn="l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assess the overall similarity of documents or sentences in different languages</a:t>
            </a:r>
          </a:p>
        </p:txBody>
      </p:sp>
      <p:sp>
        <p:nvSpPr>
          <p:cNvPr id="13" name="Google Shape;617;p31">
            <a:extLst>
              <a:ext uri="{FF2B5EF4-FFF2-40B4-BE49-F238E27FC236}">
                <a16:creationId xmlns:a16="http://schemas.microsoft.com/office/drawing/2014/main" id="{09B75B15-49B7-AD09-BEA7-F50BABAC2378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625" indent="0" algn="l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determine the grammatical correctness of translated sentences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3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directly represent words as one-hot vectors.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7" name="Google Shape;637;p33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capture semantic relationship between words and their context.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8" name="Google Shape;638;p33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only work well with a small vocabulary.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9" name="Google Shape;639;p33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rely on rule-based translation methods.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1" name="Google Shape;641;p33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" name="Google Shape;630;p32">
            <a:extLst>
              <a:ext uri="{FF2B5EF4-FFF2-40B4-BE49-F238E27FC236}">
                <a16:creationId xmlns:a16="http://schemas.microsoft.com/office/drawing/2014/main" id="{270AED56-2C38-D2E9-ADC9-70480ECBC9D0}"/>
              </a:ext>
            </a:extLst>
          </p:cNvPr>
          <p:cNvSpPr txBox="1">
            <a:spLocks/>
          </p:cNvSpPr>
          <p:nvPr/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000"/>
              </a:lnSpc>
              <a:buClr>
                <a:srgbClr val="3F3F3F"/>
              </a:buClr>
              <a:buSzPts val="2800"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primary advantage of using word embeddings in machine translation?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4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200"/>
              <a:buNone/>
            </a:pPr>
            <a:r>
              <a:rPr lang="en-US" sz="2200" dirty="0"/>
              <a:t>B</a:t>
            </a:r>
            <a:endParaRPr dirty="0"/>
          </a:p>
        </p:txBody>
      </p:sp>
      <p:sp>
        <p:nvSpPr>
          <p:cNvPr id="647" name="Google Shape;647;p34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Word embeddings capture semantic relationship between words and their context. </a:t>
            </a:r>
            <a:endParaRPr dirty="0"/>
          </a:p>
        </p:txBody>
      </p:sp>
      <p:sp>
        <p:nvSpPr>
          <p:cNvPr id="653" name="Google Shape;653;p34"/>
          <p:cNvSpPr txBox="1">
            <a:spLocks noGrp="1"/>
          </p:cNvSpPr>
          <p:nvPr>
            <p:ph type="body" idx="8"/>
          </p:nvPr>
        </p:nvSpPr>
        <p:spPr>
          <a:xfrm>
            <a:off x="156210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01A40D-090E-7FD0-2150-26BB3403801B}"/>
              </a:ext>
            </a:extLst>
          </p:cNvPr>
          <p:cNvSpPr txBox="1"/>
          <p:nvPr/>
        </p:nvSpPr>
        <p:spPr>
          <a:xfrm>
            <a:off x="13960929" y="-55517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Google Shape;636;p33">
            <a:extLst>
              <a:ext uri="{FF2B5EF4-FFF2-40B4-BE49-F238E27FC236}">
                <a16:creationId xmlns:a16="http://schemas.microsoft.com/office/drawing/2014/main" id="{50770A96-6C04-D1E3-322A-8DA1BB0B9BCE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24F9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Clr>
                <a:srgbClr val="3F3F3F"/>
              </a:buClr>
            </a:pPr>
            <a:r>
              <a:rPr lang="en-IN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directly represent words as one-hot vectors.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Google Shape;637;p33">
            <a:extLst>
              <a:ext uri="{FF2B5EF4-FFF2-40B4-BE49-F238E27FC236}">
                <a16:creationId xmlns:a16="http://schemas.microsoft.com/office/drawing/2014/main" id="{90E5C5ED-0B78-67CE-4553-3E0045A5B3FB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IN" b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capture semantic relationship between words and their context.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Google Shape;638;p33">
            <a:extLst>
              <a:ext uri="{FF2B5EF4-FFF2-40B4-BE49-F238E27FC236}">
                <a16:creationId xmlns:a16="http://schemas.microsoft.com/office/drawing/2014/main" id="{25788185-8B22-E6EA-F98D-715B8C5481F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only work well with a small vocabulary.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Google Shape;639;p33">
            <a:extLst>
              <a:ext uri="{FF2B5EF4-FFF2-40B4-BE49-F238E27FC236}">
                <a16:creationId xmlns:a16="http://schemas.microsoft.com/office/drawing/2014/main" id="{4E7D32A3-8673-B296-E1CB-F693BA4BA8A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rely on rule-based translation methods.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Google Shape;630;p32">
            <a:extLst>
              <a:ext uri="{FF2B5EF4-FFF2-40B4-BE49-F238E27FC236}">
                <a16:creationId xmlns:a16="http://schemas.microsoft.com/office/drawing/2014/main" id="{4DECE40C-EE34-F487-9736-3958FCC7A1D6}"/>
              </a:ext>
            </a:extLst>
          </p:cNvPr>
          <p:cNvSpPr txBox="1">
            <a:spLocks/>
          </p:cNvSpPr>
          <p:nvPr/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000"/>
              </a:lnSpc>
              <a:buClr>
                <a:srgbClr val="3F3F3F"/>
              </a:buClr>
              <a:buSzPts val="2800"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primary advantage of using word embeddings in machine translation?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7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241</Words>
  <Application>Microsoft Office PowerPoint</Application>
  <PresentationFormat>Custom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Open Sans</vt:lpstr>
      <vt:lpstr>Arial</vt:lpstr>
      <vt:lpstr>Calibri</vt:lpstr>
      <vt:lpstr>Courier New</vt:lpstr>
      <vt:lpstr>2023_LVC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Vikas Singh</cp:lastModifiedBy>
  <cp:revision>7</cp:revision>
  <dcterms:created xsi:type="dcterms:W3CDTF">2023-05-19T12:36:11Z</dcterms:created>
  <dcterms:modified xsi:type="dcterms:W3CDTF">2023-12-29T10:23:22Z</dcterms:modified>
</cp:coreProperties>
</file>