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5" r:id="rId39"/>
    <p:sldId id="296" r:id="rId40"/>
    <p:sldId id="297" r:id="rId41"/>
  </p:sldIdLst>
  <p:sldSz cx="16256000" cy="9144000"/>
  <p:notesSz cx="6858000" cy="9144000"/>
  <p:embeddedFontLs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Open Sans" panose="020B060603050402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modifyVerifier cryptProviderType="rsaAES" cryptAlgorithmClass="hash" cryptAlgorithmType="typeAny" cryptAlgorithmSid="14" spinCount="100000" saltData="vi+IMVAkasF2RqnVaSO0/g==" hashData="ygRMOdfHbTiFCLCqrkkTNKB+vulcPN9GmsWCnf7J2zpWEmi/v7DwGpeEYPP8D0JXPppup6Mo1ef0FzUa6C6drA=="/>
  <p:extLst>
    <p:ext uri="{EFAFB233-063F-42B5-8137-9DF3F51BA10A}">
      <p15:sldGuideLst xmlns:p15="http://schemas.microsoft.com/office/powerpoint/2012/main">
        <p15:guide id="1" pos="6186">
          <p15:clr>
            <a:srgbClr val="A4A3A4"/>
          </p15:clr>
        </p15:guide>
        <p15:guide id="2" orient="horz" pos="1224" userDrawn="1">
          <p15:clr>
            <a:srgbClr val="A4A3A4"/>
          </p15:clr>
        </p15:guide>
        <p15:guide id="3" orient="horz" pos="3356">
          <p15:clr>
            <a:srgbClr val="A4A3A4"/>
          </p15:clr>
        </p15:guide>
        <p15:guide id="4" orient="horz" pos="1927" userDrawn="1">
          <p15:clr>
            <a:srgbClr val="A4A3A4"/>
          </p15:clr>
        </p15:guide>
        <p15:guide id="5" orient="horz" pos="3583">
          <p15:clr>
            <a:srgbClr val="A4A3A4"/>
          </p15:clr>
        </p15:guide>
        <p15:guide id="6" orient="horz" pos="4082" userDrawn="1">
          <p15:clr>
            <a:srgbClr val="A4A3A4"/>
          </p15:clr>
        </p15:guide>
        <p15:guide id="7" orient="horz" pos="4422">
          <p15:clr>
            <a:srgbClr val="A4A3A4"/>
          </p15:clr>
        </p15:guide>
        <p15:guide id="8" orient="horz" pos="5193">
          <p15:clr>
            <a:srgbClr val="A4A3A4"/>
          </p15:clr>
        </p15:guide>
        <p15:guide id="9" pos="2557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gbnUQ8B5eVZpnd1nOO6kEOuJFR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4013C-2AA1-4896-B207-6F1E174C877C}" v="1" dt="2023-12-29T09:01:43.233"/>
  </p1510:revLst>
</p1510:revInfo>
</file>

<file path=ppt/tableStyles.xml><?xml version="1.0" encoding="utf-8"?>
<a:tblStyleLst xmlns:a="http://schemas.openxmlformats.org/drawingml/2006/main" def="{9E6CBDBF-BBD2-4A83-9F77-1C2D719464C3}">
  <a:tblStyle styleId="{9E6CBDBF-BBD2-4A83-9F77-1C2D719464C3}" styleName="Table_0">
    <a:wholeTbl>
      <a:tcTxStyle b="off" i="off">
        <a:font>
          <a:latin typeface="Open Sans"/>
          <a:ea typeface="Open Sans"/>
          <a:cs typeface="Open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858" y="66"/>
      </p:cViewPr>
      <p:guideLst>
        <p:guide pos="6186"/>
        <p:guide orient="horz" pos="1224"/>
        <p:guide orient="horz" pos="3356"/>
        <p:guide orient="horz" pos="1927"/>
        <p:guide orient="horz" pos="3583"/>
        <p:guide orient="horz" pos="4082"/>
        <p:guide orient="horz" pos="4422"/>
        <p:guide orient="horz" pos="5193"/>
        <p:guide pos="25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customschemas.google.com/relationships/presentationmetadata" Target="metadata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as Singh" userId="41e88e25-583f-4ea6-978b-2322b3c60e9f" providerId="ADAL" clId="{A564013C-2AA1-4896-B207-6F1E174C877C}"/>
    <pc:docChg chg="custSel addSld delSld modSld modMainMaster">
      <pc:chgData name="Vikas Singh" userId="41e88e25-583f-4ea6-978b-2322b3c60e9f" providerId="ADAL" clId="{A564013C-2AA1-4896-B207-6F1E174C877C}" dt="2023-12-29T09:01:43.578" v="13" actId="27636"/>
      <pc:docMkLst>
        <pc:docMk/>
      </pc:docMkLst>
      <pc:sldChg chg="add del setBg">
        <pc:chgData name="Vikas Singh" userId="41e88e25-583f-4ea6-978b-2322b3c60e9f" providerId="ADAL" clId="{A564013C-2AA1-4896-B207-6F1E174C877C}" dt="2023-12-29T09:01:43.115" v="1"/>
        <pc:sldMkLst>
          <pc:docMk/>
          <pc:sldMk cId="0" sldId="290"/>
        </pc:sldMkLst>
      </pc:sldChg>
      <pc:sldChg chg="add del">
        <pc:chgData name="Vikas Singh" userId="41e88e25-583f-4ea6-978b-2322b3c60e9f" providerId="ADAL" clId="{A564013C-2AA1-4896-B207-6F1E174C877C}" dt="2023-12-29T09:01:43.115" v="1"/>
        <pc:sldMkLst>
          <pc:docMk/>
          <pc:sldMk cId="0" sldId="291"/>
        </pc:sldMkLst>
      </pc:sldChg>
      <pc:sldChg chg="add del">
        <pc:chgData name="Vikas Singh" userId="41e88e25-583f-4ea6-978b-2322b3c60e9f" providerId="ADAL" clId="{A564013C-2AA1-4896-B207-6F1E174C877C}" dt="2023-12-29T09:01:43.115" v="1"/>
        <pc:sldMkLst>
          <pc:docMk/>
          <pc:sldMk cId="0" sldId="292"/>
        </pc:sldMkLst>
      </pc:sldChg>
      <pc:sldChg chg="del">
        <pc:chgData name="Vikas Singh" userId="41e88e25-583f-4ea6-978b-2322b3c60e9f" providerId="ADAL" clId="{A564013C-2AA1-4896-B207-6F1E174C877C}" dt="2023-12-29T09:01:40.435" v="0" actId="47"/>
        <pc:sldMkLst>
          <pc:docMk/>
          <pc:sldMk cId="0" sldId="293"/>
        </pc:sldMkLst>
      </pc:sldChg>
      <pc:sldChg chg="del">
        <pc:chgData name="Vikas Singh" userId="41e88e25-583f-4ea6-978b-2322b3c60e9f" providerId="ADAL" clId="{A564013C-2AA1-4896-B207-6F1E174C877C}" dt="2023-12-29T09:01:40.435" v="0" actId="47"/>
        <pc:sldMkLst>
          <pc:docMk/>
          <pc:sldMk cId="0" sldId="294"/>
        </pc:sldMkLst>
      </pc:sldChg>
      <pc:sldChg chg="add del">
        <pc:chgData name="Vikas Singh" userId="41e88e25-583f-4ea6-978b-2322b3c60e9f" providerId="ADAL" clId="{A564013C-2AA1-4896-B207-6F1E174C877C}" dt="2023-12-29T09:01:43.115" v="1"/>
        <pc:sldMkLst>
          <pc:docMk/>
          <pc:sldMk cId="0" sldId="295"/>
        </pc:sldMkLst>
      </pc:sldChg>
      <pc:sldChg chg="add del">
        <pc:chgData name="Vikas Singh" userId="41e88e25-583f-4ea6-978b-2322b3c60e9f" providerId="ADAL" clId="{A564013C-2AA1-4896-B207-6F1E174C877C}" dt="2023-12-29T09:01:43.115" v="1"/>
        <pc:sldMkLst>
          <pc:docMk/>
          <pc:sldMk cId="0" sldId="296"/>
        </pc:sldMkLst>
      </pc:sldChg>
      <pc:sldMasterChg chg="delSldLayout modSldLayout">
        <pc:chgData name="Vikas Singh" userId="41e88e25-583f-4ea6-978b-2322b3c60e9f" providerId="ADAL" clId="{A564013C-2AA1-4896-B207-6F1E174C877C}" dt="2023-12-29T09:01:43.578" v="13" actId="27636"/>
        <pc:sldMasterMkLst>
          <pc:docMk/>
          <pc:sldMasterMk cId="0" sldId="2147483648"/>
        </pc:sldMasterMkLst>
        <pc:sldLayoutChg chg="del">
          <pc:chgData name="Vikas Singh" userId="41e88e25-583f-4ea6-978b-2322b3c60e9f" providerId="ADAL" clId="{A564013C-2AA1-4896-B207-6F1E174C877C}" dt="2023-12-29T09:01:40.435" v="0" actId="4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Vikas Singh" userId="41e88e25-583f-4ea6-978b-2322b3c60e9f" providerId="ADAL" clId="{A564013C-2AA1-4896-B207-6F1E174C877C}" dt="2023-12-29T09:01:40.435" v="0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Vikas Singh" userId="41e88e25-583f-4ea6-978b-2322b3c60e9f" providerId="ADAL" clId="{A564013C-2AA1-4896-B207-6F1E174C877C}" dt="2023-12-29T09:01:40.435" v="0" actId="47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Vikas Singh" userId="41e88e25-583f-4ea6-978b-2322b3c60e9f" providerId="ADAL" clId="{A564013C-2AA1-4896-B207-6F1E174C877C}" dt="2023-12-29T09:01:40.435" v="0" actId="47"/>
          <pc:sldLayoutMkLst>
            <pc:docMk/>
            <pc:sldMasterMk cId="0" sldId="2147483648"/>
            <pc:sldLayoutMk cId="0" sldId="2147483658"/>
          </pc:sldLayoutMkLst>
        </pc:sldLayoutChg>
        <pc:sldLayoutChg chg="modSp mod">
          <pc:chgData name="Vikas Singh" userId="41e88e25-583f-4ea6-978b-2322b3c60e9f" providerId="ADAL" clId="{A564013C-2AA1-4896-B207-6F1E174C877C}" dt="2023-12-29T09:01:43.558" v="5" actId="27636"/>
          <pc:sldLayoutMkLst>
            <pc:docMk/>
            <pc:sldMasterMk cId="0" sldId="2147483648"/>
            <pc:sldLayoutMk cId="257160519" sldId="2147483681"/>
          </pc:sldLayoutMkLst>
          <pc:spChg chg="mod">
            <ac:chgData name="Vikas Singh" userId="41e88e25-583f-4ea6-978b-2322b3c60e9f" providerId="ADAL" clId="{A564013C-2AA1-4896-B207-6F1E174C877C}" dt="2023-12-29T09:01:43.545" v="3" actId="27636"/>
            <ac:spMkLst>
              <pc:docMk/>
              <pc:sldMasterMk cId="0" sldId="2147483648"/>
              <pc:sldLayoutMk cId="257160519" sldId="2147483681"/>
              <ac:spMk id="53" creationId="{00000000-0000-0000-0000-000000000000}"/>
            </ac:spMkLst>
          </pc:spChg>
          <pc:spChg chg="mod">
            <ac:chgData name="Vikas Singh" userId="41e88e25-583f-4ea6-978b-2322b3c60e9f" providerId="ADAL" clId="{A564013C-2AA1-4896-B207-6F1E174C877C}" dt="2023-12-29T09:01:43.552" v="4" actId="27636"/>
            <ac:spMkLst>
              <pc:docMk/>
              <pc:sldMasterMk cId="0" sldId="2147483648"/>
              <pc:sldLayoutMk cId="257160519" sldId="2147483681"/>
              <ac:spMk id="55" creationId="{00000000-0000-0000-0000-000000000000}"/>
            </ac:spMkLst>
          </pc:spChg>
          <pc:spChg chg="mod">
            <ac:chgData name="Vikas Singh" userId="41e88e25-583f-4ea6-978b-2322b3c60e9f" providerId="ADAL" clId="{A564013C-2AA1-4896-B207-6F1E174C877C}" dt="2023-12-29T09:01:43.558" v="5" actId="27636"/>
            <ac:spMkLst>
              <pc:docMk/>
              <pc:sldMasterMk cId="0" sldId="2147483648"/>
              <pc:sldLayoutMk cId="257160519" sldId="2147483681"/>
              <ac:spMk id="57" creationId="{00000000-0000-0000-0000-000000000000}"/>
            </ac:spMkLst>
          </pc:spChg>
          <pc:spChg chg="mod">
            <ac:chgData name="Vikas Singh" userId="41e88e25-583f-4ea6-978b-2322b3c60e9f" providerId="ADAL" clId="{A564013C-2AA1-4896-B207-6F1E174C877C}" dt="2023-12-29T09:01:43.534" v="2" actId="27636"/>
            <ac:spMkLst>
              <pc:docMk/>
              <pc:sldMasterMk cId="0" sldId="2147483648"/>
              <pc:sldLayoutMk cId="257160519" sldId="2147483681"/>
              <ac:spMk id="59" creationId="{00000000-0000-0000-0000-000000000000}"/>
            </ac:spMkLst>
          </pc:spChg>
        </pc:sldLayoutChg>
        <pc:sldLayoutChg chg="modSp mod">
          <pc:chgData name="Vikas Singh" userId="41e88e25-583f-4ea6-978b-2322b3c60e9f" providerId="ADAL" clId="{A564013C-2AA1-4896-B207-6F1E174C877C}" dt="2023-12-29T09:01:43.572" v="9" actId="27636"/>
          <pc:sldLayoutMkLst>
            <pc:docMk/>
            <pc:sldMasterMk cId="0" sldId="2147483648"/>
            <pc:sldLayoutMk cId="1729880463" sldId="2147483682"/>
          </pc:sldLayoutMkLst>
          <pc:spChg chg="mod">
            <ac:chgData name="Vikas Singh" userId="41e88e25-583f-4ea6-978b-2322b3c60e9f" providerId="ADAL" clId="{A564013C-2AA1-4896-B207-6F1E174C877C}" dt="2023-12-29T09:01:43.570" v="8" actId="27636"/>
            <ac:spMkLst>
              <pc:docMk/>
              <pc:sldMasterMk cId="0" sldId="2147483648"/>
              <pc:sldLayoutMk cId="1729880463" sldId="2147483682"/>
              <ac:spMk id="73" creationId="{00000000-0000-0000-0000-000000000000}"/>
            </ac:spMkLst>
          </pc:spChg>
          <pc:spChg chg="mod">
            <ac:chgData name="Vikas Singh" userId="41e88e25-583f-4ea6-978b-2322b3c60e9f" providerId="ADAL" clId="{A564013C-2AA1-4896-B207-6F1E174C877C}" dt="2023-12-29T09:01:43.569" v="7" actId="27636"/>
            <ac:spMkLst>
              <pc:docMk/>
              <pc:sldMasterMk cId="0" sldId="2147483648"/>
              <pc:sldLayoutMk cId="1729880463" sldId="2147483682"/>
              <ac:spMk id="74" creationId="{00000000-0000-0000-0000-000000000000}"/>
            </ac:spMkLst>
          </pc:spChg>
          <pc:spChg chg="mod">
            <ac:chgData name="Vikas Singh" userId="41e88e25-583f-4ea6-978b-2322b3c60e9f" providerId="ADAL" clId="{A564013C-2AA1-4896-B207-6F1E174C877C}" dt="2023-12-29T09:01:43.568" v="6" actId="27636"/>
            <ac:spMkLst>
              <pc:docMk/>
              <pc:sldMasterMk cId="0" sldId="2147483648"/>
              <pc:sldLayoutMk cId="1729880463" sldId="2147483682"/>
              <ac:spMk id="75" creationId="{00000000-0000-0000-0000-000000000000}"/>
            </ac:spMkLst>
          </pc:spChg>
          <pc:spChg chg="mod">
            <ac:chgData name="Vikas Singh" userId="41e88e25-583f-4ea6-978b-2322b3c60e9f" providerId="ADAL" clId="{A564013C-2AA1-4896-B207-6F1E174C877C}" dt="2023-12-29T09:01:43.572" v="9" actId="27636"/>
            <ac:spMkLst>
              <pc:docMk/>
              <pc:sldMasterMk cId="0" sldId="2147483648"/>
              <pc:sldLayoutMk cId="1729880463" sldId="2147483682"/>
              <ac:spMk id="76" creationId="{00000000-0000-0000-0000-000000000000}"/>
            </ac:spMkLst>
          </pc:spChg>
        </pc:sldLayoutChg>
        <pc:sldLayoutChg chg="modSp mod">
          <pc:chgData name="Vikas Singh" userId="41e88e25-583f-4ea6-978b-2322b3c60e9f" providerId="ADAL" clId="{A564013C-2AA1-4896-B207-6F1E174C877C}" dt="2023-12-29T09:01:43.578" v="13" actId="27636"/>
          <pc:sldLayoutMkLst>
            <pc:docMk/>
            <pc:sldMasterMk cId="0" sldId="2147483648"/>
            <pc:sldLayoutMk cId="1260475911" sldId="2147483683"/>
          </pc:sldLayoutMkLst>
          <pc:spChg chg="mod">
            <ac:chgData name="Vikas Singh" userId="41e88e25-583f-4ea6-978b-2322b3c60e9f" providerId="ADAL" clId="{A564013C-2AA1-4896-B207-6F1E174C877C}" dt="2023-12-29T09:01:43.574" v="10" actId="27636"/>
            <ac:spMkLst>
              <pc:docMk/>
              <pc:sldMasterMk cId="0" sldId="2147483648"/>
              <pc:sldLayoutMk cId="1260475911" sldId="2147483683"/>
              <ac:spMk id="93" creationId="{00000000-0000-0000-0000-000000000000}"/>
            </ac:spMkLst>
          </pc:spChg>
          <pc:spChg chg="mod">
            <ac:chgData name="Vikas Singh" userId="41e88e25-583f-4ea6-978b-2322b3c60e9f" providerId="ADAL" clId="{A564013C-2AA1-4896-B207-6F1E174C877C}" dt="2023-12-29T09:01:43.575" v="11" actId="27636"/>
            <ac:spMkLst>
              <pc:docMk/>
              <pc:sldMasterMk cId="0" sldId="2147483648"/>
              <pc:sldLayoutMk cId="1260475911" sldId="2147483683"/>
              <ac:spMk id="95" creationId="{00000000-0000-0000-0000-000000000000}"/>
            </ac:spMkLst>
          </pc:spChg>
          <pc:spChg chg="mod">
            <ac:chgData name="Vikas Singh" userId="41e88e25-583f-4ea6-978b-2322b3c60e9f" providerId="ADAL" clId="{A564013C-2AA1-4896-B207-6F1E174C877C}" dt="2023-12-29T09:01:43.578" v="13" actId="27636"/>
            <ac:spMkLst>
              <pc:docMk/>
              <pc:sldMasterMk cId="0" sldId="2147483648"/>
              <pc:sldLayoutMk cId="1260475911" sldId="2147483683"/>
              <ac:spMk id="97" creationId="{00000000-0000-0000-0000-000000000000}"/>
            </ac:spMkLst>
          </pc:spChg>
          <pc:spChg chg="mod">
            <ac:chgData name="Vikas Singh" userId="41e88e25-583f-4ea6-978b-2322b3c60e9f" providerId="ADAL" clId="{A564013C-2AA1-4896-B207-6F1E174C877C}" dt="2023-12-29T09:01:43.576" v="12" actId="27636"/>
            <ac:spMkLst>
              <pc:docMk/>
              <pc:sldMasterMk cId="0" sldId="2147483648"/>
              <pc:sldLayoutMk cId="1260475911" sldId="2147483683"/>
              <ac:spMk id="99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 Name">
  <p:cSld name="Course Nam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4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>
  <p:cSld name="Lesson Nam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5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>
  <p:cSld name="Learning Objective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6"/>
          <p:cNvSpPr/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6"/>
          <p:cNvSpPr/>
          <p:nvPr/>
        </p:nvSpPr>
        <p:spPr>
          <a:xfrm>
            <a:off x="718944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 sz="18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46"/>
          <p:cNvSpPr/>
          <p:nvPr/>
        </p:nvSpPr>
        <p:spPr>
          <a:xfrm>
            <a:off x="2967652" y="837660"/>
            <a:ext cx="4391501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body" idx="1"/>
          </p:nvPr>
        </p:nvSpPr>
        <p:spPr>
          <a:xfrm>
            <a:off x="1332875" y="2758746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2"/>
          </p:nvPr>
        </p:nvSpPr>
        <p:spPr>
          <a:xfrm>
            <a:off x="1332356" y="3558751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body" idx="3"/>
          </p:nvPr>
        </p:nvSpPr>
        <p:spPr>
          <a:xfrm>
            <a:off x="1331837" y="4383470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body" idx="4"/>
          </p:nvPr>
        </p:nvSpPr>
        <p:spPr>
          <a:xfrm>
            <a:off x="1332873" y="5195833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>
  <p:cSld name="Topic Nam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7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8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8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4" name="Google Shape;34;p48" descr="A picture containing colorfulness, pattern, rectangle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6008" y="913238"/>
            <a:ext cx="1219478" cy="72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8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>
  <p:cSld name="Key Takeaway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9"/>
          <p:cNvSpPr/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9"/>
          <p:cNvSpPr/>
          <p:nvPr/>
        </p:nvSpPr>
        <p:spPr>
          <a:xfrm>
            <a:off x="3559993" y="837660"/>
            <a:ext cx="337748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Google Shape;40;p49"/>
          <p:cNvSpPr txBox="1">
            <a:spLocks noGrp="1"/>
          </p:cNvSpPr>
          <p:nvPr>
            <p:ph type="body" idx="1"/>
          </p:nvPr>
        </p:nvSpPr>
        <p:spPr>
          <a:xfrm>
            <a:off x="1332875" y="196790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9"/>
          <p:cNvSpPr txBox="1">
            <a:spLocks noGrp="1"/>
          </p:cNvSpPr>
          <p:nvPr>
            <p:ph type="body" idx="2"/>
          </p:nvPr>
        </p:nvSpPr>
        <p:spPr>
          <a:xfrm>
            <a:off x="1332356" y="2755555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9"/>
          <p:cNvSpPr txBox="1">
            <a:spLocks noGrp="1"/>
          </p:cNvSpPr>
          <p:nvPr>
            <p:ph type="body" idx="3"/>
          </p:nvPr>
        </p:nvSpPr>
        <p:spPr>
          <a:xfrm>
            <a:off x="1331837" y="356791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9"/>
          <p:cNvSpPr txBox="1">
            <a:spLocks noGrp="1"/>
          </p:cNvSpPr>
          <p:nvPr>
            <p:ph type="body" idx="4"/>
          </p:nvPr>
        </p:nvSpPr>
        <p:spPr>
          <a:xfrm>
            <a:off x="1332873" y="4392637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>
  <p:cSld name="You Already Know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4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4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54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20">
          <p15:clr>
            <a:srgbClr val="00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You_already_know">
  <p:cSld name="Bullet_You_already_know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5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5"/>
          <p:cNvSpPr txBox="1">
            <a:spLocks noGrp="1"/>
          </p:cNvSpPr>
          <p:nvPr>
            <p:ph type="body" idx="1"/>
          </p:nvPr>
        </p:nvSpPr>
        <p:spPr>
          <a:xfrm>
            <a:off x="1250783" y="1512887"/>
            <a:ext cx="13732042" cy="6618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>
  <p:cSld name="Recap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6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6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56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>
  <p:cSld name="A day in the lif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7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57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5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Aday_Recap">
  <p:cSld name="Bullets_for_Aday_Recap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8"/>
          <p:cNvSpPr txBox="1">
            <a:spLocks noGrp="1"/>
          </p:cNvSpPr>
          <p:nvPr>
            <p:ph type="body" idx="1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58"/>
          <p:cNvSpPr txBox="1">
            <a:spLocks noGrp="1"/>
          </p:cNvSpPr>
          <p:nvPr>
            <p:ph type="body" idx="2"/>
          </p:nvPr>
        </p:nvSpPr>
        <p:spPr>
          <a:xfrm>
            <a:off x="844550" y="2603500"/>
            <a:ext cx="10807700" cy="553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Content_Slide">
  <p:cSld name="Bullet_Content_Slide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9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9" name="Google Shape;129;p59" descr="A picture containing colorfulness, pattern, rectangle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6008" y="897196"/>
            <a:ext cx="1219478" cy="72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9"/>
          <p:cNvSpPr txBox="1">
            <a:spLocks noGrp="1"/>
          </p:cNvSpPr>
          <p:nvPr>
            <p:ph type="body" idx="2"/>
          </p:nvPr>
        </p:nvSpPr>
        <p:spPr>
          <a:xfrm>
            <a:off x="1285825" y="2612636"/>
            <a:ext cx="13697000" cy="551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5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sisted Practice">
  <p:cSld name="Assisted Practic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0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60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60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>
  <p:cSld name="Unassisted Practic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1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61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61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actise">
  <p:cSld name="Bullet_for_Practis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2"/>
          <p:cNvSpPr txBox="1">
            <a:spLocks noGrp="1"/>
          </p:cNvSpPr>
          <p:nvPr>
            <p:ph type="body" idx="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62"/>
          <p:cNvSpPr txBox="1">
            <a:spLocks noGrp="1"/>
          </p:cNvSpPr>
          <p:nvPr>
            <p:ph type="body" idx="2"/>
          </p:nvPr>
        </p:nvSpPr>
        <p:spPr>
          <a:xfrm>
            <a:off x="1285825" y="2872126"/>
            <a:ext cx="13697000" cy="54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>
  <p:cSld name="Section-End Projec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>
  <p:cSld name="Lesson-end Projec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4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64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>
  <p:cSld name="Phase-End Projec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65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ojects">
  <p:cSld name="Bullet_for_project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6"/>
          <p:cNvSpPr txBox="1">
            <a:spLocks noGrp="1"/>
          </p:cNvSpPr>
          <p:nvPr>
            <p:ph type="body" idx="1"/>
          </p:nvPr>
        </p:nvSpPr>
        <p:spPr>
          <a:xfrm>
            <a:off x="4834890" y="1377162"/>
            <a:ext cx="10314607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">
  <p:cSld name="Case Stud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7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4" name="Google Shape;164;p67" descr="A picture containing child art, table, illustration,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2176" y="2171113"/>
            <a:ext cx="4823955" cy="455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>
  <p:cSld name="Discuss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8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>
  <p:cSld name="Discussion-Conte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9"/>
          <p:cNvSpPr txBox="1">
            <a:spLocks noGrp="1"/>
          </p:cNvSpPr>
          <p:nvPr>
            <p:ph type="body" idx="1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le-Play Activities">
  <p:cSld name="Role-Play Activitie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0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7" name="Google Shape;177;p70" descr="A group of people reading book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129" y="2323120"/>
            <a:ext cx="5664389" cy="449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>
  <p:cSld name="Course-end Pro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71"/>
          <p:cNvSpPr txBox="1">
            <a:spLocks noGrp="1"/>
          </p:cNvSpPr>
          <p:nvPr>
            <p:ph type="body" idx="1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>
  <p:cSld name="Before the Next Clas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2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72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>
  <p:cSld name="What Next?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3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73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whatnext_nextclass">
  <p:cSld name="Bullets_for_whatnext_nextclass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4"/>
          <p:cNvSpPr txBox="1">
            <a:spLocks noGrp="1"/>
          </p:cNvSpPr>
          <p:nvPr>
            <p:ph type="body" idx="1"/>
          </p:nvPr>
        </p:nvSpPr>
        <p:spPr>
          <a:xfrm>
            <a:off x="670649" y="1377162"/>
            <a:ext cx="8439490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>
  <p:cSld name="Knowledge Check 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0" descr="A picture containing arrow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0"/>
          <p:cNvSpPr/>
          <p:nvPr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78499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">
  <p:cSld name="Ques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1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" name="Google Shape;51;p51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" name="Google Shape;52;p51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" name="Google Shape;53;p51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54" name="Google Shape;54;p51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51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51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58" name="Google Shape;58;p51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51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160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IS">
  <p:cSld name="Ques_Ans_I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2"/>
          <p:cNvSpPr txBox="1"/>
          <p:nvPr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6" name="Google Shape;66;p52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52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52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52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52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52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74" name="Google Shape;74;p52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75" name="Google Shape;75;p52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76" name="Google Shape;76;p52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77" name="Google Shape;77;p52"/>
          <p:cNvSpPr txBox="1">
            <a:spLocks noGrp="1"/>
          </p:cNvSpPr>
          <p:nvPr>
            <p:ph type="body" idx="3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52"/>
          <p:cNvSpPr txBox="1">
            <a:spLocks noGrp="1"/>
          </p:cNvSpPr>
          <p:nvPr>
            <p:ph type="body" idx="4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2"/>
          <p:cNvSpPr txBox="1">
            <a:spLocks noGrp="1"/>
          </p:cNvSpPr>
          <p:nvPr>
            <p:ph type="body" idx="5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6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98804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Are">
  <p:cSld name="Ques_Ans_Ar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3"/>
          <p:cNvSpPr txBox="1"/>
          <p:nvPr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6" name="Google Shape;86;p53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87;p53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53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53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53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53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53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53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94" name="Google Shape;94;p53"/>
          <p:cNvSpPr txBox="1">
            <a:spLocks noGrp="1"/>
          </p:cNvSpPr>
          <p:nvPr>
            <p:ph type="body" idx="3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53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96" name="Google Shape;96;p53"/>
          <p:cNvSpPr txBox="1">
            <a:spLocks noGrp="1"/>
          </p:cNvSpPr>
          <p:nvPr>
            <p:ph type="body" idx="4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53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98" name="Google Shape;98;p53"/>
          <p:cNvSpPr txBox="1">
            <a:spLocks noGrp="1"/>
          </p:cNvSpPr>
          <p:nvPr>
            <p:ph type="body" idx="5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53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100" name="Google Shape;100;p53"/>
          <p:cNvSpPr txBox="1">
            <a:spLocks noGrp="1"/>
          </p:cNvSpPr>
          <p:nvPr>
            <p:ph type="body" idx="6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53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53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0475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Open Sans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>
          <p15:clr>
            <a:srgbClr val="5ACBF0"/>
          </p15:clr>
        </p15:guide>
        <p15:guide id="2" pos="5120">
          <p15:clr>
            <a:srgbClr val="000000"/>
          </p15:clr>
        </p15:guide>
        <p15:guide id="3" orient="horz" pos="2880">
          <p15:clr>
            <a:srgbClr val="000000"/>
          </p15:clr>
        </p15:guide>
        <p15:guide id="4" orient="horz" pos="5184">
          <p15:clr>
            <a:srgbClr val="5ACBF0"/>
          </p15:clr>
        </p15:guide>
        <p15:guide id="5" pos="1016">
          <p15:clr>
            <a:srgbClr val="5ACBF0"/>
          </p15:clr>
        </p15:guide>
        <p15:guide id="6" pos="512">
          <p15:clr>
            <a:srgbClr val="F26B43"/>
          </p15:clr>
        </p15:guide>
        <p15:guide id="7" pos="9224">
          <p15:clr>
            <a:srgbClr val="5ACBF0"/>
          </p15:clr>
        </p15:guide>
        <p15:guide id="8" pos="9728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 pos="5472">
          <p15:clr>
            <a:srgbClr val="F26B43"/>
          </p15:clr>
        </p15:guide>
        <p15:guide id="11" pos="8576">
          <p15:clr>
            <a:srgbClr val="5ACBF0"/>
          </p15:clr>
        </p15:guide>
        <p15:guide id="12" pos="8192">
          <p15:clr>
            <a:srgbClr val="5ACBF0"/>
          </p15:clr>
        </p15:guide>
        <p15:guide id="13" pos="1664">
          <p15:clr>
            <a:srgbClr val="5ACBF0"/>
          </p15:clr>
        </p15:guide>
        <p15:guide id="14" pos="20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3F3F3F"/>
              </a:buClr>
              <a:buSzPts val="3733"/>
              <a:buNone/>
            </a:pPr>
            <a:r>
              <a:rPr lang="en-US" dirty="0"/>
              <a:t>Natural Language Processing and 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3F3F3F"/>
              </a:buClr>
              <a:buSzPts val="3733"/>
              <a:buNone/>
            </a:pPr>
            <a:r>
              <a:rPr lang="en-US" dirty="0"/>
              <a:t>Speech Recognition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ym typeface="Calibri"/>
              </a:rPr>
              <a:t>Distributed Representations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 txBox="1">
            <a:spLocks noGrp="1"/>
          </p:cNvSpPr>
          <p:nvPr>
            <p:ph type="body" idx="1"/>
          </p:nvPr>
        </p:nvSpPr>
        <p:spPr>
          <a:xfrm>
            <a:off x="1332356" y="2760878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Learn advantages of distributed representation over traditional vector representations</a:t>
            </a:r>
          </a:p>
        </p:txBody>
      </p:sp>
      <p:sp>
        <p:nvSpPr>
          <p:cNvPr id="207" name="Google Shape;207;p3"/>
          <p:cNvSpPr txBox="1">
            <a:spLocks noGrp="1"/>
          </p:cNvSpPr>
          <p:nvPr>
            <p:ph type="body" idx="2"/>
          </p:nvPr>
        </p:nvSpPr>
        <p:spPr>
          <a:xfrm>
            <a:off x="1332356" y="3927695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/>
              <a:t>Understand distributed representation models like Word2vec, </a:t>
            </a:r>
            <a:r>
              <a:rPr lang="en-US" dirty="0" err="1"/>
              <a:t>GloVe</a:t>
            </a:r>
            <a:r>
              <a:rPr lang="en-US" dirty="0"/>
              <a:t>, and </a:t>
            </a:r>
            <a:r>
              <a:rPr lang="en-US" dirty="0" err="1"/>
              <a:t>FastText</a:t>
            </a:r>
            <a:endParaRPr lang="en-US" dirty="0"/>
          </a:p>
        </p:txBody>
      </p:sp>
      <p:sp>
        <p:nvSpPr>
          <p:cNvPr id="208" name="Google Shape;208;p3"/>
          <p:cNvSpPr txBox="1">
            <a:spLocks noGrp="1"/>
          </p:cNvSpPr>
          <p:nvPr>
            <p:ph type="body" idx="3"/>
          </p:nvPr>
        </p:nvSpPr>
        <p:spPr>
          <a:xfrm>
            <a:off x="1332356" y="5133184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Learn document vectorization model like Doc2Vec</a:t>
            </a:r>
          </a:p>
        </p:txBody>
      </p:sp>
      <p:pic>
        <p:nvPicPr>
          <p:cNvPr id="209" name="Google Shape;209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6937" y="2857895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6937" y="5205438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6937" y="4006146"/>
            <a:ext cx="396244" cy="38793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AA1DA2B7-0FBF-9991-358A-7265AFCDDDF0}"/>
              </a:ext>
            </a:extLst>
          </p:cNvPr>
          <p:cNvSpPr>
            <a:spLocks/>
          </p:cNvSpPr>
          <p:nvPr/>
        </p:nvSpPr>
        <p:spPr>
          <a:xfrm>
            <a:off x="2967652" y="642551"/>
            <a:ext cx="2283970" cy="1495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A4E6E6E7-D432-E522-E9B8-2CBE68D6D88F}"/>
              </a:ext>
            </a:extLst>
          </p:cNvPr>
          <p:cNvSpPr>
            <a:spLocks/>
          </p:cNvSpPr>
          <p:nvPr/>
        </p:nvSpPr>
        <p:spPr>
          <a:xfrm>
            <a:off x="1303181" y="2284540"/>
            <a:ext cx="594000" cy="59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3F34F0D2-F0D1-4297-B775-82B686C455AC}"/>
              </a:ext>
            </a:extLst>
          </p:cNvPr>
          <p:cNvSpPr>
            <a:spLocks/>
          </p:cNvSpPr>
          <p:nvPr/>
        </p:nvSpPr>
        <p:spPr>
          <a:xfrm>
            <a:off x="1594346" y="3476517"/>
            <a:ext cx="594000" cy="59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CF3C9897-90C4-CF3A-B1C3-A8375B842FB8}"/>
              </a:ext>
            </a:extLst>
          </p:cNvPr>
          <p:cNvSpPr>
            <a:spLocks/>
          </p:cNvSpPr>
          <p:nvPr/>
        </p:nvSpPr>
        <p:spPr>
          <a:xfrm>
            <a:off x="1332872" y="4657163"/>
            <a:ext cx="594000" cy="59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Drawbacks of Fundamental Vectorization Approaches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"/>
          <p:cNvSpPr/>
          <p:nvPr/>
        </p:nvSpPr>
        <p:spPr>
          <a:xfrm>
            <a:off x="2196510" y="3346624"/>
            <a:ext cx="11878538" cy="45781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DCAD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Drawbacks of Basic Vectorization Approaches </a:t>
            </a:r>
            <a:endParaRPr/>
          </a:p>
        </p:txBody>
      </p:sp>
      <p:sp>
        <p:nvSpPr>
          <p:cNvPr id="223" name="Google Shape;223;p5"/>
          <p:cNvSpPr txBox="1">
            <a:spLocks noGrp="1"/>
          </p:cNvSpPr>
          <p:nvPr>
            <p:ph type="body" idx="2"/>
          </p:nvPr>
        </p:nvSpPr>
        <p:spPr>
          <a:xfrm>
            <a:off x="1291857" y="158317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Reviewing the representation schemes discussed in the last chapter, three main shortcomings emerge: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3139075" y="4224345"/>
            <a:ext cx="9601566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basic vectorization methods such as </a:t>
            </a:r>
            <a:r>
              <a:rPr lang="en-US" sz="22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BoWs</a:t>
            </a: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and TF-IDF employ discrete representations.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150358" y="816324"/>
            <a:ext cx="7956000" cy="360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279900" y="2907057"/>
            <a:ext cx="7696200" cy="886564"/>
          </a:xfrm>
          <a:prstGeom prst="roundRect">
            <a:avLst>
              <a:gd name="adj" fmla="val 16667"/>
            </a:avLst>
          </a:prstGeom>
          <a:solidFill>
            <a:srgbClr val="E5B19D"/>
          </a:solidFill>
          <a:ln w="12700" cap="flat" cmpd="sng">
            <a:solidFill>
              <a:srgbClr val="DCAD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4651908" y="3134895"/>
            <a:ext cx="6967741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Limited semantic and contextual understanding</a:t>
            </a:r>
            <a:endParaRPr sz="22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3134945" y="5493183"/>
            <a:ext cx="10789200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These methods treat words as independent entities, ignoring the contextual nuances and associations.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3134945" y="6704553"/>
            <a:ext cx="10542955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This limits their capacity to capture the relationships between words impacting its overall  understanding of the language.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0" name="Google Shape;23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371" y="4292600"/>
            <a:ext cx="431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371" y="5596775"/>
            <a:ext cx="431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371" y="6760787"/>
            <a:ext cx="431800" cy="4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"/>
          <p:cNvSpPr/>
          <p:nvPr/>
        </p:nvSpPr>
        <p:spPr>
          <a:xfrm>
            <a:off x="2188731" y="3810833"/>
            <a:ext cx="11878538" cy="364472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DCAD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6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Drawbacks of Basic Vectorization Approaches </a:t>
            </a:r>
            <a:endParaRPr/>
          </a:p>
        </p:txBody>
      </p:sp>
      <p:sp>
        <p:nvSpPr>
          <p:cNvPr id="239" name="Google Shape;239;p6"/>
          <p:cNvSpPr txBox="1">
            <a:spLocks noGrp="1"/>
          </p:cNvSpPr>
          <p:nvPr>
            <p:ph type="body" idx="2"/>
          </p:nvPr>
        </p:nvSpPr>
        <p:spPr>
          <a:xfrm>
            <a:off x="1291857" y="158317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Reviewing the representation schemes discussed in the last chapter, three main shortcomings emerge: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3131295" y="4688554"/>
            <a:ext cx="10785071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feature vectors are sparse and high-dimensional, with dimensionality growing along with the vocabulary size.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272121" y="3371266"/>
            <a:ext cx="7696200" cy="886564"/>
          </a:xfrm>
          <a:prstGeom prst="roundRect">
            <a:avLst>
              <a:gd name="adj" fmla="val 16667"/>
            </a:avLst>
          </a:prstGeom>
          <a:solidFill>
            <a:srgbClr val="E5B1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6126490" y="3599104"/>
            <a:ext cx="400301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Computational inefficiency</a:t>
            </a:r>
            <a:endParaRPr sz="22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3127166" y="5957392"/>
            <a:ext cx="10789200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Most values in the vectors are zero, impeding learning capability and causing computational inefficiency.</a:t>
            </a:r>
            <a:endParaRPr/>
          </a:p>
        </p:txBody>
      </p:sp>
      <p:pic>
        <p:nvPicPr>
          <p:cNvPr id="244" name="Google Shape;24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371" y="4707604"/>
            <a:ext cx="431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371" y="6081581"/>
            <a:ext cx="4318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6"/>
          <p:cNvSpPr/>
          <p:nvPr/>
        </p:nvSpPr>
        <p:spPr>
          <a:xfrm>
            <a:off x="4150358" y="816324"/>
            <a:ext cx="7956000" cy="360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2196510" y="3346624"/>
            <a:ext cx="11878538" cy="45781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DCAD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Drawbacks of Basic Vectorization Approaches </a:t>
            </a:r>
            <a:endParaRPr/>
          </a:p>
        </p:txBody>
      </p:sp>
      <p:sp>
        <p:nvSpPr>
          <p:cNvPr id="253" name="Google Shape;253;p7"/>
          <p:cNvSpPr txBox="1">
            <a:spLocks noGrp="1"/>
          </p:cNvSpPr>
          <p:nvPr>
            <p:ph type="body" idx="2"/>
          </p:nvPr>
        </p:nvSpPr>
        <p:spPr>
          <a:xfrm>
            <a:off x="1291857" y="158317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Reviewing the representation schemes discussed in the last chapter, three main shortcomings emerge: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3139074" y="4224345"/>
            <a:ext cx="10785071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basic vectorization models build representations based on the words encountered during training. 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4279900" y="2907057"/>
            <a:ext cx="7696200" cy="886564"/>
          </a:xfrm>
          <a:prstGeom prst="roundRect">
            <a:avLst>
              <a:gd name="adj" fmla="val 16667"/>
            </a:avLst>
          </a:prstGeom>
          <a:solidFill>
            <a:srgbClr val="E5B1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4954651" y="3134895"/>
            <a:ext cx="6362255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Inability to handle Out-Of-Vocabulary (OOV)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3134945" y="5493183"/>
            <a:ext cx="10789200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When faced with words not in the training set, the model may have difficulty creating meaningful representations.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3134945" y="6704553"/>
            <a:ext cx="10789200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This poses a significant challenge in understanding and processing these out-of-vocabulary words.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9" name="Google Shape;25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371" y="4292600"/>
            <a:ext cx="431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371" y="5596775"/>
            <a:ext cx="431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371" y="6760787"/>
            <a:ext cx="4318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7"/>
          <p:cNvSpPr/>
          <p:nvPr/>
        </p:nvSpPr>
        <p:spPr>
          <a:xfrm>
            <a:off x="4150358" y="816324"/>
            <a:ext cx="7956000" cy="360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Distributed Representations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2476500" y="6991350"/>
            <a:ext cx="11468100" cy="1336326"/>
          </a:xfrm>
          <a:prstGeom prst="roundRect">
            <a:avLst>
              <a:gd name="adj" fmla="val 16667"/>
            </a:avLst>
          </a:prstGeom>
          <a:solidFill>
            <a:srgbClr val="D9D5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9"/>
          <p:cNvSpPr txBox="1">
            <a:spLocks noGrp="1"/>
          </p:cNvSpPr>
          <p:nvPr>
            <p:ph type="body" idx="2"/>
          </p:nvPr>
        </p:nvSpPr>
        <p:spPr>
          <a:xfrm>
            <a:off x="1957913" y="1512833"/>
            <a:ext cx="123728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Distributed representations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refer to method of 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representing words or entities as vectors in a multi-dimensional space.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None/>
            </a:pPr>
            <a:r>
              <a:rPr lang="en-US"/>
              <a:t>Distributed Representations</a:t>
            </a:r>
            <a:endParaRPr/>
          </a:p>
        </p:txBody>
      </p:sp>
      <p:grpSp>
        <p:nvGrpSpPr>
          <p:cNvPr id="275" name="Google Shape;275;p9"/>
          <p:cNvGrpSpPr/>
          <p:nvPr/>
        </p:nvGrpSpPr>
        <p:grpSpPr>
          <a:xfrm>
            <a:off x="3506444" y="2579600"/>
            <a:ext cx="8443012" cy="4008588"/>
            <a:chOff x="3072113" y="3012320"/>
            <a:chExt cx="8443012" cy="4008588"/>
          </a:xfrm>
        </p:grpSpPr>
        <p:pic>
          <p:nvPicPr>
            <p:cNvPr id="276" name="Google Shape;276;p9"/>
            <p:cNvPicPr preferRelativeResize="0"/>
            <p:nvPr/>
          </p:nvPicPr>
          <p:blipFill rotWithShape="1">
            <a:blip r:embed="rId3">
              <a:alphaModFix/>
            </a:blip>
            <a:srcRect t="5856"/>
            <a:stretch/>
          </p:blipFill>
          <p:spPr>
            <a:xfrm>
              <a:off x="3675063" y="3012320"/>
              <a:ext cx="2911439" cy="3300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9"/>
            <p:cNvPicPr preferRelativeResize="0"/>
            <p:nvPr/>
          </p:nvPicPr>
          <p:blipFill rotWithShape="1">
            <a:blip r:embed="rId4">
              <a:alphaModFix/>
            </a:blip>
            <a:srcRect t="22834"/>
            <a:stretch/>
          </p:blipFill>
          <p:spPr>
            <a:xfrm>
              <a:off x="7943850" y="3468382"/>
              <a:ext cx="3075974" cy="2844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9"/>
            <p:cNvSpPr txBox="1"/>
            <p:nvPr/>
          </p:nvSpPr>
          <p:spPr>
            <a:xfrm>
              <a:off x="3072113" y="6566232"/>
              <a:ext cx="3787174" cy="454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Sparse representation</a:t>
              </a:r>
              <a:endParaRPr/>
            </a:p>
          </p:txBody>
        </p:sp>
        <p:sp>
          <p:nvSpPr>
            <p:cNvPr id="279" name="Google Shape;279;p9"/>
            <p:cNvSpPr txBox="1"/>
            <p:nvPr/>
          </p:nvSpPr>
          <p:spPr>
            <a:xfrm>
              <a:off x="7727951" y="6566232"/>
              <a:ext cx="3787174" cy="454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Distributed representation</a:t>
              </a:r>
              <a:endParaRPr/>
            </a:p>
          </p:txBody>
        </p:sp>
      </p:grpSp>
      <p:sp>
        <p:nvSpPr>
          <p:cNvPr id="280" name="Google Shape;280;p9"/>
          <p:cNvSpPr txBox="1"/>
          <p:nvPr/>
        </p:nvSpPr>
        <p:spPr>
          <a:xfrm>
            <a:off x="2756411" y="7239206"/>
            <a:ext cx="10908279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They leverage neural network architectures to generate compact, low-dimensional representations for words and texts.</a:t>
            </a:r>
            <a:endParaRPr dirty="0"/>
          </a:p>
        </p:txBody>
      </p:sp>
      <p:sp>
        <p:nvSpPr>
          <p:cNvPr id="281" name="Google Shape;281;p9"/>
          <p:cNvSpPr/>
          <p:nvPr/>
        </p:nvSpPr>
        <p:spPr>
          <a:xfrm>
            <a:off x="5658333" y="816324"/>
            <a:ext cx="4940051" cy="360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Word embedding is a technique that represents words as dense vectors in a continuous space, capturing semantic relationships and contextual meanings. </a:t>
            </a:r>
            <a:endParaRPr/>
          </a:p>
        </p:txBody>
      </p:sp>
      <p:sp>
        <p:nvSpPr>
          <p:cNvPr id="287" name="Google Shape;287;p10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None/>
            </a:pPr>
            <a:r>
              <a:rPr lang="en-US"/>
              <a:t>Word Embeddings</a:t>
            </a:r>
            <a:endParaRPr/>
          </a:p>
        </p:txBody>
      </p:sp>
      <p:sp>
        <p:nvSpPr>
          <p:cNvPr id="288" name="Google Shape;288;p10"/>
          <p:cNvSpPr txBox="1"/>
          <p:nvPr/>
        </p:nvSpPr>
        <p:spPr>
          <a:xfrm>
            <a:off x="4948144" y="7520570"/>
            <a:ext cx="637527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GloVe</a:t>
            </a: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(Global Vectors for Word Representation) </a:t>
            </a:r>
            <a:endParaRPr sz="22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4308960" y="3745537"/>
            <a:ext cx="197583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Word2Vec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10254220" y="3702830"/>
            <a:ext cx="1371065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FastText 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91" name="Google Shape;291;p10"/>
          <p:cNvGrpSpPr/>
          <p:nvPr/>
        </p:nvGrpSpPr>
        <p:grpSpPr>
          <a:xfrm>
            <a:off x="6029948" y="3023266"/>
            <a:ext cx="4224272" cy="4393542"/>
            <a:chOff x="5814782" y="2210903"/>
            <a:chExt cx="4609462" cy="4794163"/>
          </a:xfrm>
        </p:grpSpPr>
        <p:sp>
          <p:nvSpPr>
            <p:cNvPr id="292" name="Google Shape;292;p10"/>
            <p:cNvSpPr/>
            <p:nvPr/>
          </p:nvSpPr>
          <p:spPr>
            <a:xfrm>
              <a:off x="5814782" y="2210903"/>
              <a:ext cx="2180313" cy="3247856"/>
            </a:xfrm>
            <a:custGeom>
              <a:avLst/>
              <a:gdLst/>
              <a:ahLst/>
              <a:cxnLst/>
              <a:rect l="l" t="t" r="r" b="b"/>
              <a:pathLst>
                <a:path w="2180313" h="3247856" extrusionOk="0">
                  <a:moveTo>
                    <a:pt x="468915" y="3217452"/>
                  </a:moveTo>
                  <a:lnTo>
                    <a:pt x="968420" y="2929061"/>
                  </a:lnTo>
                  <a:cubicBezTo>
                    <a:pt x="770426" y="2506700"/>
                    <a:pt x="775181" y="1997592"/>
                    <a:pt x="1026099" y="1562992"/>
                  </a:cubicBezTo>
                  <a:cubicBezTo>
                    <a:pt x="1244569" y="1184600"/>
                    <a:pt x="1605244" y="939560"/>
                    <a:pt x="2001647" y="856305"/>
                  </a:cubicBezTo>
                  <a:cubicBezTo>
                    <a:pt x="2106020" y="834380"/>
                    <a:pt x="2180314" y="741631"/>
                    <a:pt x="2180314" y="634980"/>
                  </a:cubicBezTo>
                  <a:lnTo>
                    <a:pt x="2180314" y="0"/>
                  </a:lnTo>
                  <a:cubicBezTo>
                    <a:pt x="1490845" y="37926"/>
                    <a:pt x="830966" y="384545"/>
                    <a:pt x="414690" y="982659"/>
                  </a:cubicBezTo>
                  <a:lnTo>
                    <a:pt x="145758" y="1054713"/>
                  </a:lnTo>
                  <a:lnTo>
                    <a:pt x="217816" y="1323653"/>
                  </a:lnTo>
                  <a:cubicBezTo>
                    <a:pt x="-51912" y="1897829"/>
                    <a:pt x="-64278" y="2536576"/>
                    <a:pt x="142795" y="3098770"/>
                  </a:cubicBezTo>
                  <a:cubicBezTo>
                    <a:pt x="191469" y="3230916"/>
                    <a:pt x="346961" y="3287866"/>
                    <a:pt x="468915" y="3217452"/>
                  </a:cubicBezTo>
                  <a:close/>
                </a:path>
              </a:pathLst>
            </a:custGeom>
            <a:solidFill>
              <a:srgbClr val="9ED34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8243926" y="2237660"/>
              <a:ext cx="2180318" cy="3317301"/>
            </a:xfrm>
            <a:custGeom>
              <a:avLst/>
              <a:gdLst/>
              <a:ahLst/>
              <a:cxnLst/>
              <a:rect l="l" t="t" r="r" b="b"/>
              <a:pathLst>
                <a:path w="2180318" h="3317301" extrusionOk="0">
                  <a:moveTo>
                    <a:pt x="0" y="226461"/>
                  </a:moveTo>
                  <a:lnTo>
                    <a:pt x="0" y="803238"/>
                  </a:lnTo>
                  <a:cubicBezTo>
                    <a:pt x="464770" y="842951"/>
                    <a:pt x="903290" y="1101624"/>
                    <a:pt x="1154208" y="1536224"/>
                  </a:cubicBezTo>
                  <a:cubicBezTo>
                    <a:pt x="1372667" y="1914619"/>
                    <a:pt x="1404564" y="2349494"/>
                    <a:pt x="1278447" y="2734420"/>
                  </a:cubicBezTo>
                  <a:cubicBezTo>
                    <a:pt x="1245231" y="2835769"/>
                    <a:pt x="1288438" y="2946484"/>
                    <a:pt x="1380773" y="2999815"/>
                  </a:cubicBezTo>
                  <a:lnTo>
                    <a:pt x="1930710" y="3317302"/>
                  </a:lnTo>
                  <a:cubicBezTo>
                    <a:pt x="2242590" y="2701241"/>
                    <a:pt x="2272338" y="1956458"/>
                    <a:pt x="1962494" y="1296896"/>
                  </a:cubicBezTo>
                  <a:lnTo>
                    <a:pt x="2034545" y="1027964"/>
                  </a:lnTo>
                  <a:lnTo>
                    <a:pt x="1765609" y="955902"/>
                  </a:lnTo>
                  <a:cubicBezTo>
                    <a:pt x="1403245" y="435226"/>
                    <a:pt x="856252" y="105140"/>
                    <a:pt x="265844" y="3375"/>
                  </a:cubicBezTo>
                  <a:cubicBezTo>
                    <a:pt x="127067" y="-20540"/>
                    <a:pt x="0" y="85640"/>
                    <a:pt x="0" y="226461"/>
                  </a:cubicBezTo>
                  <a:close/>
                </a:path>
              </a:pathLst>
            </a:custGeom>
            <a:solidFill>
              <a:srgbClr val="43D1A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6188817" y="5355463"/>
              <a:ext cx="3755250" cy="1649603"/>
            </a:xfrm>
            <a:custGeom>
              <a:avLst/>
              <a:gdLst/>
              <a:ahLst/>
              <a:cxnLst/>
              <a:rect l="l" t="t" r="r" b="b"/>
              <a:pathLst>
                <a:path w="3755250" h="1649603" extrusionOk="0">
                  <a:moveTo>
                    <a:pt x="3642117" y="288398"/>
                  </a:moveTo>
                  <a:lnTo>
                    <a:pt x="3142589" y="0"/>
                  </a:lnTo>
                  <a:cubicBezTo>
                    <a:pt x="2875810" y="382641"/>
                    <a:pt x="2432534" y="633053"/>
                    <a:pt x="1930699" y="633053"/>
                  </a:cubicBezTo>
                  <a:cubicBezTo>
                    <a:pt x="1493766" y="633053"/>
                    <a:pt x="1101224" y="443230"/>
                    <a:pt x="830915" y="141579"/>
                  </a:cubicBezTo>
                  <a:cubicBezTo>
                    <a:pt x="759743" y="62153"/>
                    <a:pt x="642276" y="44184"/>
                    <a:pt x="549914" y="97515"/>
                  </a:cubicBezTo>
                  <a:lnTo>
                    <a:pt x="0" y="414998"/>
                  </a:lnTo>
                  <a:cubicBezTo>
                    <a:pt x="377577" y="993118"/>
                    <a:pt x="1007701" y="1391300"/>
                    <a:pt x="1733814" y="1452756"/>
                  </a:cubicBezTo>
                  <a:lnTo>
                    <a:pt x="1930688" y="1649603"/>
                  </a:lnTo>
                  <a:lnTo>
                    <a:pt x="2127562" y="1452756"/>
                  </a:lnTo>
                  <a:cubicBezTo>
                    <a:pt x="2759752" y="1399255"/>
                    <a:pt x="3319190" y="1090505"/>
                    <a:pt x="3702517" y="630000"/>
                  </a:cubicBezTo>
                  <a:cubicBezTo>
                    <a:pt x="3792552" y="521826"/>
                    <a:pt x="3763973" y="358760"/>
                    <a:pt x="3642117" y="288398"/>
                  </a:cubicBezTo>
                  <a:close/>
                </a:path>
              </a:pathLst>
            </a:custGeom>
            <a:solidFill>
              <a:srgbClr val="40D3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0"/>
          <p:cNvSpPr txBox="1"/>
          <p:nvPr/>
        </p:nvSpPr>
        <p:spPr>
          <a:xfrm>
            <a:off x="6789960" y="4496762"/>
            <a:ext cx="2700791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Popular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word embedding generating methods</a:t>
            </a:r>
            <a:endParaRPr sz="22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594667" y="816324"/>
            <a:ext cx="3067383" cy="360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/>
              <a:t>Word2Vec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2841171" y="3371549"/>
            <a:ext cx="10597243" cy="3061909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12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Word2Vec is a word embedding technique in NLP that represents words as continuous vectors in a way that captures semantic relationships based on their contextual usage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8" name="Google Shape;308;p12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Word2Vec</a:t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7217520" y="816324"/>
            <a:ext cx="1836518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3988118" y="3789429"/>
            <a:ext cx="8228266" cy="99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This model was developed by a team at Google, particularly Tomas </a:t>
            </a:r>
            <a:r>
              <a:rPr lang="en-US" sz="22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Mikolov</a:t>
            </a: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2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3993088" y="4902503"/>
            <a:ext cx="9135836" cy="99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Word2vec is a two-layer neural network, where input is text corpus and output is set of vectors.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12" name="Google Shape;31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7807" y="3998069"/>
            <a:ext cx="396000" cy="40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7807" y="5156832"/>
            <a:ext cx="396000" cy="40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Word2Vec model has two main variants: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9" name="Google Shape;319;p1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Word2Vec: Variants</a:t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6429476" y="816324"/>
            <a:ext cx="3348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21" name="Google Shape;321;p13"/>
          <p:cNvGrpSpPr/>
          <p:nvPr/>
        </p:nvGrpSpPr>
        <p:grpSpPr>
          <a:xfrm>
            <a:off x="6397143" y="3054961"/>
            <a:ext cx="3461713" cy="3461727"/>
            <a:chOff x="6375464" y="2856395"/>
            <a:chExt cx="3461713" cy="3461727"/>
          </a:xfrm>
        </p:grpSpPr>
        <p:sp>
          <p:nvSpPr>
            <p:cNvPr id="322" name="Google Shape;322;p13"/>
            <p:cNvSpPr/>
            <p:nvPr/>
          </p:nvSpPr>
          <p:spPr>
            <a:xfrm>
              <a:off x="6390149" y="2856395"/>
              <a:ext cx="3447028" cy="1765553"/>
            </a:xfrm>
            <a:custGeom>
              <a:avLst/>
              <a:gdLst/>
              <a:ahLst/>
              <a:cxnLst/>
              <a:rect l="l" t="t" r="r" b="b"/>
              <a:pathLst>
                <a:path w="3447028" h="1765553" extrusionOk="0">
                  <a:moveTo>
                    <a:pt x="3446695" y="1696160"/>
                  </a:moveTo>
                  <a:cubicBezTo>
                    <a:pt x="3445946" y="1658964"/>
                    <a:pt x="3444086" y="1621936"/>
                    <a:pt x="3440978" y="1585129"/>
                  </a:cubicBezTo>
                  <a:cubicBezTo>
                    <a:pt x="3430762" y="1461413"/>
                    <a:pt x="3407391" y="1340085"/>
                    <a:pt x="3371111" y="1222114"/>
                  </a:cubicBezTo>
                  <a:cubicBezTo>
                    <a:pt x="3353957" y="1166322"/>
                    <a:pt x="3333916" y="1111278"/>
                    <a:pt x="3310988" y="1057095"/>
                  </a:cubicBezTo>
                  <a:cubicBezTo>
                    <a:pt x="3289643" y="1006687"/>
                    <a:pt x="3266049" y="957556"/>
                    <a:pt x="3240290" y="909730"/>
                  </a:cubicBezTo>
                  <a:lnTo>
                    <a:pt x="3240290" y="909702"/>
                  </a:lnTo>
                  <a:cubicBezTo>
                    <a:pt x="3160709" y="762003"/>
                    <a:pt x="3060115" y="627018"/>
                    <a:pt x="2940063" y="506938"/>
                  </a:cubicBezTo>
                  <a:cubicBezTo>
                    <a:pt x="2781123" y="348026"/>
                    <a:pt x="2596034" y="223227"/>
                    <a:pt x="2389933" y="136040"/>
                  </a:cubicBezTo>
                  <a:cubicBezTo>
                    <a:pt x="2176449" y="45772"/>
                    <a:pt x="1949780" y="0"/>
                    <a:pt x="1716171" y="0"/>
                  </a:cubicBezTo>
                  <a:cubicBezTo>
                    <a:pt x="1482507" y="0"/>
                    <a:pt x="1255838" y="45772"/>
                    <a:pt x="1042382" y="136040"/>
                  </a:cubicBezTo>
                  <a:cubicBezTo>
                    <a:pt x="836281" y="223227"/>
                    <a:pt x="651193" y="348026"/>
                    <a:pt x="492253" y="506938"/>
                  </a:cubicBezTo>
                  <a:cubicBezTo>
                    <a:pt x="333340" y="665879"/>
                    <a:pt x="208542" y="850995"/>
                    <a:pt x="121355" y="1057095"/>
                  </a:cubicBezTo>
                  <a:cubicBezTo>
                    <a:pt x="61343" y="1198990"/>
                    <a:pt x="21011" y="1346730"/>
                    <a:pt x="692" y="1498486"/>
                  </a:cubicBezTo>
                  <a:cubicBezTo>
                    <a:pt x="-5443" y="1544320"/>
                    <a:pt x="29976" y="1585129"/>
                    <a:pt x="76221" y="1585129"/>
                  </a:cubicBezTo>
                  <a:lnTo>
                    <a:pt x="76582" y="1585129"/>
                  </a:lnTo>
                  <a:cubicBezTo>
                    <a:pt x="114915" y="1585129"/>
                    <a:pt x="147058" y="1556661"/>
                    <a:pt x="152193" y="1518688"/>
                  </a:cubicBezTo>
                  <a:cubicBezTo>
                    <a:pt x="256118" y="748430"/>
                    <a:pt x="917861" y="152667"/>
                    <a:pt x="1716171" y="152667"/>
                  </a:cubicBezTo>
                  <a:cubicBezTo>
                    <a:pt x="2537271" y="152667"/>
                    <a:pt x="3213892" y="782960"/>
                    <a:pt x="3287644" y="1585129"/>
                  </a:cubicBezTo>
                  <a:cubicBezTo>
                    <a:pt x="3291031" y="1621797"/>
                    <a:pt x="3293140" y="1658826"/>
                    <a:pt x="3293945" y="1696160"/>
                  </a:cubicBezTo>
                  <a:cubicBezTo>
                    <a:pt x="3294223" y="1707707"/>
                    <a:pt x="3294362" y="1719254"/>
                    <a:pt x="3294362" y="1730857"/>
                  </a:cubicBezTo>
                  <a:cubicBezTo>
                    <a:pt x="3294362" y="1742460"/>
                    <a:pt x="3294223" y="1754007"/>
                    <a:pt x="3293945" y="1765554"/>
                  </a:cubicBezTo>
                  <a:lnTo>
                    <a:pt x="3446695" y="1765554"/>
                  </a:lnTo>
                  <a:cubicBezTo>
                    <a:pt x="3446918" y="1754007"/>
                    <a:pt x="3447029" y="1742432"/>
                    <a:pt x="3447029" y="1730857"/>
                  </a:cubicBezTo>
                  <a:cubicBezTo>
                    <a:pt x="3447029" y="1719282"/>
                    <a:pt x="3446918" y="1707704"/>
                    <a:pt x="3446695" y="1696160"/>
                  </a:cubicBezTo>
                  <a:close/>
                </a:path>
              </a:pathLst>
            </a:custGeom>
            <a:solidFill>
              <a:srgbClr val="1EA4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6375464" y="4552555"/>
              <a:ext cx="3447000" cy="1765567"/>
            </a:xfrm>
            <a:custGeom>
              <a:avLst/>
              <a:gdLst/>
              <a:ahLst/>
              <a:cxnLst/>
              <a:rect l="l" t="t" r="r" b="b"/>
              <a:pathLst>
                <a:path w="3447000" h="1765567" extrusionOk="0">
                  <a:moveTo>
                    <a:pt x="3370780" y="180425"/>
                  </a:moveTo>
                  <a:lnTo>
                    <a:pt x="3370420" y="180425"/>
                  </a:lnTo>
                  <a:cubicBezTo>
                    <a:pt x="3332086" y="180425"/>
                    <a:pt x="3299943" y="208893"/>
                    <a:pt x="3294808" y="246863"/>
                  </a:cubicBezTo>
                  <a:cubicBezTo>
                    <a:pt x="3190883" y="1017110"/>
                    <a:pt x="2529140" y="1612901"/>
                    <a:pt x="1730857" y="1612901"/>
                  </a:cubicBezTo>
                  <a:cubicBezTo>
                    <a:pt x="909758" y="1612901"/>
                    <a:pt x="233081" y="982580"/>
                    <a:pt x="159357" y="180425"/>
                  </a:cubicBezTo>
                  <a:cubicBezTo>
                    <a:pt x="155943" y="143757"/>
                    <a:pt x="153861" y="106728"/>
                    <a:pt x="153056" y="69394"/>
                  </a:cubicBezTo>
                  <a:cubicBezTo>
                    <a:pt x="152806" y="57847"/>
                    <a:pt x="152667" y="46300"/>
                    <a:pt x="152667" y="34697"/>
                  </a:cubicBezTo>
                  <a:cubicBezTo>
                    <a:pt x="152667" y="23094"/>
                    <a:pt x="152806" y="11547"/>
                    <a:pt x="153056" y="0"/>
                  </a:cubicBezTo>
                  <a:lnTo>
                    <a:pt x="305" y="0"/>
                  </a:lnTo>
                  <a:cubicBezTo>
                    <a:pt x="111" y="11547"/>
                    <a:pt x="0" y="23122"/>
                    <a:pt x="0" y="34697"/>
                  </a:cubicBezTo>
                  <a:cubicBezTo>
                    <a:pt x="0" y="46272"/>
                    <a:pt x="111" y="57847"/>
                    <a:pt x="305" y="69394"/>
                  </a:cubicBezTo>
                  <a:cubicBezTo>
                    <a:pt x="1055" y="106589"/>
                    <a:pt x="2942" y="143618"/>
                    <a:pt x="6024" y="180425"/>
                  </a:cubicBezTo>
                  <a:cubicBezTo>
                    <a:pt x="16238" y="304141"/>
                    <a:pt x="39638" y="425470"/>
                    <a:pt x="75889" y="543440"/>
                  </a:cubicBezTo>
                  <a:cubicBezTo>
                    <a:pt x="93072" y="599232"/>
                    <a:pt x="113113" y="654276"/>
                    <a:pt x="136040" y="708459"/>
                  </a:cubicBezTo>
                  <a:cubicBezTo>
                    <a:pt x="157331" y="758867"/>
                    <a:pt x="180925" y="807998"/>
                    <a:pt x="206683" y="855797"/>
                  </a:cubicBezTo>
                  <a:cubicBezTo>
                    <a:pt x="286293" y="1003537"/>
                    <a:pt x="386886" y="1138550"/>
                    <a:pt x="506938" y="1258630"/>
                  </a:cubicBezTo>
                  <a:cubicBezTo>
                    <a:pt x="665879" y="1417542"/>
                    <a:pt x="850967" y="1542341"/>
                    <a:pt x="1057067" y="1629528"/>
                  </a:cubicBezTo>
                  <a:cubicBezTo>
                    <a:pt x="1270524" y="1719768"/>
                    <a:pt x="1497193" y="1765568"/>
                    <a:pt x="1730857" y="1765568"/>
                  </a:cubicBezTo>
                  <a:cubicBezTo>
                    <a:pt x="1964466" y="1765568"/>
                    <a:pt x="2191135" y="1719768"/>
                    <a:pt x="2404619" y="1629528"/>
                  </a:cubicBezTo>
                  <a:cubicBezTo>
                    <a:pt x="2610720" y="1542341"/>
                    <a:pt x="2795808" y="1417542"/>
                    <a:pt x="2954749" y="1258630"/>
                  </a:cubicBezTo>
                  <a:cubicBezTo>
                    <a:pt x="3113661" y="1099689"/>
                    <a:pt x="3238460" y="914559"/>
                    <a:pt x="3325674" y="708459"/>
                  </a:cubicBezTo>
                  <a:cubicBezTo>
                    <a:pt x="3385659" y="566565"/>
                    <a:pt x="3425990" y="418824"/>
                    <a:pt x="3446309" y="267068"/>
                  </a:cubicBezTo>
                  <a:cubicBezTo>
                    <a:pt x="3452443" y="221234"/>
                    <a:pt x="3417024" y="180425"/>
                    <a:pt x="3370780" y="180425"/>
                  </a:cubicBezTo>
                  <a:close/>
                </a:path>
              </a:pathLst>
            </a:custGeom>
            <a:solidFill>
              <a:srgbClr val="FFCA5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24" name="Google Shape;324;p13"/>
          <p:cNvSpPr txBox="1"/>
          <p:nvPr/>
        </p:nvSpPr>
        <p:spPr>
          <a:xfrm>
            <a:off x="7052287" y="4542945"/>
            <a:ext cx="2194785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Word2vec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2242225" y="3509465"/>
            <a:ext cx="4307973" cy="2552692"/>
          </a:xfrm>
          <a:custGeom>
            <a:avLst/>
            <a:gdLst/>
            <a:ahLst/>
            <a:cxnLst/>
            <a:rect l="l" t="t" r="r" b="b"/>
            <a:pathLst>
              <a:path w="4307973" h="2552692" extrusionOk="0">
                <a:moveTo>
                  <a:pt x="4307974" y="1241656"/>
                </a:moveTo>
                <a:lnTo>
                  <a:pt x="4031868" y="1241656"/>
                </a:lnTo>
                <a:cubicBezTo>
                  <a:pt x="4036198" y="1003634"/>
                  <a:pt x="4085079" y="772690"/>
                  <a:pt x="4177318" y="554543"/>
                </a:cubicBezTo>
                <a:lnTo>
                  <a:pt x="4177846" y="553294"/>
                </a:lnTo>
                <a:cubicBezTo>
                  <a:pt x="4206519" y="485676"/>
                  <a:pt x="4214625" y="412035"/>
                  <a:pt x="4201329" y="340309"/>
                </a:cubicBezTo>
                <a:cubicBezTo>
                  <a:pt x="4187866" y="267834"/>
                  <a:pt x="4153419" y="202298"/>
                  <a:pt x="4101678" y="150724"/>
                </a:cubicBezTo>
                <a:cubicBezTo>
                  <a:pt x="4004166" y="53517"/>
                  <a:pt x="3874649" y="0"/>
                  <a:pt x="3736971" y="0"/>
                </a:cubicBezTo>
                <a:lnTo>
                  <a:pt x="516598" y="0"/>
                </a:lnTo>
                <a:cubicBezTo>
                  <a:pt x="231749" y="0"/>
                  <a:pt x="0" y="231749"/>
                  <a:pt x="0" y="516626"/>
                </a:cubicBezTo>
                <a:lnTo>
                  <a:pt x="0" y="2036080"/>
                </a:lnTo>
                <a:cubicBezTo>
                  <a:pt x="0" y="2321415"/>
                  <a:pt x="231302" y="2552692"/>
                  <a:pt x="516626" y="2552692"/>
                </a:cubicBezTo>
                <a:lnTo>
                  <a:pt x="3388112" y="2552692"/>
                </a:lnTo>
                <a:cubicBezTo>
                  <a:pt x="3475993" y="2552692"/>
                  <a:pt x="3557961" y="2527266"/>
                  <a:pt x="3626995" y="2483298"/>
                </a:cubicBezTo>
                <a:cubicBezTo>
                  <a:pt x="3753653" y="2402690"/>
                  <a:pt x="3836843" y="2259849"/>
                  <a:pt x="3833512" y="2097819"/>
                </a:cubicBezTo>
                <a:cubicBezTo>
                  <a:pt x="3828515" y="1854315"/>
                  <a:pt x="3626467" y="1658948"/>
                  <a:pt x="3382949" y="1661715"/>
                </a:cubicBezTo>
                <a:cubicBezTo>
                  <a:pt x="3139265" y="1664483"/>
                  <a:pt x="2942602" y="1862875"/>
                  <a:pt x="2942602" y="2107198"/>
                </a:cubicBezTo>
                <a:cubicBezTo>
                  <a:pt x="2942602" y="2208164"/>
                  <a:pt x="2976188" y="2301291"/>
                  <a:pt x="3032786" y="2375987"/>
                </a:cubicBezTo>
                <a:cubicBezTo>
                  <a:pt x="3066179" y="2420066"/>
                  <a:pt x="3034563" y="2483325"/>
                  <a:pt x="2979269" y="2483325"/>
                </a:cubicBezTo>
                <a:lnTo>
                  <a:pt x="516626" y="2483325"/>
                </a:lnTo>
                <a:cubicBezTo>
                  <a:pt x="269627" y="2483325"/>
                  <a:pt x="69394" y="2283082"/>
                  <a:pt x="69394" y="2036083"/>
                </a:cubicBezTo>
                <a:lnTo>
                  <a:pt x="69394" y="516601"/>
                </a:lnTo>
                <a:cubicBezTo>
                  <a:pt x="69394" y="269616"/>
                  <a:pt x="269613" y="69397"/>
                  <a:pt x="516598" y="69397"/>
                </a:cubicBezTo>
                <a:lnTo>
                  <a:pt x="3736971" y="69397"/>
                </a:lnTo>
                <a:cubicBezTo>
                  <a:pt x="3856162" y="69397"/>
                  <a:pt x="3968275" y="115724"/>
                  <a:pt x="4052686" y="199858"/>
                </a:cubicBezTo>
                <a:cubicBezTo>
                  <a:pt x="4137930" y="284852"/>
                  <a:pt x="4161996" y="412926"/>
                  <a:pt x="4113975" y="526177"/>
                </a:cubicBezTo>
                <a:lnTo>
                  <a:pt x="4113392" y="527565"/>
                </a:lnTo>
                <a:cubicBezTo>
                  <a:pt x="4013048" y="764837"/>
                  <a:pt x="3962168" y="1016766"/>
                  <a:pt x="3962168" y="1276356"/>
                </a:cubicBezTo>
                <a:lnTo>
                  <a:pt x="3962168" y="1311053"/>
                </a:lnTo>
                <a:lnTo>
                  <a:pt x="4307974" y="1311053"/>
                </a:lnTo>
                <a:cubicBezTo>
                  <a:pt x="4307724" y="1299506"/>
                  <a:pt x="4307585" y="1287958"/>
                  <a:pt x="4307585" y="1276356"/>
                </a:cubicBezTo>
                <a:cubicBezTo>
                  <a:pt x="4307585" y="1264750"/>
                  <a:pt x="4307724" y="1253200"/>
                  <a:pt x="4307974" y="1241656"/>
                </a:cubicBezTo>
                <a:close/>
              </a:path>
            </a:pathLst>
          </a:custGeom>
          <a:solidFill>
            <a:srgbClr val="FFCA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2384577" y="4367801"/>
            <a:ext cx="3718869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Continuous bag-of-words (</a:t>
            </a:r>
            <a:r>
              <a:rPr lang="en-US" sz="2200" b="0" i="0" u="none" strike="noStrike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CBoWs</a:t>
            </a: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9705801" y="3509465"/>
            <a:ext cx="4307962" cy="2552692"/>
          </a:xfrm>
          <a:custGeom>
            <a:avLst/>
            <a:gdLst/>
            <a:ahLst/>
            <a:cxnLst/>
            <a:rect l="l" t="t" r="r" b="b"/>
            <a:pathLst>
              <a:path w="4307962" h="2552692" extrusionOk="0">
                <a:moveTo>
                  <a:pt x="3791336" y="0"/>
                </a:moveTo>
                <a:lnTo>
                  <a:pt x="919861" y="0"/>
                </a:lnTo>
                <a:cubicBezTo>
                  <a:pt x="831953" y="0"/>
                  <a:pt x="749984" y="25454"/>
                  <a:pt x="680978" y="69394"/>
                </a:cubicBezTo>
                <a:cubicBezTo>
                  <a:pt x="554293" y="150008"/>
                  <a:pt x="471103" y="292849"/>
                  <a:pt x="474434" y="454890"/>
                </a:cubicBezTo>
                <a:cubicBezTo>
                  <a:pt x="479430" y="698394"/>
                  <a:pt x="681479" y="893761"/>
                  <a:pt x="925024" y="890993"/>
                </a:cubicBezTo>
                <a:cubicBezTo>
                  <a:pt x="1168681" y="888226"/>
                  <a:pt x="1365372" y="689831"/>
                  <a:pt x="1365372" y="445513"/>
                </a:cubicBezTo>
                <a:cubicBezTo>
                  <a:pt x="1365372" y="344545"/>
                  <a:pt x="1331785" y="251426"/>
                  <a:pt x="1275159" y="176716"/>
                </a:cubicBezTo>
                <a:cubicBezTo>
                  <a:pt x="1241795" y="132651"/>
                  <a:pt x="1273411" y="69397"/>
                  <a:pt x="1328676" y="69397"/>
                </a:cubicBezTo>
                <a:lnTo>
                  <a:pt x="3791365" y="69397"/>
                </a:lnTo>
                <a:cubicBezTo>
                  <a:pt x="4038324" y="69397"/>
                  <a:pt x="4238568" y="269616"/>
                  <a:pt x="4238568" y="516601"/>
                </a:cubicBezTo>
                <a:lnTo>
                  <a:pt x="4238568" y="2036108"/>
                </a:lnTo>
                <a:cubicBezTo>
                  <a:pt x="4238568" y="2283082"/>
                  <a:pt x="4038324" y="2483298"/>
                  <a:pt x="3791365" y="2483298"/>
                </a:cubicBezTo>
                <a:lnTo>
                  <a:pt x="571003" y="2483298"/>
                </a:lnTo>
                <a:cubicBezTo>
                  <a:pt x="451811" y="2483298"/>
                  <a:pt x="339698" y="2436998"/>
                  <a:pt x="255287" y="2352837"/>
                </a:cubicBezTo>
                <a:cubicBezTo>
                  <a:pt x="170044" y="2267870"/>
                  <a:pt x="145977" y="2139783"/>
                  <a:pt x="193998" y="2026504"/>
                </a:cubicBezTo>
                <a:lnTo>
                  <a:pt x="194581" y="2025144"/>
                </a:lnTo>
                <a:cubicBezTo>
                  <a:pt x="294925" y="1787871"/>
                  <a:pt x="345805" y="1535943"/>
                  <a:pt x="345805" y="1276353"/>
                </a:cubicBezTo>
                <a:lnTo>
                  <a:pt x="345805" y="1241656"/>
                </a:lnTo>
                <a:lnTo>
                  <a:pt x="0" y="1241656"/>
                </a:lnTo>
                <a:cubicBezTo>
                  <a:pt x="249" y="1253203"/>
                  <a:pt x="388" y="1264750"/>
                  <a:pt x="388" y="1276353"/>
                </a:cubicBezTo>
                <a:cubicBezTo>
                  <a:pt x="388" y="1287956"/>
                  <a:pt x="249" y="1299503"/>
                  <a:pt x="0" y="1311050"/>
                </a:cubicBezTo>
                <a:lnTo>
                  <a:pt x="276105" y="1311050"/>
                </a:lnTo>
                <a:cubicBezTo>
                  <a:pt x="271775" y="1549072"/>
                  <a:pt x="222894" y="1780016"/>
                  <a:pt x="130683" y="1998080"/>
                </a:cubicBezTo>
                <a:lnTo>
                  <a:pt x="130128" y="1999412"/>
                </a:lnTo>
                <a:cubicBezTo>
                  <a:pt x="101454" y="2067030"/>
                  <a:pt x="93349" y="2140671"/>
                  <a:pt x="106645" y="2212411"/>
                </a:cubicBezTo>
                <a:cubicBezTo>
                  <a:pt x="120107" y="2284858"/>
                  <a:pt x="154555" y="2350422"/>
                  <a:pt x="206295" y="2401996"/>
                </a:cubicBezTo>
                <a:cubicBezTo>
                  <a:pt x="303808" y="2499203"/>
                  <a:pt x="433325" y="2552692"/>
                  <a:pt x="571003" y="2552692"/>
                </a:cubicBezTo>
                <a:lnTo>
                  <a:pt x="3791365" y="2552692"/>
                </a:lnTo>
                <a:cubicBezTo>
                  <a:pt x="4076658" y="2552692"/>
                  <a:pt x="4307963" y="2321415"/>
                  <a:pt x="4307963" y="2036108"/>
                </a:cubicBezTo>
                <a:lnTo>
                  <a:pt x="4307963" y="516626"/>
                </a:lnTo>
                <a:cubicBezTo>
                  <a:pt x="4307963" y="231746"/>
                  <a:pt x="4076186" y="0"/>
                  <a:pt x="3791336" y="0"/>
                </a:cubicBezTo>
                <a:close/>
              </a:path>
            </a:pathLst>
          </a:custGeom>
          <a:solidFill>
            <a:srgbClr val="1EA4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10536165" y="4559520"/>
            <a:ext cx="3347189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Skip-gram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CBoWs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the primary task is to build a language model that correctly predicts the center word given the context words in which the center word appears. 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4" name="Google Shape;334;p14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Continuous Bag-of-Words (CBoWs)</a:t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5148573" y="816324"/>
            <a:ext cx="5976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36" name="Google Shape;336;p14"/>
          <p:cNvGraphicFramePr/>
          <p:nvPr/>
        </p:nvGraphicFramePr>
        <p:xfrm>
          <a:off x="2709334" y="4616361"/>
          <a:ext cx="10837350" cy="716175"/>
        </p:xfrm>
        <a:graphic>
          <a:graphicData uri="http://schemas.openxmlformats.org/drawingml/2006/table">
            <a:tbl>
              <a:tblPr firstRow="1" bandRow="1">
                <a:noFill/>
                <a:tableStyleId>{9E6CBDBF-BBD2-4A83-9F77-1C2D719464C3}</a:tableStyleId>
              </a:tblPr>
              <a:tblGrid>
                <a:gridCol w="120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16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quick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brown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fox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C05D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jumps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over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lazy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dog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37" name="Google Shape;337;p14"/>
          <p:cNvGrpSpPr/>
          <p:nvPr/>
        </p:nvGrpSpPr>
        <p:grpSpPr>
          <a:xfrm>
            <a:off x="4355979" y="3358864"/>
            <a:ext cx="7544043" cy="4089951"/>
            <a:chOff x="4937760" y="2952464"/>
            <a:chExt cx="7544043" cy="4089951"/>
          </a:xfrm>
        </p:grpSpPr>
        <p:sp>
          <p:nvSpPr>
            <p:cNvPr id="338" name="Google Shape;338;p14"/>
            <p:cNvSpPr/>
            <p:nvPr/>
          </p:nvSpPr>
          <p:spPr>
            <a:xfrm flipH="1">
              <a:off x="9000674" y="3649407"/>
              <a:ext cx="1152000" cy="493200"/>
            </a:xfrm>
            <a:prstGeom prst="curvedDown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06A59E"/>
            </a:solidFill>
            <a:ln w="25400" cap="flat" cmpd="sng">
              <a:solidFill>
                <a:srgbClr val="06A59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 rot="10800000" flipH="1">
              <a:off x="7299369" y="3610190"/>
              <a:ext cx="1153751" cy="493548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06A59E"/>
            </a:solidFill>
            <a:ln w="25400" cap="flat" cmpd="sng">
              <a:solidFill>
                <a:srgbClr val="06A59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 rot="10800000" flipH="1">
              <a:off x="6291634" y="2996807"/>
              <a:ext cx="2566800" cy="1078446"/>
            </a:xfrm>
            <a:prstGeom prst="curvedUpArrow">
              <a:avLst>
                <a:gd name="adj1" fmla="val 25000"/>
                <a:gd name="adj2" fmla="val 48105"/>
                <a:gd name="adj3" fmla="val 21508"/>
              </a:avLst>
            </a:prstGeom>
            <a:solidFill>
              <a:srgbClr val="06A59E"/>
            </a:solidFill>
            <a:ln w="25400" cap="flat" cmpd="sng">
              <a:solidFill>
                <a:srgbClr val="06A59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1" name="Google Shape;341;p14"/>
            <p:cNvSpPr txBox="1"/>
            <p:nvPr/>
          </p:nvSpPr>
          <p:spPr>
            <a:xfrm>
              <a:off x="7739354" y="6435943"/>
              <a:ext cx="1901785" cy="606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Focus Word</a:t>
              </a:r>
              <a:endParaRPr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 rot="-5400000">
              <a:off x="5829397" y="4146198"/>
              <a:ext cx="545853" cy="232912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rgbClr val="729B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3" name="Google Shape;343;p14"/>
            <p:cNvSpPr txBox="1"/>
            <p:nvPr/>
          </p:nvSpPr>
          <p:spPr>
            <a:xfrm>
              <a:off x="5438059" y="5713113"/>
              <a:ext cx="1328528" cy="606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Context</a:t>
              </a:r>
              <a:endParaRPr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4" name="Google Shape;344;p14"/>
            <p:cNvSpPr txBox="1"/>
            <p:nvPr/>
          </p:nvSpPr>
          <p:spPr>
            <a:xfrm>
              <a:off x="10652974" y="5713113"/>
              <a:ext cx="1328528" cy="606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Context</a:t>
              </a:r>
              <a:endParaRPr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345" name="Google Shape;345;p14" descr="Arrow: Straight with solid fi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-5400000">
              <a:off x="7854125" y="4924670"/>
              <a:ext cx="1681505" cy="13544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14"/>
            <p:cNvSpPr/>
            <p:nvPr/>
          </p:nvSpPr>
          <p:spPr>
            <a:xfrm rot="-5400000">
              <a:off x="11044312" y="4146198"/>
              <a:ext cx="545853" cy="232912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rgbClr val="729B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 rot="10800000">
              <a:off x="8595360" y="2952464"/>
              <a:ext cx="2566800" cy="1078446"/>
            </a:xfrm>
            <a:prstGeom prst="curvedUpArrow">
              <a:avLst>
                <a:gd name="adj1" fmla="val 25000"/>
                <a:gd name="adj2" fmla="val 50000"/>
                <a:gd name="adj3" fmla="val 19622"/>
              </a:avLst>
            </a:prstGeom>
            <a:solidFill>
              <a:srgbClr val="06A59E"/>
            </a:solidFill>
            <a:ln w="25400" cap="flat" cmpd="sng">
              <a:solidFill>
                <a:srgbClr val="06A59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"/>
          <p:cNvSpPr/>
          <p:nvPr/>
        </p:nvSpPr>
        <p:spPr>
          <a:xfrm>
            <a:off x="9169662" y="5259335"/>
            <a:ext cx="4272396" cy="1369165"/>
          </a:xfrm>
          <a:prstGeom prst="roundRect">
            <a:avLst>
              <a:gd name="adj" fmla="val 16667"/>
            </a:avLst>
          </a:prstGeom>
          <a:solidFill>
            <a:srgbClr val="F7CAAC">
              <a:alpha val="7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15"/>
          <p:cNvSpPr txBox="1">
            <a:spLocks noGrp="1"/>
          </p:cNvSpPr>
          <p:nvPr>
            <p:ph type="body" idx="2"/>
          </p:nvPr>
        </p:nvSpPr>
        <p:spPr>
          <a:xfrm>
            <a:off x="2491898" y="1512833"/>
            <a:ext cx="11284275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2800"/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Context size 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refers to the number of surrounding words taken into consideration when predicting a target word.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endParaRPr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1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CBoWs: Context Size</a:t>
            </a:r>
            <a:endParaRPr/>
          </a:p>
        </p:txBody>
      </p:sp>
      <p:sp>
        <p:nvSpPr>
          <p:cNvPr id="355" name="Google Shape;355;p15"/>
          <p:cNvSpPr txBox="1"/>
          <p:nvPr/>
        </p:nvSpPr>
        <p:spPr>
          <a:xfrm>
            <a:off x="8063747" y="3453929"/>
            <a:ext cx="6484226" cy="96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Consider the example statement: </a:t>
            </a:r>
            <a:endParaRPr/>
          </a:p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lang="en-US" sz="2200" b="1" i="1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quick </a:t>
            </a:r>
            <a:r>
              <a:rPr lang="en-US" sz="2200" b="1" i="1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rPr>
              <a:t>brown fox </a:t>
            </a:r>
            <a:r>
              <a:rPr lang="en-US" sz="2200" b="1" i="1" u="none" strike="noStrike" cap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jumps</a:t>
            </a:r>
            <a:r>
              <a:rPr lang="en-US" sz="2200" b="1" i="1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b="1" i="1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rPr>
              <a:t>over the </a:t>
            </a:r>
            <a:r>
              <a:rPr lang="en-US" sz="2200" b="1" i="1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lazy dog.</a:t>
            </a: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”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" name="Google Shape;356;p15"/>
          <p:cNvSpPr txBox="1"/>
          <p:nvPr/>
        </p:nvSpPr>
        <p:spPr>
          <a:xfrm>
            <a:off x="9755183" y="5523610"/>
            <a:ext cx="3101354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In this statement, the </a:t>
            </a:r>
            <a:r>
              <a:rPr lang="en-US" sz="2200" b="1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context size is 4</a:t>
            </a: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2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6346351" y="816324"/>
            <a:ext cx="3578856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58" name="Google Shape;358;p15"/>
          <p:cNvGrpSpPr/>
          <p:nvPr/>
        </p:nvGrpSpPr>
        <p:grpSpPr>
          <a:xfrm>
            <a:off x="1680777" y="2758981"/>
            <a:ext cx="5776979" cy="4911355"/>
            <a:chOff x="2435842" y="2916733"/>
            <a:chExt cx="5776979" cy="4911355"/>
          </a:xfrm>
        </p:grpSpPr>
        <p:sp>
          <p:nvSpPr>
            <p:cNvPr id="359" name="Google Shape;359;p15"/>
            <p:cNvSpPr/>
            <p:nvPr/>
          </p:nvSpPr>
          <p:spPr>
            <a:xfrm>
              <a:off x="3735057" y="2916733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3735057" y="4267807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3735057" y="6969955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3735057" y="5618881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6127463" y="4941086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364" name="Google Shape;364;p15"/>
            <p:cNvCxnSpPr/>
            <p:nvPr/>
          </p:nvCxnSpPr>
          <p:spPr>
            <a:xfrm>
              <a:off x="6585649" y="5417087"/>
              <a:ext cx="670245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5" name="Google Shape;365;p15"/>
            <p:cNvCxnSpPr/>
            <p:nvPr/>
          </p:nvCxnSpPr>
          <p:spPr>
            <a:xfrm>
              <a:off x="4160390" y="3345800"/>
              <a:ext cx="1949853" cy="1844015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6" name="Google Shape;366;p15"/>
            <p:cNvCxnSpPr/>
            <p:nvPr/>
          </p:nvCxnSpPr>
          <p:spPr>
            <a:xfrm rot="10800000" flipH="1">
              <a:off x="4160390" y="5600188"/>
              <a:ext cx="1949853" cy="1798834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7" name="Google Shape;367;p15"/>
            <p:cNvCxnSpPr/>
            <p:nvPr/>
          </p:nvCxnSpPr>
          <p:spPr>
            <a:xfrm>
              <a:off x="4160390" y="4696874"/>
              <a:ext cx="1967073" cy="673279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8" name="Google Shape;368;p15"/>
            <p:cNvCxnSpPr/>
            <p:nvPr/>
          </p:nvCxnSpPr>
          <p:spPr>
            <a:xfrm rot="10800000" flipH="1">
              <a:off x="4160390" y="5417087"/>
              <a:ext cx="1951287" cy="630861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69" name="Google Shape;369;p15"/>
            <p:cNvSpPr/>
            <p:nvPr/>
          </p:nvSpPr>
          <p:spPr>
            <a:xfrm>
              <a:off x="7255894" y="4941085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0" name="Google Shape;370;p15"/>
            <p:cNvSpPr txBox="1"/>
            <p:nvPr/>
          </p:nvSpPr>
          <p:spPr>
            <a:xfrm>
              <a:off x="6917354" y="4374609"/>
              <a:ext cx="1295467" cy="454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1" u="none" strike="noStrike" cap="none">
                  <a:solidFill>
                    <a:srgbClr val="C55A11"/>
                  </a:solidFill>
                  <a:latin typeface="Open Sans"/>
                  <a:ea typeface="Open Sans"/>
                  <a:cs typeface="Open Sans"/>
                  <a:sym typeface="Open Sans"/>
                </a:rPr>
                <a:t>jumps</a:t>
              </a:r>
              <a:endParaRPr sz="2200" b="1" i="1" u="none" strike="noStrike" cap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1" name="Google Shape;371;p15"/>
            <p:cNvSpPr txBox="1"/>
            <p:nvPr/>
          </p:nvSpPr>
          <p:spPr>
            <a:xfrm>
              <a:off x="2435842" y="3159125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548135"/>
                  </a:solidFill>
                  <a:latin typeface="Open Sans"/>
                  <a:ea typeface="Open Sans"/>
                  <a:cs typeface="Open Sans"/>
                  <a:sym typeface="Open Sans"/>
                </a:rPr>
                <a:t>brown</a:t>
              </a:r>
              <a:endParaRPr sz="2200" b="0" i="0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5"/>
            <p:cNvSpPr txBox="1"/>
            <p:nvPr/>
          </p:nvSpPr>
          <p:spPr>
            <a:xfrm>
              <a:off x="2435842" y="4510199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548135"/>
                  </a:solidFill>
                  <a:latin typeface="Open Sans"/>
                  <a:ea typeface="Open Sans"/>
                  <a:cs typeface="Open Sans"/>
                  <a:sym typeface="Open Sans"/>
                </a:rPr>
                <a:t>fox</a:t>
              </a:r>
              <a:endParaRPr sz="2200" b="0" i="0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3" name="Google Shape;373;p15"/>
            <p:cNvSpPr txBox="1"/>
            <p:nvPr/>
          </p:nvSpPr>
          <p:spPr>
            <a:xfrm>
              <a:off x="2435842" y="5861273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548135"/>
                  </a:solidFill>
                  <a:latin typeface="Open Sans"/>
                  <a:ea typeface="Open Sans"/>
                  <a:cs typeface="Open Sans"/>
                  <a:sym typeface="Open Sans"/>
                </a:rPr>
                <a:t>over</a:t>
              </a:r>
              <a:endParaRPr sz="2200" b="0" i="0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4" name="Google Shape;374;p15"/>
            <p:cNvSpPr txBox="1"/>
            <p:nvPr/>
          </p:nvSpPr>
          <p:spPr>
            <a:xfrm>
              <a:off x="2435842" y="7212347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548135"/>
                  </a:solidFill>
                  <a:latin typeface="Open Sans"/>
                  <a:ea typeface="Open Sans"/>
                  <a:cs typeface="Open Sans"/>
                  <a:sym typeface="Open Sans"/>
                </a:rPr>
                <a:t>the</a:t>
              </a:r>
              <a:endParaRPr sz="2200" b="0" i="0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5" name="Google Shape;375;p15"/>
            <p:cNvSpPr txBox="1"/>
            <p:nvPr/>
          </p:nvSpPr>
          <p:spPr>
            <a:xfrm>
              <a:off x="4237303" y="3159125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r>
                <a:rPr lang="en-US" sz="2200" b="0" i="0" u="none" strike="noStrike" cap="none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(t-2)</a:t>
              </a:r>
              <a:endParaRPr sz="2200" b="0" i="0" u="none" strike="noStrike" cap="non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6" name="Google Shape;376;p15"/>
            <p:cNvSpPr txBox="1"/>
            <p:nvPr/>
          </p:nvSpPr>
          <p:spPr>
            <a:xfrm>
              <a:off x="4237303" y="4510199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r>
                <a:rPr lang="en-US" sz="2200" b="0" i="0" u="none" strike="noStrike" cap="none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(t-1)</a:t>
              </a:r>
              <a:endParaRPr sz="2200" b="0" i="0" u="none" strike="noStrike" cap="non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7" name="Google Shape;377;p15"/>
            <p:cNvSpPr txBox="1"/>
            <p:nvPr/>
          </p:nvSpPr>
          <p:spPr>
            <a:xfrm>
              <a:off x="4237303" y="5861273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r>
                <a:rPr lang="en-US" sz="2200" b="0" i="0" u="none" strike="noStrike" cap="none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(t+1)</a:t>
              </a:r>
              <a:endParaRPr sz="2200" b="0" i="0" u="none" strike="noStrike" cap="non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8" name="Google Shape;378;p15"/>
            <p:cNvSpPr txBox="1"/>
            <p:nvPr/>
          </p:nvSpPr>
          <p:spPr>
            <a:xfrm>
              <a:off x="4237303" y="7212347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r>
                <a:rPr lang="en-US" sz="2200" b="0" i="0" u="none" strike="noStrike" cap="none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(t+2)</a:t>
              </a:r>
              <a:endParaRPr sz="2200" b="0" i="0" u="none" strike="noStrike" cap="non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9" name="Google Shape;379;p15"/>
            <p:cNvSpPr txBox="1"/>
            <p:nvPr/>
          </p:nvSpPr>
          <p:spPr>
            <a:xfrm>
              <a:off x="6832533" y="5981341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r>
                <a:rPr lang="en-US" sz="2200" b="0" i="0" u="none" strike="noStrike" cap="none" baseline="-25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(t)</a:t>
              </a:r>
              <a:endParaRPr sz="2200" b="0" i="0" u="none" strike="noStrike" cap="none" baseline="-2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80" name="Google Shape;380;p15"/>
          <p:cNvSpPr/>
          <p:nvPr/>
        </p:nvSpPr>
        <p:spPr>
          <a:xfrm>
            <a:off x="8047607" y="3134588"/>
            <a:ext cx="6516506" cy="1620249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Skip Gram Model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"/>
          <p:cNvSpPr/>
          <p:nvPr/>
        </p:nvSpPr>
        <p:spPr>
          <a:xfrm rot="10800000" flipH="1">
            <a:off x="8143949" y="2988714"/>
            <a:ext cx="2566800" cy="1078446"/>
          </a:xfrm>
          <a:prstGeom prst="curvedUpArrow">
            <a:avLst>
              <a:gd name="adj1" fmla="val 25000"/>
              <a:gd name="adj2" fmla="val 48105"/>
              <a:gd name="adj3" fmla="val 21508"/>
            </a:avLst>
          </a:prstGeom>
          <a:solidFill>
            <a:srgbClr val="06A59E"/>
          </a:solidFill>
          <a:ln w="25400" cap="flat" cmpd="sng">
            <a:solidFill>
              <a:srgbClr val="06A5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In SkipGram, the task is to predict the context words from the center word. </a:t>
            </a:r>
            <a:endParaRPr/>
          </a:p>
        </p:txBody>
      </p:sp>
      <p:sp>
        <p:nvSpPr>
          <p:cNvPr id="392" name="Google Shape;392;p1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Continuous Bag-of-Words (CBoWs)</a:t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5154137" y="816324"/>
            <a:ext cx="5976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94" name="Google Shape;394;p17"/>
          <p:cNvGraphicFramePr/>
          <p:nvPr/>
        </p:nvGraphicFramePr>
        <p:xfrm>
          <a:off x="2709334" y="4093843"/>
          <a:ext cx="10837350" cy="716175"/>
        </p:xfrm>
        <a:graphic>
          <a:graphicData uri="http://schemas.openxmlformats.org/drawingml/2006/table">
            <a:tbl>
              <a:tblPr firstRow="1" bandRow="1">
                <a:noFill/>
                <a:tableStyleId>{9E6CBDBF-BBD2-4A83-9F77-1C2D719464C3}</a:tableStyleId>
              </a:tblPr>
              <a:tblGrid>
                <a:gridCol w="120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41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16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quick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brown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fox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C05D5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jumps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over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lazy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dog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BEBA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5" name="Google Shape;395;p17"/>
          <p:cNvSpPr/>
          <p:nvPr/>
        </p:nvSpPr>
        <p:spPr>
          <a:xfrm rot="10800000" flipH="1">
            <a:off x="8096966" y="3581482"/>
            <a:ext cx="1153751" cy="493548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06A59E"/>
          </a:solidFill>
          <a:ln w="25400" cap="flat" cmpd="sng">
            <a:solidFill>
              <a:srgbClr val="06A5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17"/>
          <p:cNvSpPr txBox="1"/>
          <p:nvPr/>
        </p:nvSpPr>
        <p:spPr>
          <a:xfrm>
            <a:off x="7165351" y="6400919"/>
            <a:ext cx="1901785" cy="606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Focus Word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17"/>
          <p:cNvSpPr/>
          <p:nvPr/>
        </p:nvSpPr>
        <p:spPr>
          <a:xfrm rot="-5400000">
            <a:off x="5255394" y="4111174"/>
            <a:ext cx="545853" cy="2329128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729B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4864056" y="5678089"/>
            <a:ext cx="1328528" cy="606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Context</a:t>
            </a: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10078971" y="5678089"/>
            <a:ext cx="1328528" cy="606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Context</a:t>
            </a:r>
            <a:endParaRPr sz="22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00" name="Google Shape;400;p17" descr="Arrow: Straigh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7280122" y="4889646"/>
            <a:ext cx="1681505" cy="135444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7"/>
          <p:cNvSpPr/>
          <p:nvPr/>
        </p:nvSpPr>
        <p:spPr>
          <a:xfrm rot="-5400000">
            <a:off x="10470309" y="4111174"/>
            <a:ext cx="545853" cy="2329128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729B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17"/>
          <p:cNvSpPr/>
          <p:nvPr/>
        </p:nvSpPr>
        <p:spPr>
          <a:xfrm rot="10800000">
            <a:off x="5477521" y="3002082"/>
            <a:ext cx="2566800" cy="1078446"/>
          </a:xfrm>
          <a:prstGeom prst="curvedUpArrow">
            <a:avLst>
              <a:gd name="adj1" fmla="val 25000"/>
              <a:gd name="adj2" fmla="val 50000"/>
              <a:gd name="adj3" fmla="val 19622"/>
            </a:avLst>
          </a:prstGeom>
          <a:solidFill>
            <a:srgbClr val="06A59E"/>
          </a:solidFill>
          <a:ln w="25400" cap="flat" cmpd="sng">
            <a:solidFill>
              <a:srgbClr val="06A5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17"/>
          <p:cNvSpPr/>
          <p:nvPr/>
        </p:nvSpPr>
        <p:spPr>
          <a:xfrm flipH="1">
            <a:off x="6936540" y="3580517"/>
            <a:ext cx="1152000" cy="4932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06A59E"/>
          </a:solidFill>
          <a:ln w="25400" cap="flat" cmpd="sng">
            <a:solidFill>
              <a:srgbClr val="06A5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8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2800"/>
              <a:buNone/>
            </a:pPr>
            <a:r>
              <a:rPr lang="en-US" sz="22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Consider the previous example statement: </a:t>
            </a: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lang="en-US" sz="2200" b="1" i="1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quick </a:t>
            </a:r>
            <a:r>
              <a:rPr lang="en-US" sz="2200" b="1" i="1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rPr>
              <a:t>brown fox </a:t>
            </a:r>
            <a:r>
              <a:rPr lang="en-US" sz="2200" b="1" i="1" u="none" strike="noStrike" cap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jumps</a:t>
            </a:r>
            <a:r>
              <a:rPr lang="en-US" sz="2200" b="1" i="1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b="1" i="1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rPr>
              <a:t>over the </a:t>
            </a:r>
            <a:r>
              <a:rPr lang="en-US" sz="2200" b="1" i="1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lazy dog.</a:t>
            </a: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”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p18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Skip-Gram Model</a:t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6656913" y="816324"/>
            <a:ext cx="2957732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11" name="Google Shape;411;p18"/>
          <p:cNvGrpSpPr/>
          <p:nvPr/>
        </p:nvGrpSpPr>
        <p:grpSpPr>
          <a:xfrm rot="10800000">
            <a:off x="5177668" y="2609059"/>
            <a:ext cx="5900664" cy="4911355"/>
            <a:chOff x="2210536" y="2916733"/>
            <a:chExt cx="5900664" cy="4911355"/>
          </a:xfrm>
        </p:grpSpPr>
        <p:sp>
          <p:nvSpPr>
            <p:cNvPr id="412" name="Google Shape;412;p18"/>
            <p:cNvSpPr/>
            <p:nvPr/>
          </p:nvSpPr>
          <p:spPr>
            <a:xfrm>
              <a:off x="3735057" y="2916733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3" name="Google Shape;413;p18"/>
            <p:cNvSpPr/>
            <p:nvPr/>
          </p:nvSpPr>
          <p:spPr>
            <a:xfrm>
              <a:off x="3735057" y="4267807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4" name="Google Shape;414;p18"/>
            <p:cNvSpPr/>
            <p:nvPr/>
          </p:nvSpPr>
          <p:spPr>
            <a:xfrm>
              <a:off x="3735057" y="6969955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5" name="Google Shape;415;p18"/>
            <p:cNvSpPr/>
            <p:nvPr/>
          </p:nvSpPr>
          <p:spPr>
            <a:xfrm>
              <a:off x="3735057" y="5618881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6127463" y="4941086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417" name="Google Shape;417;p18"/>
            <p:cNvCxnSpPr/>
            <p:nvPr/>
          </p:nvCxnSpPr>
          <p:spPr>
            <a:xfrm>
              <a:off x="6585649" y="5417087"/>
              <a:ext cx="670245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160390" y="3345800"/>
              <a:ext cx="1949853" cy="1844015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9" name="Google Shape;419;p18"/>
            <p:cNvCxnSpPr/>
            <p:nvPr/>
          </p:nvCxnSpPr>
          <p:spPr>
            <a:xfrm rot="10800000" flipH="1">
              <a:off x="4160390" y="5600188"/>
              <a:ext cx="1949853" cy="1798834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160390" y="4696874"/>
              <a:ext cx="1967073" cy="673279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1" name="Google Shape;421;p18"/>
            <p:cNvCxnSpPr/>
            <p:nvPr/>
          </p:nvCxnSpPr>
          <p:spPr>
            <a:xfrm rot="10800000" flipH="1">
              <a:off x="4160390" y="5417087"/>
              <a:ext cx="1951287" cy="630861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22" name="Google Shape;422;p18"/>
            <p:cNvSpPr/>
            <p:nvPr/>
          </p:nvSpPr>
          <p:spPr>
            <a:xfrm>
              <a:off x="7255894" y="4941085"/>
              <a:ext cx="425333" cy="858133"/>
            </a:xfrm>
            <a:prstGeom prst="roundRect">
              <a:avLst>
                <a:gd name="adj" fmla="val 16667"/>
              </a:avLst>
            </a:prstGeom>
            <a:solidFill>
              <a:srgbClr val="548235">
                <a:alpha val="72156"/>
              </a:srgbClr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3" name="Google Shape;423;p18"/>
            <p:cNvSpPr txBox="1"/>
            <p:nvPr/>
          </p:nvSpPr>
          <p:spPr>
            <a:xfrm rot="10800000">
              <a:off x="6760128" y="5862000"/>
              <a:ext cx="1295467" cy="454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1" u="none" strike="noStrike" cap="none">
                  <a:solidFill>
                    <a:srgbClr val="C55A11"/>
                  </a:solidFill>
                  <a:latin typeface="Open Sans"/>
                  <a:ea typeface="Open Sans"/>
                  <a:cs typeface="Open Sans"/>
                  <a:sym typeface="Open Sans"/>
                </a:rPr>
                <a:t>jumps</a:t>
              </a:r>
              <a:endParaRPr sz="2200" b="1" i="1" u="none" strike="noStrike" cap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4" name="Google Shape;424;p18"/>
            <p:cNvSpPr txBox="1"/>
            <p:nvPr/>
          </p:nvSpPr>
          <p:spPr>
            <a:xfrm rot="10800000">
              <a:off x="2210536" y="7206896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548135"/>
                  </a:solidFill>
                  <a:latin typeface="Open Sans"/>
                  <a:ea typeface="Open Sans"/>
                  <a:cs typeface="Open Sans"/>
                  <a:sym typeface="Open Sans"/>
                </a:rPr>
                <a:t>brown</a:t>
              </a:r>
              <a:endParaRPr sz="2200" b="0" i="0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5" name="Google Shape;425;p18"/>
            <p:cNvSpPr txBox="1"/>
            <p:nvPr/>
          </p:nvSpPr>
          <p:spPr>
            <a:xfrm rot="10800000">
              <a:off x="2347709" y="5792018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548135"/>
                  </a:solidFill>
                  <a:latin typeface="Open Sans"/>
                  <a:ea typeface="Open Sans"/>
                  <a:cs typeface="Open Sans"/>
                  <a:sym typeface="Open Sans"/>
                </a:rPr>
                <a:t>fox</a:t>
              </a:r>
              <a:endParaRPr sz="2200" b="0" i="0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6" name="Google Shape;426;p18"/>
            <p:cNvSpPr txBox="1"/>
            <p:nvPr/>
          </p:nvSpPr>
          <p:spPr>
            <a:xfrm rot="10800000">
              <a:off x="2287449" y="4398398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548135"/>
                  </a:solidFill>
                  <a:latin typeface="Open Sans"/>
                  <a:ea typeface="Open Sans"/>
                  <a:cs typeface="Open Sans"/>
                  <a:sym typeface="Open Sans"/>
                </a:rPr>
                <a:t>over</a:t>
              </a:r>
              <a:endParaRPr sz="2200" b="0" i="0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7" name="Google Shape;427;p18"/>
            <p:cNvSpPr txBox="1"/>
            <p:nvPr/>
          </p:nvSpPr>
          <p:spPr>
            <a:xfrm rot="10800000">
              <a:off x="2348238" y="3162805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548135"/>
                  </a:solidFill>
                  <a:latin typeface="Open Sans"/>
                  <a:ea typeface="Open Sans"/>
                  <a:cs typeface="Open Sans"/>
                  <a:sym typeface="Open Sans"/>
                </a:rPr>
                <a:t>the</a:t>
              </a:r>
              <a:endParaRPr sz="2200" b="0" i="0" u="none" strike="noStrike" cap="none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8" name="Google Shape;428;p18"/>
            <p:cNvSpPr txBox="1"/>
            <p:nvPr/>
          </p:nvSpPr>
          <p:spPr>
            <a:xfrm rot="10800000">
              <a:off x="4237303" y="3159125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r>
                <a:rPr lang="en-US" sz="2200" b="0" i="0" u="none" strike="noStrike" cap="none" baseline="-25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(t+2)</a:t>
              </a:r>
              <a:endParaRPr sz="2200" b="0" i="0" u="none" strike="noStrike" cap="none" baseline="-2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9" name="Google Shape;429;p18"/>
            <p:cNvSpPr txBox="1"/>
            <p:nvPr/>
          </p:nvSpPr>
          <p:spPr>
            <a:xfrm rot="10800000">
              <a:off x="4237303" y="4510199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r>
                <a:rPr lang="en-US" sz="2200" b="0" i="0" u="none" strike="noStrike" cap="none" baseline="-25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(t+1)</a:t>
              </a:r>
              <a:endParaRPr sz="2200" b="0" i="0" u="none" strike="noStrike" cap="none" baseline="-2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0" name="Google Shape;430;p18"/>
            <p:cNvSpPr txBox="1"/>
            <p:nvPr/>
          </p:nvSpPr>
          <p:spPr>
            <a:xfrm rot="10800000">
              <a:off x="4237303" y="5861273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r>
                <a:rPr lang="en-US" sz="2200" b="0" i="0" u="none" strike="noStrike" cap="none" baseline="-25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(t-1)</a:t>
              </a:r>
              <a:endParaRPr sz="2200" b="0" i="0" u="none" strike="noStrike" cap="none" baseline="-2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1" name="Google Shape;431;p18"/>
            <p:cNvSpPr txBox="1"/>
            <p:nvPr/>
          </p:nvSpPr>
          <p:spPr>
            <a:xfrm rot="10800000">
              <a:off x="4237303" y="7212347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r>
                <a:rPr lang="en-US" sz="2200" b="0" i="0" u="none" strike="noStrike" cap="none" baseline="-25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(t-2)</a:t>
              </a:r>
              <a:endParaRPr sz="2200" b="0" i="0" u="none" strike="noStrike" cap="none" baseline="-2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2" name="Google Shape;432;p18"/>
            <p:cNvSpPr txBox="1"/>
            <p:nvPr/>
          </p:nvSpPr>
          <p:spPr>
            <a:xfrm rot="10800000">
              <a:off x="6815733" y="4244526"/>
              <a:ext cx="129546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r>
                <a:rPr lang="en-US" sz="2200" b="0" i="0" u="none" strike="noStrike" cap="none" baseline="-25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(t)</a:t>
              </a:r>
              <a:endParaRPr sz="2200" b="0" i="0" u="none" strike="noStrike" cap="none" baseline="-2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9"/>
          <p:cNvSpPr txBox="1">
            <a:spLocks noGrp="1"/>
          </p:cNvSpPr>
          <p:nvPr>
            <p:ph type="body" idx="2"/>
          </p:nvPr>
        </p:nvSpPr>
        <p:spPr>
          <a:xfrm>
            <a:off x="1291857" y="163475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Word2Vec is better than basic vectorization approaches in many ways. Given below are the key advantages of using Word2Vec. </a:t>
            </a:r>
            <a:endParaRPr dirty="0"/>
          </a:p>
        </p:txBody>
      </p:sp>
      <p:sp>
        <p:nvSpPr>
          <p:cNvPr id="438" name="Google Shape;438;p1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Word2Vec: Pros</a:t>
            </a:r>
            <a:endParaRPr/>
          </a:p>
        </p:txBody>
      </p:sp>
      <p:sp>
        <p:nvSpPr>
          <p:cNvPr id="439" name="Google Shape;439;p19"/>
          <p:cNvSpPr/>
          <p:nvPr/>
        </p:nvSpPr>
        <p:spPr>
          <a:xfrm>
            <a:off x="6791356" y="816324"/>
            <a:ext cx="2688847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0" name="Google Shape;440;p19"/>
          <p:cNvSpPr txBox="1"/>
          <p:nvPr/>
        </p:nvSpPr>
        <p:spPr>
          <a:xfrm>
            <a:off x="11952514" y="-11430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41" name="Google Shape;441;p19"/>
          <p:cNvGrpSpPr/>
          <p:nvPr/>
        </p:nvGrpSpPr>
        <p:grpSpPr>
          <a:xfrm>
            <a:off x="6607212" y="2916238"/>
            <a:ext cx="3184762" cy="4019495"/>
            <a:chOff x="3697288" y="414338"/>
            <a:chExt cx="4784725" cy="6038850"/>
          </a:xfrm>
        </p:grpSpPr>
        <p:sp>
          <p:nvSpPr>
            <p:cNvPr id="442" name="Google Shape;442;p19"/>
            <p:cNvSpPr/>
            <p:nvPr/>
          </p:nvSpPr>
          <p:spPr>
            <a:xfrm>
              <a:off x="6154738" y="414338"/>
              <a:ext cx="2327275" cy="4789488"/>
            </a:xfrm>
            <a:custGeom>
              <a:avLst/>
              <a:gdLst/>
              <a:ahLst/>
              <a:cxnLst/>
              <a:rect l="l" t="t" r="r" b="b"/>
              <a:pathLst>
                <a:path w="1466" h="3017" extrusionOk="0">
                  <a:moveTo>
                    <a:pt x="447" y="0"/>
                  </a:moveTo>
                  <a:lnTo>
                    <a:pt x="479" y="1"/>
                  </a:lnTo>
                  <a:lnTo>
                    <a:pt x="510" y="10"/>
                  </a:lnTo>
                  <a:lnTo>
                    <a:pt x="540" y="25"/>
                  </a:lnTo>
                  <a:lnTo>
                    <a:pt x="568" y="47"/>
                  </a:lnTo>
                  <a:lnTo>
                    <a:pt x="594" y="75"/>
                  </a:lnTo>
                  <a:lnTo>
                    <a:pt x="619" y="108"/>
                  </a:lnTo>
                  <a:lnTo>
                    <a:pt x="641" y="148"/>
                  </a:lnTo>
                  <a:lnTo>
                    <a:pt x="660" y="191"/>
                  </a:lnTo>
                  <a:lnTo>
                    <a:pt x="678" y="240"/>
                  </a:lnTo>
                  <a:lnTo>
                    <a:pt x="693" y="293"/>
                  </a:lnTo>
                  <a:lnTo>
                    <a:pt x="703" y="351"/>
                  </a:lnTo>
                  <a:lnTo>
                    <a:pt x="711" y="412"/>
                  </a:lnTo>
                  <a:lnTo>
                    <a:pt x="716" y="477"/>
                  </a:lnTo>
                  <a:lnTo>
                    <a:pt x="716" y="545"/>
                  </a:lnTo>
                  <a:lnTo>
                    <a:pt x="712" y="615"/>
                  </a:lnTo>
                  <a:lnTo>
                    <a:pt x="705" y="688"/>
                  </a:lnTo>
                  <a:lnTo>
                    <a:pt x="694" y="753"/>
                  </a:lnTo>
                  <a:lnTo>
                    <a:pt x="678" y="813"/>
                  </a:lnTo>
                  <a:lnTo>
                    <a:pt x="657" y="870"/>
                  </a:lnTo>
                  <a:lnTo>
                    <a:pt x="634" y="925"/>
                  </a:lnTo>
                  <a:lnTo>
                    <a:pt x="607" y="975"/>
                  </a:lnTo>
                  <a:lnTo>
                    <a:pt x="579" y="1024"/>
                  </a:lnTo>
                  <a:lnTo>
                    <a:pt x="550" y="1070"/>
                  </a:lnTo>
                  <a:lnTo>
                    <a:pt x="522" y="1113"/>
                  </a:lnTo>
                  <a:lnTo>
                    <a:pt x="493" y="1154"/>
                  </a:lnTo>
                  <a:lnTo>
                    <a:pt x="466" y="1192"/>
                  </a:lnTo>
                  <a:lnTo>
                    <a:pt x="441" y="1229"/>
                  </a:lnTo>
                  <a:lnTo>
                    <a:pt x="418" y="1264"/>
                  </a:lnTo>
                  <a:lnTo>
                    <a:pt x="399" y="1297"/>
                  </a:lnTo>
                  <a:lnTo>
                    <a:pt x="384" y="1329"/>
                  </a:lnTo>
                  <a:lnTo>
                    <a:pt x="375" y="1359"/>
                  </a:lnTo>
                  <a:lnTo>
                    <a:pt x="370" y="1389"/>
                  </a:lnTo>
                  <a:lnTo>
                    <a:pt x="373" y="1416"/>
                  </a:lnTo>
                  <a:lnTo>
                    <a:pt x="383" y="1444"/>
                  </a:lnTo>
                  <a:lnTo>
                    <a:pt x="397" y="1465"/>
                  </a:lnTo>
                  <a:lnTo>
                    <a:pt x="414" y="1482"/>
                  </a:lnTo>
                  <a:lnTo>
                    <a:pt x="436" y="1496"/>
                  </a:lnTo>
                  <a:lnTo>
                    <a:pt x="462" y="1506"/>
                  </a:lnTo>
                  <a:lnTo>
                    <a:pt x="490" y="1515"/>
                  </a:lnTo>
                  <a:lnTo>
                    <a:pt x="523" y="1519"/>
                  </a:lnTo>
                  <a:lnTo>
                    <a:pt x="557" y="1523"/>
                  </a:lnTo>
                  <a:lnTo>
                    <a:pt x="594" y="1525"/>
                  </a:lnTo>
                  <a:lnTo>
                    <a:pt x="634" y="1525"/>
                  </a:lnTo>
                  <a:lnTo>
                    <a:pt x="674" y="1525"/>
                  </a:lnTo>
                  <a:lnTo>
                    <a:pt x="717" y="1524"/>
                  </a:lnTo>
                  <a:lnTo>
                    <a:pt x="761" y="1521"/>
                  </a:lnTo>
                  <a:lnTo>
                    <a:pt x="806" y="1520"/>
                  </a:lnTo>
                  <a:lnTo>
                    <a:pt x="852" y="1519"/>
                  </a:lnTo>
                  <a:lnTo>
                    <a:pt x="898" y="1519"/>
                  </a:lnTo>
                  <a:lnTo>
                    <a:pt x="944" y="1520"/>
                  </a:lnTo>
                  <a:lnTo>
                    <a:pt x="992" y="1521"/>
                  </a:lnTo>
                  <a:lnTo>
                    <a:pt x="1037" y="1526"/>
                  </a:lnTo>
                  <a:lnTo>
                    <a:pt x="1083" y="1532"/>
                  </a:lnTo>
                  <a:lnTo>
                    <a:pt x="1127" y="1541"/>
                  </a:lnTo>
                  <a:lnTo>
                    <a:pt x="1171" y="1551"/>
                  </a:lnTo>
                  <a:lnTo>
                    <a:pt x="1216" y="1569"/>
                  </a:lnTo>
                  <a:lnTo>
                    <a:pt x="1258" y="1591"/>
                  </a:lnTo>
                  <a:lnTo>
                    <a:pt x="1297" y="1617"/>
                  </a:lnTo>
                  <a:lnTo>
                    <a:pt x="1331" y="1647"/>
                  </a:lnTo>
                  <a:lnTo>
                    <a:pt x="1362" y="1681"/>
                  </a:lnTo>
                  <a:lnTo>
                    <a:pt x="1390" y="1717"/>
                  </a:lnTo>
                  <a:lnTo>
                    <a:pt x="1413" y="1756"/>
                  </a:lnTo>
                  <a:lnTo>
                    <a:pt x="1432" y="1796"/>
                  </a:lnTo>
                  <a:lnTo>
                    <a:pt x="1447" y="1839"/>
                  </a:lnTo>
                  <a:lnTo>
                    <a:pt x="1458" y="1883"/>
                  </a:lnTo>
                  <a:lnTo>
                    <a:pt x="1464" y="1927"/>
                  </a:lnTo>
                  <a:lnTo>
                    <a:pt x="1466" y="1972"/>
                  </a:lnTo>
                  <a:lnTo>
                    <a:pt x="1464" y="2016"/>
                  </a:lnTo>
                  <a:lnTo>
                    <a:pt x="1456" y="2059"/>
                  </a:lnTo>
                  <a:lnTo>
                    <a:pt x="1444" y="2101"/>
                  </a:lnTo>
                  <a:lnTo>
                    <a:pt x="1427" y="2143"/>
                  </a:lnTo>
                  <a:lnTo>
                    <a:pt x="1405" y="2181"/>
                  </a:lnTo>
                  <a:lnTo>
                    <a:pt x="1379" y="2217"/>
                  </a:lnTo>
                  <a:lnTo>
                    <a:pt x="1346" y="2249"/>
                  </a:lnTo>
                  <a:lnTo>
                    <a:pt x="1349" y="2251"/>
                  </a:lnTo>
                  <a:lnTo>
                    <a:pt x="1353" y="2256"/>
                  </a:lnTo>
                  <a:lnTo>
                    <a:pt x="1361" y="2264"/>
                  </a:lnTo>
                  <a:lnTo>
                    <a:pt x="1372" y="2275"/>
                  </a:lnTo>
                  <a:lnTo>
                    <a:pt x="1382" y="2290"/>
                  </a:lnTo>
                  <a:lnTo>
                    <a:pt x="1395" y="2309"/>
                  </a:lnTo>
                  <a:lnTo>
                    <a:pt x="1406" y="2331"/>
                  </a:lnTo>
                  <a:lnTo>
                    <a:pt x="1418" y="2356"/>
                  </a:lnTo>
                  <a:lnTo>
                    <a:pt x="1428" y="2385"/>
                  </a:lnTo>
                  <a:lnTo>
                    <a:pt x="1438" y="2419"/>
                  </a:lnTo>
                  <a:lnTo>
                    <a:pt x="1443" y="2454"/>
                  </a:lnTo>
                  <a:lnTo>
                    <a:pt x="1447" y="2495"/>
                  </a:lnTo>
                  <a:lnTo>
                    <a:pt x="1446" y="2539"/>
                  </a:lnTo>
                  <a:lnTo>
                    <a:pt x="1443" y="2570"/>
                  </a:lnTo>
                  <a:lnTo>
                    <a:pt x="1438" y="2599"/>
                  </a:lnTo>
                  <a:lnTo>
                    <a:pt x="795" y="2599"/>
                  </a:lnTo>
                  <a:lnTo>
                    <a:pt x="875" y="2669"/>
                  </a:lnTo>
                  <a:lnTo>
                    <a:pt x="896" y="2690"/>
                  </a:lnTo>
                  <a:lnTo>
                    <a:pt x="913" y="2714"/>
                  </a:lnTo>
                  <a:lnTo>
                    <a:pt x="927" y="2740"/>
                  </a:lnTo>
                  <a:lnTo>
                    <a:pt x="936" y="2767"/>
                  </a:lnTo>
                  <a:lnTo>
                    <a:pt x="942" y="2796"/>
                  </a:lnTo>
                  <a:lnTo>
                    <a:pt x="943" y="2817"/>
                  </a:lnTo>
                  <a:lnTo>
                    <a:pt x="941" y="2849"/>
                  </a:lnTo>
                  <a:lnTo>
                    <a:pt x="934" y="2879"/>
                  </a:lnTo>
                  <a:lnTo>
                    <a:pt x="921" y="2907"/>
                  </a:lnTo>
                  <a:lnTo>
                    <a:pt x="906" y="2933"/>
                  </a:lnTo>
                  <a:lnTo>
                    <a:pt x="885" y="2958"/>
                  </a:lnTo>
                  <a:lnTo>
                    <a:pt x="878" y="2965"/>
                  </a:lnTo>
                  <a:lnTo>
                    <a:pt x="855" y="2983"/>
                  </a:lnTo>
                  <a:lnTo>
                    <a:pt x="830" y="2997"/>
                  </a:lnTo>
                  <a:lnTo>
                    <a:pt x="802" y="3009"/>
                  </a:lnTo>
                  <a:lnTo>
                    <a:pt x="775" y="3014"/>
                  </a:lnTo>
                  <a:lnTo>
                    <a:pt x="745" y="3017"/>
                  </a:lnTo>
                  <a:lnTo>
                    <a:pt x="709" y="3013"/>
                  </a:lnTo>
                  <a:lnTo>
                    <a:pt x="675" y="3004"/>
                  </a:lnTo>
                  <a:lnTo>
                    <a:pt x="644" y="2990"/>
                  </a:lnTo>
                  <a:lnTo>
                    <a:pt x="616" y="2970"/>
                  </a:lnTo>
                  <a:lnTo>
                    <a:pt x="592" y="2946"/>
                  </a:lnTo>
                  <a:lnTo>
                    <a:pt x="572" y="2918"/>
                  </a:lnTo>
                  <a:lnTo>
                    <a:pt x="559" y="2887"/>
                  </a:lnTo>
                  <a:lnTo>
                    <a:pt x="549" y="2854"/>
                  </a:lnTo>
                  <a:lnTo>
                    <a:pt x="546" y="2819"/>
                  </a:lnTo>
                  <a:lnTo>
                    <a:pt x="548" y="2786"/>
                  </a:lnTo>
                  <a:lnTo>
                    <a:pt x="556" y="2752"/>
                  </a:lnTo>
                  <a:lnTo>
                    <a:pt x="570" y="2722"/>
                  </a:lnTo>
                  <a:lnTo>
                    <a:pt x="589" y="2694"/>
                  </a:lnTo>
                  <a:lnTo>
                    <a:pt x="613" y="2669"/>
                  </a:lnTo>
                  <a:lnTo>
                    <a:pt x="626" y="2658"/>
                  </a:lnTo>
                  <a:lnTo>
                    <a:pt x="626" y="2599"/>
                  </a:lnTo>
                  <a:lnTo>
                    <a:pt x="0" y="2599"/>
                  </a:lnTo>
                  <a:lnTo>
                    <a:pt x="0" y="2095"/>
                  </a:lnTo>
                  <a:lnTo>
                    <a:pt x="32" y="2111"/>
                  </a:lnTo>
                  <a:lnTo>
                    <a:pt x="67" y="2123"/>
                  </a:lnTo>
                  <a:lnTo>
                    <a:pt x="102" y="2130"/>
                  </a:lnTo>
                  <a:lnTo>
                    <a:pt x="139" y="2132"/>
                  </a:lnTo>
                  <a:lnTo>
                    <a:pt x="140" y="2132"/>
                  </a:lnTo>
                  <a:lnTo>
                    <a:pt x="181" y="2129"/>
                  </a:lnTo>
                  <a:lnTo>
                    <a:pt x="220" y="2121"/>
                  </a:lnTo>
                  <a:lnTo>
                    <a:pt x="257" y="2106"/>
                  </a:lnTo>
                  <a:lnTo>
                    <a:pt x="292" y="2087"/>
                  </a:lnTo>
                  <a:lnTo>
                    <a:pt x="323" y="2063"/>
                  </a:lnTo>
                  <a:lnTo>
                    <a:pt x="350" y="2035"/>
                  </a:lnTo>
                  <a:lnTo>
                    <a:pt x="374" y="2004"/>
                  </a:lnTo>
                  <a:lnTo>
                    <a:pt x="392" y="1971"/>
                  </a:lnTo>
                  <a:lnTo>
                    <a:pt x="406" y="1932"/>
                  </a:lnTo>
                  <a:lnTo>
                    <a:pt x="414" y="1893"/>
                  </a:lnTo>
                  <a:lnTo>
                    <a:pt x="418" y="1853"/>
                  </a:lnTo>
                  <a:lnTo>
                    <a:pt x="415" y="1817"/>
                  </a:lnTo>
                  <a:lnTo>
                    <a:pt x="408" y="1784"/>
                  </a:lnTo>
                  <a:lnTo>
                    <a:pt x="398" y="1750"/>
                  </a:lnTo>
                  <a:lnTo>
                    <a:pt x="383" y="1720"/>
                  </a:lnTo>
                  <a:lnTo>
                    <a:pt x="360" y="1684"/>
                  </a:lnTo>
                  <a:lnTo>
                    <a:pt x="332" y="1653"/>
                  </a:lnTo>
                  <a:lnTo>
                    <a:pt x="300" y="1627"/>
                  </a:lnTo>
                  <a:lnTo>
                    <a:pt x="264" y="1605"/>
                  </a:lnTo>
                  <a:lnTo>
                    <a:pt x="225" y="1588"/>
                  </a:lnTo>
                  <a:lnTo>
                    <a:pt x="183" y="1578"/>
                  </a:lnTo>
                  <a:lnTo>
                    <a:pt x="139" y="1575"/>
                  </a:lnTo>
                  <a:lnTo>
                    <a:pt x="138" y="1575"/>
                  </a:lnTo>
                  <a:lnTo>
                    <a:pt x="101" y="1578"/>
                  </a:lnTo>
                  <a:lnTo>
                    <a:pt x="65" y="1585"/>
                  </a:lnTo>
                  <a:lnTo>
                    <a:pt x="32" y="1597"/>
                  </a:lnTo>
                  <a:lnTo>
                    <a:pt x="0" y="1613"/>
                  </a:lnTo>
                  <a:lnTo>
                    <a:pt x="0" y="791"/>
                  </a:lnTo>
                  <a:lnTo>
                    <a:pt x="42" y="727"/>
                  </a:lnTo>
                  <a:lnTo>
                    <a:pt x="82" y="659"/>
                  </a:lnTo>
                  <a:lnTo>
                    <a:pt x="116" y="589"/>
                  </a:lnTo>
                  <a:lnTo>
                    <a:pt x="147" y="515"/>
                  </a:lnTo>
                  <a:lnTo>
                    <a:pt x="172" y="440"/>
                  </a:lnTo>
                  <a:lnTo>
                    <a:pt x="189" y="363"/>
                  </a:lnTo>
                  <a:lnTo>
                    <a:pt x="202" y="301"/>
                  </a:lnTo>
                  <a:lnTo>
                    <a:pt x="213" y="247"/>
                  </a:lnTo>
                  <a:lnTo>
                    <a:pt x="226" y="198"/>
                  </a:lnTo>
                  <a:lnTo>
                    <a:pt x="240" y="156"/>
                  </a:lnTo>
                  <a:lnTo>
                    <a:pt x="255" y="119"/>
                  </a:lnTo>
                  <a:lnTo>
                    <a:pt x="272" y="89"/>
                  </a:lnTo>
                  <a:lnTo>
                    <a:pt x="292" y="62"/>
                  </a:lnTo>
                  <a:lnTo>
                    <a:pt x="315" y="41"/>
                  </a:lnTo>
                  <a:lnTo>
                    <a:pt x="341" y="25"/>
                  </a:lnTo>
                  <a:lnTo>
                    <a:pt x="371" y="12"/>
                  </a:lnTo>
                  <a:lnTo>
                    <a:pt x="406" y="4"/>
                  </a:lnTo>
                  <a:lnTo>
                    <a:pt x="447" y="0"/>
                  </a:lnTo>
                  <a:close/>
                </a:path>
              </a:pathLst>
            </a:custGeom>
            <a:gradFill>
              <a:gsLst>
                <a:gs pos="0">
                  <a:srgbClr val="EC7626"/>
                </a:gs>
                <a:gs pos="100000">
                  <a:srgbClr val="AA4E0E"/>
                </a:gs>
              </a:gsLst>
              <a:lin ang="13500000" scaled="0"/>
            </a:gra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3697288" y="4002088"/>
              <a:ext cx="2328863" cy="2451100"/>
            </a:xfrm>
            <a:custGeom>
              <a:avLst/>
              <a:gdLst/>
              <a:ahLst/>
              <a:cxnLst/>
              <a:rect l="l" t="t" r="r" b="b"/>
              <a:pathLst>
                <a:path w="1467" h="1544" extrusionOk="0">
                  <a:moveTo>
                    <a:pt x="722" y="0"/>
                  </a:moveTo>
                  <a:lnTo>
                    <a:pt x="722" y="0"/>
                  </a:lnTo>
                  <a:lnTo>
                    <a:pt x="758" y="4"/>
                  </a:lnTo>
                  <a:lnTo>
                    <a:pt x="791" y="13"/>
                  </a:lnTo>
                  <a:lnTo>
                    <a:pt x="822" y="27"/>
                  </a:lnTo>
                  <a:lnTo>
                    <a:pt x="850" y="47"/>
                  </a:lnTo>
                  <a:lnTo>
                    <a:pt x="873" y="71"/>
                  </a:lnTo>
                  <a:lnTo>
                    <a:pt x="894" y="99"/>
                  </a:lnTo>
                  <a:lnTo>
                    <a:pt x="908" y="129"/>
                  </a:lnTo>
                  <a:lnTo>
                    <a:pt x="917" y="162"/>
                  </a:lnTo>
                  <a:lnTo>
                    <a:pt x="920" y="198"/>
                  </a:lnTo>
                  <a:lnTo>
                    <a:pt x="918" y="231"/>
                  </a:lnTo>
                  <a:lnTo>
                    <a:pt x="910" y="265"/>
                  </a:lnTo>
                  <a:lnTo>
                    <a:pt x="896" y="295"/>
                  </a:lnTo>
                  <a:lnTo>
                    <a:pt x="878" y="322"/>
                  </a:lnTo>
                  <a:lnTo>
                    <a:pt x="853" y="347"/>
                  </a:lnTo>
                  <a:lnTo>
                    <a:pt x="841" y="359"/>
                  </a:lnTo>
                  <a:lnTo>
                    <a:pt x="841" y="418"/>
                  </a:lnTo>
                  <a:lnTo>
                    <a:pt x="1467" y="418"/>
                  </a:lnTo>
                  <a:lnTo>
                    <a:pt x="1467" y="922"/>
                  </a:lnTo>
                  <a:lnTo>
                    <a:pt x="1434" y="906"/>
                  </a:lnTo>
                  <a:lnTo>
                    <a:pt x="1400" y="894"/>
                  </a:lnTo>
                  <a:lnTo>
                    <a:pt x="1364" y="887"/>
                  </a:lnTo>
                  <a:lnTo>
                    <a:pt x="1327" y="885"/>
                  </a:lnTo>
                  <a:lnTo>
                    <a:pt x="1326" y="885"/>
                  </a:lnTo>
                  <a:lnTo>
                    <a:pt x="1285" y="888"/>
                  </a:lnTo>
                  <a:lnTo>
                    <a:pt x="1246" y="896"/>
                  </a:lnTo>
                  <a:lnTo>
                    <a:pt x="1209" y="911"/>
                  </a:lnTo>
                  <a:lnTo>
                    <a:pt x="1174" y="930"/>
                  </a:lnTo>
                  <a:lnTo>
                    <a:pt x="1143" y="954"/>
                  </a:lnTo>
                  <a:lnTo>
                    <a:pt x="1117" y="982"/>
                  </a:lnTo>
                  <a:lnTo>
                    <a:pt x="1092" y="1013"/>
                  </a:lnTo>
                  <a:lnTo>
                    <a:pt x="1074" y="1046"/>
                  </a:lnTo>
                  <a:lnTo>
                    <a:pt x="1060" y="1084"/>
                  </a:lnTo>
                  <a:lnTo>
                    <a:pt x="1052" y="1124"/>
                  </a:lnTo>
                  <a:lnTo>
                    <a:pt x="1049" y="1164"/>
                  </a:lnTo>
                  <a:lnTo>
                    <a:pt x="1052" y="1209"/>
                  </a:lnTo>
                  <a:lnTo>
                    <a:pt x="1064" y="1252"/>
                  </a:lnTo>
                  <a:lnTo>
                    <a:pt x="1080" y="1292"/>
                  </a:lnTo>
                  <a:lnTo>
                    <a:pt x="1103" y="1328"/>
                  </a:lnTo>
                  <a:lnTo>
                    <a:pt x="1131" y="1360"/>
                  </a:lnTo>
                  <a:lnTo>
                    <a:pt x="1163" y="1388"/>
                  </a:lnTo>
                  <a:lnTo>
                    <a:pt x="1200" y="1411"/>
                  </a:lnTo>
                  <a:lnTo>
                    <a:pt x="1239" y="1427"/>
                  </a:lnTo>
                  <a:lnTo>
                    <a:pt x="1282" y="1438"/>
                  </a:lnTo>
                  <a:lnTo>
                    <a:pt x="1327" y="1442"/>
                  </a:lnTo>
                  <a:lnTo>
                    <a:pt x="1328" y="1442"/>
                  </a:lnTo>
                  <a:lnTo>
                    <a:pt x="1365" y="1439"/>
                  </a:lnTo>
                  <a:lnTo>
                    <a:pt x="1401" y="1432"/>
                  </a:lnTo>
                  <a:lnTo>
                    <a:pt x="1434" y="1420"/>
                  </a:lnTo>
                  <a:lnTo>
                    <a:pt x="1467" y="1404"/>
                  </a:lnTo>
                  <a:lnTo>
                    <a:pt x="1467" y="1544"/>
                  </a:lnTo>
                  <a:lnTo>
                    <a:pt x="1440" y="1544"/>
                  </a:lnTo>
                  <a:lnTo>
                    <a:pt x="1418" y="1544"/>
                  </a:lnTo>
                  <a:lnTo>
                    <a:pt x="1352" y="1544"/>
                  </a:lnTo>
                  <a:lnTo>
                    <a:pt x="1290" y="1542"/>
                  </a:lnTo>
                  <a:lnTo>
                    <a:pt x="1232" y="1539"/>
                  </a:lnTo>
                  <a:lnTo>
                    <a:pt x="1179" y="1537"/>
                  </a:lnTo>
                  <a:lnTo>
                    <a:pt x="1131" y="1534"/>
                  </a:lnTo>
                  <a:lnTo>
                    <a:pt x="1087" y="1530"/>
                  </a:lnTo>
                  <a:lnTo>
                    <a:pt x="1049" y="1526"/>
                  </a:lnTo>
                  <a:lnTo>
                    <a:pt x="1017" y="1522"/>
                  </a:lnTo>
                  <a:lnTo>
                    <a:pt x="992" y="1520"/>
                  </a:lnTo>
                  <a:lnTo>
                    <a:pt x="974" y="1517"/>
                  </a:lnTo>
                  <a:lnTo>
                    <a:pt x="962" y="1515"/>
                  </a:lnTo>
                  <a:lnTo>
                    <a:pt x="958" y="1515"/>
                  </a:lnTo>
                  <a:lnTo>
                    <a:pt x="955" y="1514"/>
                  </a:lnTo>
                  <a:lnTo>
                    <a:pt x="945" y="1511"/>
                  </a:lnTo>
                  <a:lnTo>
                    <a:pt x="930" y="1506"/>
                  </a:lnTo>
                  <a:lnTo>
                    <a:pt x="910" y="1500"/>
                  </a:lnTo>
                  <a:lnTo>
                    <a:pt x="887" y="1491"/>
                  </a:lnTo>
                  <a:lnTo>
                    <a:pt x="861" y="1481"/>
                  </a:lnTo>
                  <a:lnTo>
                    <a:pt x="835" y="1468"/>
                  </a:lnTo>
                  <a:lnTo>
                    <a:pt x="808" y="1453"/>
                  </a:lnTo>
                  <a:lnTo>
                    <a:pt x="782" y="1437"/>
                  </a:lnTo>
                  <a:lnTo>
                    <a:pt x="758" y="1417"/>
                  </a:lnTo>
                  <a:lnTo>
                    <a:pt x="736" y="1395"/>
                  </a:lnTo>
                  <a:lnTo>
                    <a:pt x="717" y="1372"/>
                  </a:lnTo>
                  <a:lnTo>
                    <a:pt x="703" y="1345"/>
                  </a:lnTo>
                  <a:lnTo>
                    <a:pt x="0" y="1319"/>
                  </a:lnTo>
                  <a:lnTo>
                    <a:pt x="2" y="418"/>
                  </a:lnTo>
                  <a:lnTo>
                    <a:pt x="671" y="418"/>
                  </a:lnTo>
                  <a:lnTo>
                    <a:pt x="591" y="348"/>
                  </a:lnTo>
                  <a:lnTo>
                    <a:pt x="568" y="324"/>
                  </a:lnTo>
                  <a:lnTo>
                    <a:pt x="548" y="296"/>
                  </a:lnTo>
                  <a:lnTo>
                    <a:pt x="535" y="266"/>
                  </a:lnTo>
                  <a:lnTo>
                    <a:pt x="527" y="234"/>
                  </a:lnTo>
                  <a:lnTo>
                    <a:pt x="523" y="200"/>
                  </a:lnTo>
                  <a:lnTo>
                    <a:pt x="527" y="164"/>
                  </a:lnTo>
                  <a:lnTo>
                    <a:pt x="536" y="131"/>
                  </a:lnTo>
                  <a:lnTo>
                    <a:pt x="550" y="100"/>
                  </a:lnTo>
                  <a:lnTo>
                    <a:pt x="569" y="72"/>
                  </a:lnTo>
                  <a:lnTo>
                    <a:pt x="594" y="48"/>
                  </a:lnTo>
                  <a:lnTo>
                    <a:pt x="621" y="28"/>
                  </a:lnTo>
                  <a:lnTo>
                    <a:pt x="652" y="13"/>
                  </a:lnTo>
                  <a:lnTo>
                    <a:pt x="686" y="4"/>
                  </a:lnTo>
                  <a:lnTo>
                    <a:pt x="722" y="0"/>
                  </a:lnTo>
                  <a:close/>
                </a:path>
              </a:pathLst>
            </a:custGeom>
            <a:gradFill>
              <a:gsLst>
                <a:gs pos="0">
                  <a:srgbClr val="FFD453"/>
                </a:gs>
                <a:gs pos="100000">
                  <a:srgbClr val="E5AC00"/>
                </a:gs>
              </a:gsLst>
              <a:lin ang="10800000" scaled="0"/>
            </a:gra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9"/>
            <p:cNvSpPr/>
            <p:nvPr/>
          </p:nvSpPr>
          <p:spPr>
            <a:xfrm>
              <a:off x="3700463" y="1825626"/>
              <a:ext cx="2990850" cy="2714625"/>
            </a:xfrm>
            <a:custGeom>
              <a:avLst/>
              <a:gdLst/>
              <a:ahLst/>
              <a:cxnLst/>
              <a:rect l="l" t="t" r="r" b="b"/>
              <a:pathLst>
                <a:path w="1884" h="1710" extrusionOk="0">
                  <a:moveTo>
                    <a:pt x="1465" y="0"/>
                  </a:moveTo>
                  <a:lnTo>
                    <a:pt x="1465" y="914"/>
                  </a:lnTo>
                  <a:lnTo>
                    <a:pt x="1535" y="835"/>
                  </a:lnTo>
                  <a:lnTo>
                    <a:pt x="1542" y="826"/>
                  </a:lnTo>
                  <a:lnTo>
                    <a:pt x="1550" y="818"/>
                  </a:lnTo>
                  <a:lnTo>
                    <a:pt x="1573" y="800"/>
                  </a:lnTo>
                  <a:lnTo>
                    <a:pt x="1599" y="786"/>
                  </a:lnTo>
                  <a:lnTo>
                    <a:pt x="1625" y="774"/>
                  </a:lnTo>
                  <a:lnTo>
                    <a:pt x="1654" y="769"/>
                  </a:lnTo>
                  <a:lnTo>
                    <a:pt x="1684" y="766"/>
                  </a:lnTo>
                  <a:lnTo>
                    <a:pt x="1685" y="766"/>
                  </a:lnTo>
                  <a:lnTo>
                    <a:pt x="1721" y="770"/>
                  </a:lnTo>
                  <a:lnTo>
                    <a:pt x="1755" y="779"/>
                  </a:lnTo>
                  <a:lnTo>
                    <a:pt x="1787" y="794"/>
                  </a:lnTo>
                  <a:lnTo>
                    <a:pt x="1815" y="815"/>
                  </a:lnTo>
                  <a:lnTo>
                    <a:pt x="1839" y="839"/>
                  </a:lnTo>
                  <a:lnTo>
                    <a:pt x="1859" y="868"/>
                  </a:lnTo>
                  <a:lnTo>
                    <a:pt x="1872" y="899"/>
                  </a:lnTo>
                  <a:lnTo>
                    <a:pt x="1882" y="934"/>
                  </a:lnTo>
                  <a:lnTo>
                    <a:pt x="1884" y="964"/>
                  </a:lnTo>
                  <a:lnTo>
                    <a:pt x="1882" y="994"/>
                  </a:lnTo>
                  <a:lnTo>
                    <a:pt x="1877" y="1013"/>
                  </a:lnTo>
                  <a:lnTo>
                    <a:pt x="1871" y="1032"/>
                  </a:lnTo>
                  <a:lnTo>
                    <a:pt x="1865" y="1046"/>
                  </a:lnTo>
                  <a:lnTo>
                    <a:pt x="1850" y="1075"/>
                  </a:lnTo>
                  <a:lnTo>
                    <a:pt x="1831" y="1099"/>
                  </a:lnTo>
                  <a:lnTo>
                    <a:pt x="1808" y="1121"/>
                  </a:lnTo>
                  <a:lnTo>
                    <a:pt x="1780" y="1138"/>
                  </a:lnTo>
                  <a:lnTo>
                    <a:pt x="1751" y="1152"/>
                  </a:lnTo>
                  <a:lnTo>
                    <a:pt x="1719" y="1160"/>
                  </a:lnTo>
                  <a:lnTo>
                    <a:pt x="1685" y="1164"/>
                  </a:lnTo>
                  <a:lnTo>
                    <a:pt x="1685" y="1164"/>
                  </a:lnTo>
                  <a:lnTo>
                    <a:pt x="1655" y="1161"/>
                  </a:lnTo>
                  <a:lnTo>
                    <a:pt x="1626" y="1154"/>
                  </a:lnTo>
                  <a:lnTo>
                    <a:pt x="1600" y="1144"/>
                  </a:lnTo>
                  <a:lnTo>
                    <a:pt x="1574" y="1129"/>
                  </a:lnTo>
                  <a:lnTo>
                    <a:pt x="1550" y="1112"/>
                  </a:lnTo>
                  <a:lnTo>
                    <a:pt x="1543" y="1105"/>
                  </a:lnTo>
                  <a:lnTo>
                    <a:pt x="1536" y="1097"/>
                  </a:lnTo>
                  <a:lnTo>
                    <a:pt x="1525" y="1083"/>
                  </a:lnTo>
                  <a:lnTo>
                    <a:pt x="1465" y="1083"/>
                  </a:lnTo>
                  <a:lnTo>
                    <a:pt x="1465" y="1710"/>
                  </a:lnTo>
                  <a:lnTo>
                    <a:pt x="961" y="1710"/>
                  </a:lnTo>
                  <a:lnTo>
                    <a:pt x="977" y="1676"/>
                  </a:lnTo>
                  <a:lnTo>
                    <a:pt x="989" y="1642"/>
                  </a:lnTo>
                  <a:lnTo>
                    <a:pt x="997" y="1606"/>
                  </a:lnTo>
                  <a:lnTo>
                    <a:pt x="999" y="1569"/>
                  </a:lnTo>
                  <a:lnTo>
                    <a:pt x="995" y="1524"/>
                  </a:lnTo>
                  <a:lnTo>
                    <a:pt x="984" y="1481"/>
                  </a:lnTo>
                  <a:lnTo>
                    <a:pt x="967" y="1442"/>
                  </a:lnTo>
                  <a:lnTo>
                    <a:pt x="945" y="1405"/>
                  </a:lnTo>
                  <a:lnTo>
                    <a:pt x="916" y="1373"/>
                  </a:lnTo>
                  <a:lnTo>
                    <a:pt x="884" y="1345"/>
                  </a:lnTo>
                  <a:lnTo>
                    <a:pt x="848" y="1322"/>
                  </a:lnTo>
                  <a:lnTo>
                    <a:pt x="807" y="1306"/>
                  </a:lnTo>
                  <a:lnTo>
                    <a:pt x="765" y="1295"/>
                  </a:lnTo>
                  <a:lnTo>
                    <a:pt x="720" y="1292"/>
                  </a:lnTo>
                  <a:lnTo>
                    <a:pt x="719" y="1292"/>
                  </a:lnTo>
                  <a:lnTo>
                    <a:pt x="678" y="1294"/>
                  </a:lnTo>
                  <a:lnTo>
                    <a:pt x="639" y="1303"/>
                  </a:lnTo>
                  <a:lnTo>
                    <a:pt x="602" y="1317"/>
                  </a:lnTo>
                  <a:lnTo>
                    <a:pt x="567" y="1337"/>
                  </a:lnTo>
                  <a:lnTo>
                    <a:pt x="536" y="1360"/>
                  </a:lnTo>
                  <a:lnTo>
                    <a:pt x="510" y="1388"/>
                  </a:lnTo>
                  <a:lnTo>
                    <a:pt x="485" y="1419"/>
                  </a:lnTo>
                  <a:lnTo>
                    <a:pt x="467" y="1453"/>
                  </a:lnTo>
                  <a:lnTo>
                    <a:pt x="453" y="1490"/>
                  </a:lnTo>
                  <a:lnTo>
                    <a:pt x="444" y="1530"/>
                  </a:lnTo>
                  <a:lnTo>
                    <a:pt x="441" y="1571"/>
                  </a:lnTo>
                  <a:lnTo>
                    <a:pt x="444" y="1607"/>
                  </a:lnTo>
                  <a:lnTo>
                    <a:pt x="451" y="1643"/>
                  </a:lnTo>
                  <a:lnTo>
                    <a:pt x="463" y="1677"/>
                  </a:lnTo>
                  <a:lnTo>
                    <a:pt x="478" y="1710"/>
                  </a:lnTo>
                  <a:lnTo>
                    <a:pt x="0" y="1710"/>
                  </a:lnTo>
                  <a:lnTo>
                    <a:pt x="2" y="1079"/>
                  </a:lnTo>
                  <a:lnTo>
                    <a:pt x="698" y="1079"/>
                  </a:lnTo>
                  <a:lnTo>
                    <a:pt x="698" y="1078"/>
                  </a:lnTo>
                  <a:lnTo>
                    <a:pt x="699" y="1075"/>
                  </a:lnTo>
                  <a:lnTo>
                    <a:pt x="701" y="1070"/>
                  </a:lnTo>
                  <a:lnTo>
                    <a:pt x="705" y="1062"/>
                  </a:lnTo>
                  <a:lnTo>
                    <a:pt x="710" y="1052"/>
                  </a:lnTo>
                  <a:lnTo>
                    <a:pt x="716" y="1039"/>
                  </a:lnTo>
                  <a:lnTo>
                    <a:pt x="725" y="1022"/>
                  </a:lnTo>
                  <a:lnTo>
                    <a:pt x="736" y="1002"/>
                  </a:lnTo>
                  <a:lnTo>
                    <a:pt x="747" y="979"/>
                  </a:lnTo>
                  <a:lnTo>
                    <a:pt x="762" y="952"/>
                  </a:lnTo>
                  <a:lnTo>
                    <a:pt x="780" y="921"/>
                  </a:lnTo>
                  <a:lnTo>
                    <a:pt x="799" y="885"/>
                  </a:lnTo>
                  <a:lnTo>
                    <a:pt x="823" y="845"/>
                  </a:lnTo>
                  <a:lnTo>
                    <a:pt x="848" y="801"/>
                  </a:lnTo>
                  <a:lnTo>
                    <a:pt x="878" y="748"/>
                  </a:lnTo>
                  <a:lnTo>
                    <a:pt x="910" y="691"/>
                  </a:lnTo>
                  <a:lnTo>
                    <a:pt x="944" y="634"/>
                  </a:lnTo>
                  <a:lnTo>
                    <a:pt x="980" y="572"/>
                  </a:lnTo>
                  <a:lnTo>
                    <a:pt x="1017" y="512"/>
                  </a:lnTo>
                  <a:lnTo>
                    <a:pt x="1056" y="451"/>
                  </a:lnTo>
                  <a:lnTo>
                    <a:pt x="1095" y="392"/>
                  </a:lnTo>
                  <a:lnTo>
                    <a:pt x="1136" y="335"/>
                  </a:lnTo>
                  <a:lnTo>
                    <a:pt x="1176" y="280"/>
                  </a:lnTo>
                  <a:lnTo>
                    <a:pt x="1216" y="230"/>
                  </a:lnTo>
                  <a:lnTo>
                    <a:pt x="1258" y="185"/>
                  </a:lnTo>
                  <a:lnTo>
                    <a:pt x="1300" y="145"/>
                  </a:lnTo>
                  <a:lnTo>
                    <a:pt x="1340" y="113"/>
                  </a:lnTo>
                  <a:lnTo>
                    <a:pt x="1383" y="79"/>
                  </a:lnTo>
                  <a:lnTo>
                    <a:pt x="1424" y="42"/>
                  </a:lnTo>
                  <a:lnTo>
                    <a:pt x="1465" y="0"/>
                  </a:lnTo>
                  <a:close/>
                </a:path>
              </a:pathLst>
            </a:custGeom>
            <a:gradFill>
              <a:gsLst>
                <a:gs pos="0">
                  <a:srgbClr val="3A67B8"/>
                </a:gs>
                <a:gs pos="100000">
                  <a:srgbClr val="1F3762"/>
                </a:gs>
              </a:gsLst>
              <a:lin ang="13500000" scaled="0"/>
            </a:gra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9"/>
            <p:cNvSpPr/>
            <p:nvPr/>
          </p:nvSpPr>
          <p:spPr>
            <a:xfrm>
              <a:off x="5487988" y="4665663"/>
              <a:ext cx="2905125" cy="1785938"/>
            </a:xfrm>
            <a:custGeom>
              <a:avLst/>
              <a:gdLst/>
              <a:ahLst/>
              <a:cxnLst/>
              <a:rect l="l" t="t" r="r" b="b"/>
              <a:pathLst>
                <a:path w="1830" h="1125" extrusionOk="0">
                  <a:moveTo>
                    <a:pt x="420" y="0"/>
                  </a:moveTo>
                  <a:lnTo>
                    <a:pt x="923" y="0"/>
                  </a:lnTo>
                  <a:lnTo>
                    <a:pt x="907" y="34"/>
                  </a:lnTo>
                  <a:lnTo>
                    <a:pt x="895" y="68"/>
                  </a:lnTo>
                  <a:lnTo>
                    <a:pt x="887" y="104"/>
                  </a:lnTo>
                  <a:lnTo>
                    <a:pt x="885" y="141"/>
                  </a:lnTo>
                  <a:lnTo>
                    <a:pt x="887" y="169"/>
                  </a:lnTo>
                  <a:lnTo>
                    <a:pt x="891" y="195"/>
                  </a:lnTo>
                  <a:lnTo>
                    <a:pt x="891" y="197"/>
                  </a:lnTo>
                  <a:lnTo>
                    <a:pt x="903" y="238"/>
                  </a:lnTo>
                  <a:lnTo>
                    <a:pt x="921" y="276"/>
                  </a:lnTo>
                  <a:lnTo>
                    <a:pt x="944" y="311"/>
                  </a:lnTo>
                  <a:lnTo>
                    <a:pt x="972" y="342"/>
                  </a:lnTo>
                  <a:lnTo>
                    <a:pt x="1004" y="367"/>
                  </a:lnTo>
                  <a:lnTo>
                    <a:pt x="1040" y="389"/>
                  </a:lnTo>
                  <a:lnTo>
                    <a:pt x="1079" y="406"/>
                  </a:lnTo>
                  <a:lnTo>
                    <a:pt x="1121" y="415"/>
                  </a:lnTo>
                  <a:lnTo>
                    <a:pt x="1165" y="418"/>
                  </a:lnTo>
                  <a:lnTo>
                    <a:pt x="1166" y="418"/>
                  </a:lnTo>
                  <a:lnTo>
                    <a:pt x="1180" y="418"/>
                  </a:lnTo>
                  <a:lnTo>
                    <a:pt x="1206" y="416"/>
                  </a:lnTo>
                  <a:lnTo>
                    <a:pt x="1220" y="414"/>
                  </a:lnTo>
                  <a:lnTo>
                    <a:pt x="1240" y="408"/>
                  </a:lnTo>
                  <a:lnTo>
                    <a:pt x="1273" y="396"/>
                  </a:lnTo>
                  <a:lnTo>
                    <a:pt x="1305" y="380"/>
                  </a:lnTo>
                  <a:lnTo>
                    <a:pt x="1335" y="361"/>
                  </a:lnTo>
                  <a:lnTo>
                    <a:pt x="1362" y="336"/>
                  </a:lnTo>
                  <a:lnTo>
                    <a:pt x="1385" y="311"/>
                  </a:lnTo>
                  <a:lnTo>
                    <a:pt x="1405" y="282"/>
                  </a:lnTo>
                  <a:lnTo>
                    <a:pt x="1420" y="252"/>
                  </a:lnTo>
                  <a:lnTo>
                    <a:pt x="1430" y="223"/>
                  </a:lnTo>
                  <a:lnTo>
                    <a:pt x="1438" y="194"/>
                  </a:lnTo>
                  <a:lnTo>
                    <a:pt x="1442" y="167"/>
                  </a:lnTo>
                  <a:lnTo>
                    <a:pt x="1443" y="139"/>
                  </a:lnTo>
                  <a:lnTo>
                    <a:pt x="1441" y="102"/>
                  </a:lnTo>
                  <a:lnTo>
                    <a:pt x="1434" y="67"/>
                  </a:lnTo>
                  <a:lnTo>
                    <a:pt x="1421" y="33"/>
                  </a:lnTo>
                  <a:lnTo>
                    <a:pt x="1406" y="0"/>
                  </a:lnTo>
                  <a:lnTo>
                    <a:pt x="1830" y="0"/>
                  </a:lnTo>
                  <a:lnTo>
                    <a:pt x="1815" y="29"/>
                  </a:lnTo>
                  <a:lnTo>
                    <a:pt x="1797" y="56"/>
                  </a:lnTo>
                  <a:lnTo>
                    <a:pt x="1780" y="78"/>
                  </a:lnTo>
                  <a:lnTo>
                    <a:pt x="1763" y="97"/>
                  </a:lnTo>
                  <a:lnTo>
                    <a:pt x="1747" y="115"/>
                  </a:lnTo>
                  <a:lnTo>
                    <a:pt x="1730" y="127"/>
                  </a:lnTo>
                  <a:lnTo>
                    <a:pt x="1718" y="138"/>
                  </a:lnTo>
                  <a:lnTo>
                    <a:pt x="1709" y="145"/>
                  </a:lnTo>
                  <a:lnTo>
                    <a:pt x="1702" y="149"/>
                  </a:lnTo>
                  <a:lnTo>
                    <a:pt x="1699" y="150"/>
                  </a:lnTo>
                  <a:lnTo>
                    <a:pt x="1700" y="154"/>
                  </a:lnTo>
                  <a:lnTo>
                    <a:pt x="1706" y="161"/>
                  </a:lnTo>
                  <a:lnTo>
                    <a:pt x="1713" y="174"/>
                  </a:lnTo>
                  <a:lnTo>
                    <a:pt x="1722" y="190"/>
                  </a:lnTo>
                  <a:lnTo>
                    <a:pt x="1732" y="210"/>
                  </a:lnTo>
                  <a:lnTo>
                    <a:pt x="1742" y="235"/>
                  </a:lnTo>
                  <a:lnTo>
                    <a:pt x="1751" y="262"/>
                  </a:lnTo>
                  <a:lnTo>
                    <a:pt x="1759" y="294"/>
                  </a:lnTo>
                  <a:lnTo>
                    <a:pt x="1765" y="327"/>
                  </a:lnTo>
                  <a:lnTo>
                    <a:pt x="1767" y="364"/>
                  </a:lnTo>
                  <a:lnTo>
                    <a:pt x="1766" y="402"/>
                  </a:lnTo>
                  <a:lnTo>
                    <a:pt x="1762" y="433"/>
                  </a:lnTo>
                  <a:lnTo>
                    <a:pt x="1754" y="462"/>
                  </a:lnTo>
                  <a:lnTo>
                    <a:pt x="1741" y="490"/>
                  </a:lnTo>
                  <a:lnTo>
                    <a:pt x="1727" y="515"/>
                  </a:lnTo>
                  <a:lnTo>
                    <a:pt x="1710" y="538"/>
                  </a:lnTo>
                  <a:lnTo>
                    <a:pt x="1692" y="560"/>
                  </a:lnTo>
                  <a:lnTo>
                    <a:pt x="1674" y="579"/>
                  </a:lnTo>
                  <a:lnTo>
                    <a:pt x="1657" y="596"/>
                  </a:lnTo>
                  <a:lnTo>
                    <a:pt x="1639" y="611"/>
                  </a:lnTo>
                  <a:lnTo>
                    <a:pt x="1623" y="623"/>
                  </a:lnTo>
                  <a:lnTo>
                    <a:pt x="1610" y="633"/>
                  </a:lnTo>
                  <a:lnTo>
                    <a:pt x="1600" y="640"/>
                  </a:lnTo>
                  <a:lnTo>
                    <a:pt x="1593" y="645"/>
                  </a:lnTo>
                  <a:lnTo>
                    <a:pt x="1591" y="646"/>
                  </a:lnTo>
                  <a:lnTo>
                    <a:pt x="1593" y="648"/>
                  </a:lnTo>
                  <a:lnTo>
                    <a:pt x="1598" y="655"/>
                  </a:lnTo>
                  <a:lnTo>
                    <a:pt x="1605" y="666"/>
                  </a:lnTo>
                  <a:lnTo>
                    <a:pt x="1613" y="682"/>
                  </a:lnTo>
                  <a:lnTo>
                    <a:pt x="1622" y="700"/>
                  </a:lnTo>
                  <a:lnTo>
                    <a:pt x="1630" y="722"/>
                  </a:lnTo>
                  <a:lnTo>
                    <a:pt x="1638" y="746"/>
                  </a:lnTo>
                  <a:lnTo>
                    <a:pt x="1643" y="774"/>
                  </a:lnTo>
                  <a:lnTo>
                    <a:pt x="1645" y="805"/>
                  </a:lnTo>
                  <a:lnTo>
                    <a:pt x="1644" y="837"/>
                  </a:lnTo>
                  <a:lnTo>
                    <a:pt x="1638" y="871"/>
                  </a:lnTo>
                  <a:lnTo>
                    <a:pt x="1625" y="909"/>
                  </a:lnTo>
                  <a:lnTo>
                    <a:pt x="1610" y="946"/>
                  </a:lnTo>
                  <a:lnTo>
                    <a:pt x="1591" y="979"/>
                  </a:lnTo>
                  <a:lnTo>
                    <a:pt x="1568" y="1012"/>
                  </a:lnTo>
                  <a:lnTo>
                    <a:pt x="1542" y="1039"/>
                  </a:lnTo>
                  <a:lnTo>
                    <a:pt x="1513" y="1064"/>
                  </a:lnTo>
                  <a:lnTo>
                    <a:pt x="1482" y="1083"/>
                  </a:lnTo>
                  <a:lnTo>
                    <a:pt x="1447" y="1098"/>
                  </a:lnTo>
                  <a:lnTo>
                    <a:pt x="1412" y="1108"/>
                  </a:lnTo>
                  <a:lnTo>
                    <a:pt x="1374" y="1111"/>
                  </a:lnTo>
                  <a:lnTo>
                    <a:pt x="1359" y="1111"/>
                  </a:lnTo>
                  <a:lnTo>
                    <a:pt x="1337" y="1112"/>
                  </a:lnTo>
                  <a:lnTo>
                    <a:pt x="1307" y="1112"/>
                  </a:lnTo>
                  <a:lnTo>
                    <a:pt x="1270" y="1112"/>
                  </a:lnTo>
                  <a:lnTo>
                    <a:pt x="1227" y="1113"/>
                  </a:lnTo>
                  <a:lnTo>
                    <a:pt x="1180" y="1113"/>
                  </a:lnTo>
                  <a:lnTo>
                    <a:pt x="1128" y="1114"/>
                  </a:lnTo>
                  <a:lnTo>
                    <a:pt x="1071" y="1116"/>
                  </a:lnTo>
                  <a:lnTo>
                    <a:pt x="1013" y="1117"/>
                  </a:lnTo>
                  <a:lnTo>
                    <a:pt x="952" y="1117"/>
                  </a:lnTo>
                  <a:lnTo>
                    <a:pt x="890" y="1118"/>
                  </a:lnTo>
                  <a:lnTo>
                    <a:pt x="826" y="1119"/>
                  </a:lnTo>
                  <a:lnTo>
                    <a:pt x="763" y="1120"/>
                  </a:lnTo>
                  <a:lnTo>
                    <a:pt x="699" y="1121"/>
                  </a:lnTo>
                  <a:lnTo>
                    <a:pt x="638" y="1121"/>
                  </a:lnTo>
                  <a:lnTo>
                    <a:pt x="578" y="1123"/>
                  </a:lnTo>
                  <a:lnTo>
                    <a:pt x="521" y="1124"/>
                  </a:lnTo>
                  <a:lnTo>
                    <a:pt x="468" y="1124"/>
                  </a:lnTo>
                  <a:lnTo>
                    <a:pt x="420" y="1125"/>
                  </a:lnTo>
                  <a:lnTo>
                    <a:pt x="420" y="796"/>
                  </a:lnTo>
                  <a:lnTo>
                    <a:pt x="349" y="875"/>
                  </a:lnTo>
                  <a:lnTo>
                    <a:pt x="342" y="884"/>
                  </a:lnTo>
                  <a:lnTo>
                    <a:pt x="334" y="892"/>
                  </a:lnTo>
                  <a:lnTo>
                    <a:pt x="311" y="910"/>
                  </a:lnTo>
                  <a:lnTo>
                    <a:pt x="286" y="924"/>
                  </a:lnTo>
                  <a:lnTo>
                    <a:pt x="258" y="934"/>
                  </a:lnTo>
                  <a:lnTo>
                    <a:pt x="230" y="941"/>
                  </a:lnTo>
                  <a:lnTo>
                    <a:pt x="200" y="944"/>
                  </a:lnTo>
                  <a:lnTo>
                    <a:pt x="199" y="944"/>
                  </a:lnTo>
                  <a:lnTo>
                    <a:pt x="164" y="941"/>
                  </a:lnTo>
                  <a:lnTo>
                    <a:pt x="131" y="932"/>
                  </a:lnTo>
                  <a:lnTo>
                    <a:pt x="100" y="917"/>
                  </a:lnTo>
                  <a:lnTo>
                    <a:pt x="72" y="897"/>
                  </a:lnTo>
                  <a:lnTo>
                    <a:pt x="48" y="873"/>
                  </a:lnTo>
                  <a:lnTo>
                    <a:pt x="28" y="845"/>
                  </a:lnTo>
                  <a:lnTo>
                    <a:pt x="13" y="815"/>
                  </a:lnTo>
                  <a:lnTo>
                    <a:pt x="4" y="782"/>
                  </a:lnTo>
                  <a:lnTo>
                    <a:pt x="0" y="746"/>
                  </a:lnTo>
                  <a:lnTo>
                    <a:pt x="4" y="710"/>
                  </a:lnTo>
                  <a:lnTo>
                    <a:pt x="13" y="677"/>
                  </a:lnTo>
                  <a:lnTo>
                    <a:pt x="28" y="646"/>
                  </a:lnTo>
                  <a:lnTo>
                    <a:pt x="46" y="618"/>
                  </a:lnTo>
                  <a:lnTo>
                    <a:pt x="71" y="594"/>
                  </a:lnTo>
                  <a:lnTo>
                    <a:pt x="98" y="574"/>
                  </a:lnTo>
                  <a:lnTo>
                    <a:pt x="130" y="559"/>
                  </a:lnTo>
                  <a:lnTo>
                    <a:pt x="163" y="550"/>
                  </a:lnTo>
                  <a:lnTo>
                    <a:pt x="199" y="546"/>
                  </a:lnTo>
                  <a:lnTo>
                    <a:pt x="199" y="546"/>
                  </a:lnTo>
                  <a:lnTo>
                    <a:pt x="234" y="550"/>
                  </a:lnTo>
                  <a:lnTo>
                    <a:pt x="265" y="558"/>
                  </a:lnTo>
                  <a:lnTo>
                    <a:pt x="296" y="572"/>
                  </a:lnTo>
                  <a:lnTo>
                    <a:pt x="324" y="590"/>
                  </a:lnTo>
                  <a:lnTo>
                    <a:pt x="348" y="613"/>
                  </a:lnTo>
                  <a:lnTo>
                    <a:pt x="359" y="627"/>
                  </a:lnTo>
                  <a:lnTo>
                    <a:pt x="420" y="627"/>
                  </a:lnTo>
                  <a:lnTo>
                    <a:pt x="420" y="0"/>
                  </a:lnTo>
                  <a:close/>
                </a:path>
              </a:pathLst>
            </a:custGeom>
            <a:gradFill>
              <a:gsLst>
                <a:gs pos="0">
                  <a:srgbClr val="D4D4D4"/>
                </a:gs>
                <a:gs pos="100000">
                  <a:srgbClr val="A0A0A0"/>
                </a:gs>
              </a:gsLst>
              <a:lin ang="2700000" scaled="0"/>
            </a:gra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19"/>
          <p:cNvGrpSpPr/>
          <p:nvPr/>
        </p:nvGrpSpPr>
        <p:grpSpPr>
          <a:xfrm>
            <a:off x="5914873" y="3765258"/>
            <a:ext cx="1447338" cy="740414"/>
            <a:chOff x="2220087" y="1905000"/>
            <a:chExt cx="2197925" cy="838200"/>
          </a:xfrm>
        </p:grpSpPr>
        <p:cxnSp>
          <p:nvCxnSpPr>
            <p:cNvPr id="447" name="Google Shape;447;p19"/>
            <p:cNvCxnSpPr/>
            <p:nvPr/>
          </p:nvCxnSpPr>
          <p:spPr>
            <a:xfrm>
              <a:off x="2220087" y="1905000"/>
              <a:ext cx="1371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oval" w="lg" len="lg"/>
              <a:tailEnd type="none" w="sm" len="sm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3579812" y="1905000"/>
              <a:ext cx="838200" cy="8382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49" name="Google Shape;449;p19"/>
          <p:cNvGrpSpPr/>
          <p:nvPr/>
        </p:nvGrpSpPr>
        <p:grpSpPr>
          <a:xfrm flipH="1">
            <a:off x="9036976" y="3765258"/>
            <a:ext cx="1447338" cy="740414"/>
            <a:chOff x="2220087" y="1905000"/>
            <a:chExt cx="2197925" cy="838200"/>
          </a:xfrm>
        </p:grpSpPr>
        <p:cxnSp>
          <p:nvCxnSpPr>
            <p:cNvPr id="450" name="Google Shape;450;p19"/>
            <p:cNvCxnSpPr/>
            <p:nvPr/>
          </p:nvCxnSpPr>
          <p:spPr>
            <a:xfrm>
              <a:off x="2220087" y="1905000"/>
              <a:ext cx="1371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oval" w="lg" len="lg"/>
              <a:tailEnd type="none" w="sm" len="sm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579812" y="1905000"/>
              <a:ext cx="838200" cy="8382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52" name="Google Shape;452;p19"/>
          <p:cNvGrpSpPr/>
          <p:nvPr/>
        </p:nvGrpSpPr>
        <p:grpSpPr>
          <a:xfrm rot="10800000" flipH="1">
            <a:off x="5914873" y="6333446"/>
            <a:ext cx="1447338" cy="740414"/>
            <a:chOff x="2220087" y="1905000"/>
            <a:chExt cx="2197925" cy="838200"/>
          </a:xfrm>
        </p:grpSpPr>
        <p:cxnSp>
          <p:nvCxnSpPr>
            <p:cNvPr id="453" name="Google Shape;453;p19"/>
            <p:cNvCxnSpPr/>
            <p:nvPr/>
          </p:nvCxnSpPr>
          <p:spPr>
            <a:xfrm>
              <a:off x="2220087" y="1905000"/>
              <a:ext cx="1371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miter lim="800000"/>
              <a:headEnd type="oval" w="lg" len="lg"/>
              <a:tailEnd type="none" w="sm" len="sm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3579812" y="1905000"/>
              <a:ext cx="838200" cy="8382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55" name="Google Shape;455;p19"/>
          <p:cNvGrpSpPr/>
          <p:nvPr/>
        </p:nvGrpSpPr>
        <p:grpSpPr>
          <a:xfrm rot="10800000">
            <a:off x="9036976" y="6333446"/>
            <a:ext cx="1447338" cy="740414"/>
            <a:chOff x="2220087" y="1905000"/>
            <a:chExt cx="2197925" cy="838200"/>
          </a:xfrm>
        </p:grpSpPr>
        <p:cxnSp>
          <p:nvCxnSpPr>
            <p:cNvPr id="456" name="Google Shape;456;p19"/>
            <p:cNvCxnSpPr/>
            <p:nvPr/>
          </p:nvCxnSpPr>
          <p:spPr>
            <a:xfrm>
              <a:off x="2220087" y="1905000"/>
              <a:ext cx="1371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 lim="800000"/>
              <a:headEnd type="oval" w="lg" len="lg"/>
              <a:tailEnd type="none" w="sm" len="sm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3579812" y="1905000"/>
              <a:ext cx="838200" cy="8382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58" name="Google Shape;458;p19"/>
          <p:cNvSpPr txBox="1"/>
          <p:nvPr/>
        </p:nvSpPr>
        <p:spPr>
          <a:xfrm>
            <a:off x="1291858" y="3394321"/>
            <a:ext cx="428262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Helps to overcome the curse of dimensionality with simplicity</a:t>
            </a:r>
            <a:endParaRPr/>
          </a:p>
        </p:txBody>
      </p:sp>
      <p:sp>
        <p:nvSpPr>
          <p:cNvPr id="459" name="Google Shape;459;p19"/>
          <p:cNvSpPr txBox="1"/>
          <p:nvPr/>
        </p:nvSpPr>
        <p:spPr>
          <a:xfrm>
            <a:off x="10697078" y="3394321"/>
            <a:ext cx="429177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Pre-trained embeddings can be used in host of application</a:t>
            </a:r>
            <a:endParaRPr/>
          </a:p>
        </p:txBody>
      </p:sp>
      <p:sp>
        <p:nvSpPr>
          <p:cNvPr id="460" name="Google Shape;460;p19"/>
          <p:cNvSpPr txBox="1"/>
          <p:nvPr/>
        </p:nvSpPr>
        <p:spPr>
          <a:xfrm>
            <a:off x="10697079" y="6766166"/>
            <a:ext cx="4284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Are self-supervised which makes it easy to get the data</a:t>
            </a:r>
            <a:endParaRPr/>
          </a:p>
        </p:txBody>
      </p:sp>
      <p:sp>
        <p:nvSpPr>
          <p:cNvPr id="461" name="Google Shape;461;p19"/>
          <p:cNvSpPr txBox="1"/>
          <p:nvPr/>
        </p:nvSpPr>
        <p:spPr>
          <a:xfrm>
            <a:off x="1291857" y="6766166"/>
            <a:ext cx="428262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Closer physical vectors suggest closer meanings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0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following are a few limitations of the word2vec model.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7" name="Google Shape;467;p20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Word2Vec: Cons</a:t>
            </a:r>
            <a:endParaRPr/>
          </a:p>
        </p:txBody>
      </p:sp>
      <p:sp>
        <p:nvSpPr>
          <p:cNvPr id="468" name="Google Shape;468;p20"/>
          <p:cNvSpPr txBox="1"/>
          <p:nvPr/>
        </p:nvSpPr>
        <p:spPr>
          <a:xfrm>
            <a:off x="11952514" y="-1143000"/>
            <a:ext cx="18473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69" name="Google Shape;469;p20"/>
          <p:cNvGrpSpPr/>
          <p:nvPr/>
        </p:nvGrpSpPr>
        <p:grpSpPr>
          <a:xfrm rot="10800000">
            <a:off x="5914873" y="3038546"/>
            <a:ext cx="4569441" cy="4157622"/>
            <a:chOff x="5914873" y="2916238"/>
            <a:chExt cx="4569441" cy="4157622"/>
          </a:xfrm>
        </p:grpSpPr>
        <p:grpSp>
          <p:nvGrpSpPr>
            <p:cNvPr id="470" name="Google Shape;470;p20"/>
            <p:cNvGrpSpPr/>
            <p:nvPr/>
          </p:nvGrpSpPr>
          <p:grpSpPr>
            <a:xfrm>
              <a:off x="6607212" y="2916238"/>
              <a:ext cx="3184762" cy="4019495"/>
              <a:chOff x="3697288" y="414338"/>
              <a:chExt cx="4784725" cy="6038850"/>
            </a:xfrm>
          </p:grpSpPr>
          <p:sp>
            <p:nvSpPr>
              <p:cNvPr id="471" name="Google Shape;471;p20"/>
              <p:cNvSpPr/>
              <p:nvPr/>
            </p:nvSpPr>
            <p:spPr>
              <a:xfrm>
                <a:off x="6154738" y="414338"/>
                <a:ext cx="2327275" cy="4789488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3017" extrusionOk="0">
                    <a:moveTo>
                      <a:pt x="447" y="0"/>
                    </a:moveTo>
                    <a:lnTo>
                      <a:pt x="479" y="1"/>
                    </a:lnTo>
                    <a:lnTo>
                      <a:pt x="510" y="10"/>
                    </a:lnTo>
                    <a:lnTo>
                      <a:pt x="540" y="25"/>
                    </a:lnTo>
                    <a:lnTo>
                      <a:pt x="568" y="47"/>
                    </a:lnTo>
                    <a:lnTo>
                      <a:pt x="594" y="75"/>
                    </a:lnTo>
                    <a:lnTo>
                      <a:pt x="619" y="108"/>
                    </a:lnTo>
                    <a:lnTo>
                      <a:pt x="641" y="148"/>
                    </a:lnTo>
                    <a:lnTo>
                      <a:pt x="660" y="191"/>
                    </a:lnTo>
                    <a:lnTo>
                      <a:pt x="678" y="240"/>
                    </a:lnTo>
                    <a:lnTo>
                      <a:pt x="693" y="293"/>
                    </a:lnTo>
                    <a:lnTo>
                      <a:pt x="703" y="351"/>
                    </a:lnTo>
                    <a:lnTo>
                      <a:pt x="711" y="412"/>
                    </a:lnTo>
                    <a:lnTo>
                      <a:pt x="716" y="477"/>
                    </a:lnTo>
                    <a:lnTo>
                      <a:pt x="716" y="545"/>
                    </a:lnTo>
                    <a:lnTo>
                      <a:pt x="712" y="615"/>
                    </a:lnTo>
                    <a:lnTo>
                      <a:pt x="705" y="688"/>
                    </a:lnTo>
                    <a:lnTo>
                      <a:pt x="694" y="753"/>
                    </a:lnTo>
                    <a:lnTo>
                      <a:pt x="678" y="813"/>
                    </a:lnTo>
                    <a:lnTo>
                      <a:pt x="657" y="870"/>
                    </a:lnTo>
                    <a:lnTo>
                      <a:pt x="634" y="925"/>
                    </a:lnTo>
                    <a:lnTo>
                      <a:pt x="607" y="975"/>
                    </a:lnTo>
                    <a:lnTo>
                      <a:pt x="579" y="1024"/>
                    </a:lnTo>
                    <a:lnTo>
                      <a:pt x="550" y="1070"/>
                    </a:lnTo>
                    <a:lnTo>
                      <a:pt x="522" y="1113"/>
                    </a:lnTo>
                    <a:lnTo>
                      <a:pt x="493" y="1154"/>
                    </a:lnTo>
                    <a:lnTo>
                      <a:pt x="466" y="1192"/>
                    </a:lnTo>
                    <a:lnTo>
                      <a:pt x="441" y="1229"/>
                    </a:lnTo>
                    <a:lnTo>
                      <a:pt x="418" y="1264"/>
                    </a:lnTo>
                    <a:lnTo>
                      <a:pt x="399" y="1297"/>
                    </a:lnTo>
                    <a:lnTo>
                      <a:pt x="384" y="1329"/>
                    </a:lnTo>
                    <a:lnTo>
                      <a:pt x="375" y="1359"/>
                    </a:lnTo>
                    <a:lnTo>
                      <a:pt x="370" y="1389"/>
                    </a:lnTo>
                    <a:lnTo>
                      <a:pt x="373" y="1416"/>
                    </a:lnTo>
                    <a:lnTo>
                      <a:pt x="383" y="1444"/>
                    </a:lnTo>
                    <a:lnTo>
                      <a:pt x="397" y="1465"/>
                    </a:lnTo>
                    <a:lnTo>
                      <a:pt x="414" y="1482"/>
                    </a:lnTo>
                    <a:lnTo>
                      <a:pt x="436" y="1496"/>
                    </a:lnTo>
                    <a:lnTo>
                      <a:pt x="462" y="1506"/>
                    </a:lnTo>
                    <a:lnTo>
                      <a:pt x="490" y="1515"/>
                    </a:lnTo>
                    <a:lnTo>
                      <a:pt x="523" y="1519"/>
                    </a:lnTo>
                    <a:lnTo>
                      <a:pt x="557" y="1523"/>
                    </a:lnTo>
                    <a:lnTo>
                      <a:pt x="594" y="1525"/>
                    </a:lnTo>
                    <a:lnTo>
                      <a:pt x="634" y="1525"/>
                    </a:lnTo>
                    <a:lnTo>
                      <a:pt x="674" y="1525"/>
                    </a:lnTo>
                    <a:lnTo>
                      <a:pt x="717" y="1524"/>
                    </a:lnTo>
                    <a:lnTo>
                      <a:pt x="761" y="1521"/>
                    </a:lnTo>
                    <a:lnTo>
                      <a:pt x="806" y="1520"/>
                    </a:lnTo>
                    <a:lnTo>
                      <a:pt x="852" y="1519"/>
                    </a:lnTo>
                    <a:lnTo>
                      <a:pt x="898" y="1519"/>
                    </a:lnTo>
                    <a:lnTo>
                      <a:pt x="944" y="1520"/>
                    </a:lnTo>
                    <a:lnTo>
                      <a:pt x="992" y="1521"/>
                    </a:lnTo>
                    <a:lnTo>
                      <a:pt x="1037" y="1526"/>
                    </a:lnTo>
                    <a:lnTo>
                      <a:pt x="1083" y="1532"/>
                    </a:lnTo>
                    <a:lnTo>
                      <a:pt x="1127" y="1541"/>
                    </a:lnTo>
                    <a:lnTo>
                      <a:pt x="1171" y="1551"/>
                    </a:lnTo>
                    <a:lnTo>
                      <a:pt x="1216" y="1569"/>
                    </a:lnTo>
                    <a:lnTo>
                      <a:pt x="1258" y="1591"/>
                    </a:lnTo>
                    <a:lnTo>
                      <a:pt x="1297" y="1617"/>
                    </a:lnTo>
                    <a:lnTo>
                      <a:pt x="1331" y="1647"/>
                    </a:lnTo>
                    <a:lnTo>
                      <a:pt x="1362" y="1681"/>
                    </a:lnTo>
                    <a:lnTo>
                      <a:pt x="1390" y="1717"/>
                    </a:lnTo>
                    <a:lnTo>
                      <a:pt x="1413" y="1756"/>
                    </a:lnTo>
                    <a:lnTo>
                      <a:pt x="1432" y="1796"/>
                    </a:lnTo>
                    <a:lnTo>
                      <a:pt x="1447" y="1839"/>
                    </a:lnTo>
                    <a:lnTo>
                      <a:pt x="1458" y="1883"/>
                    </a:lnTo>
                    <a:lnTo>
                      <a:pt x="1464" y="1927"/>
                    </a:lnTo>
                    <a:lnTo>
                      <a:pt x="1466" y="1972"/>
                    </a:lnTo>
                    <a:lnTo>
                      <a:pt x="1464" y="2016"/>
                    </a:lnTo>
                    <a:lnTo>
                      <a:pt x="1456" y="2059"/>
                    </a:lnTo>
                    <a:lnTo>
                      <a:pt x="1444" y="2101"/>
                    </a:lnTo>
                    <a:lnTo>
                      <a:pt x="1427" y="2143"/>
                    </a:lnTo>
                    <a:lnTo>
                      <a:pt x="1405" y="2181"/>
                    </a:lnTo>
                    <a:lnTo>
                      <a:pt x="1379" y="2217"/>
                    </a:lnTo>
                    <a:lnTo>
                      <a:pt x="1346" y="2249"/>
                    </a:lnTo>
                    <a:lnTo>
                      <a:pt x="1349" y="2251"/>
                    </a:lnTo>
                    <a:lnTo>
                      <a:pt x="1353" y="2256"/>
                    </a:lnTo>
                    <a:lnTo>
                      <a:pt x="1361" y="2264"/>
                    </a:lnTo>
                    <a:lnTo>
                      <a:pt x="1372" y="2275"/>
                    </a:lnTo>
                    <a:lnTo>
                      <a:pt x="1382" y="2290"/>
                    </a:lnTo>
                    <a:lnTo>
                      <a:pt x="1395" y="2309"/>
                    </a:lnTo>
                    <a:lnTo>
                      <a:pt x="1406" y="2331"/>
                    </a:lnTo>
                    <a:lnTo>
                      <a:pt x="1418" y="2356"/>
                    </a:lnTo>
                    <a:lnTo>
                      <a:pt x="1428" y="2385"/>
                    </a:lnTo>
                    <a:lnTo>
                      <a:pt x="1438" y="2419"/>
                    </a:lnTo>
                    <a:lnTo>
                      <a:pt x="1443" y="2454"/>
                    </a:lnTo>
                    <a:lnTo>
                      <a:pt x="1447" y="2495"/>
                    </a:lnTo>
                    <a:lnTo>
                      <a:pt x="1446" y="2539"/>
                    </a:lnTo>
                    <a:lnTo>
                      <a:pt x="1443" y="2570"/>
                    </a:lnTo>
                    <a:lnTo>
                      <a:pt x="1438" y="2599"/>
                    </a:lnTo>
                    <a:lnTo>
                      <a:pt x="795" y="2599"/>
                    </a:lnTo>
                    <a:lnTo>
                      <a:pt x="875" y="2669"/>
                    </a:lnTo>
                    <a:lnTo>
                      <a:pt x="896" y="2690"/>
                    </a:lnTo>
                    <a:lnTo>
                      <a:pt x="913" y="2714"/>
                    </a:lnTo>
                    <a:lnTo>
                      <a:pt x="927" y="2740"/>
                    </a:lnTo>
                    <a:lnTo>
                      <a:pt x="936" y="2767"/>
                    </a:lnTo>
                    <a:lnTo>
                      <a:pt x="942" y="2796"/>
                    </a:lnTo>
                    <a:lnTo>
                      <a:pt x="943" y="2817"/>
                    </a:lnTo>
                    <a:lnTo>
                      <a:pt x="941" y="2849"/>
                    </a:lnTo>
                    <a:lnTo>
                      <a:pt x="934" y="2879"/>
                    </a:lnTo>
                    <a:lnTo>
                      <a:pt x="921" y="2907"/>
                    </a:lnTo>
                    <a:lnTo>
                      <a:pt x="906" y="2933"/>
                    </a:lnTo>
                    <a:lnTo>
                      <a:pt x="885" y="2958"/>
                    </a:lnTo>
                    <a:lnTo>
                      <a:pt x="878" y="2965"/>
                    </a:lnTo>
                    <a:lnTo>
                      <a:pt x="855" y="2983"/>
                    </a:lnTo>
                    <a:lnTo>
                      <a:pt x="830" y="2997"/>
                    </a:lnTo>
                    <a:lnTo>
                      <a:pt x="802" y="3009"/>
                    </a:lnTo>
                    <a:lnTo>
                      <a:pt x="775" y="3014"/>
                    </a:lnTo>
                    <a:lnTo>
                      <a:pt x="745" y="3017"/>
                    </a:lnTo>
                    <a:lnTo>
                      <a:pt x="709" y="3013"/>
                    </a:lnTo>
                    <a:lnTo>
                      <a:pt x="675" y="3004"/>
                    </a:lnTo>
                    <a:lnTo>
                      <a:pt x="644" y="2990"/>
                    </a:lnTo>
                    <a:lnTo>
                      <a:pt x="616" y="2970"/>
                    </a:lnTo>
                    <a:lnTo>
                      <a:pt x="592" y="2946"/>
                    </a:lnTo>
                    <a:lnTo>
                      <a:pt x="572" y="2918"/>
                    </a:lnTo>
                    <a:lnTo>
                      <a:pt x="559" y="2887"/>
                    </a:lnTo>
                    <a:lnTo>
                      <a:pt x="549" y="2854"/>
                    </a:lnTo>
                    <a:lnTo>
                      <a:pt x="546" y="2819"/>
                    </a:lnTo>
                    <a:lnTo>
                      <a:pt x="548" y="2786"/>
                    </a:lnTo>
                    <a:lnTo>
                      <a:pt x="556" y="2752"/>
                    </a:lnTo>
                    <a:lnTo>
                      <a:pt x="570" y="2722"/>
                    </a:lnTo>
                    <a:lnTo>
                      <a:pt x="589" y="2694"/>
                    </a:lnTo>
                    <a:lnTo>
                      <a:pt x="613" y="2669"/>
                    </a:lnTo>
                    <a:lnTo>
                      <a:pt x="626" y="2658"/>
                    </a:lnTo>
                    <a:lnTo>
                      <a:pt x="626" y="2599"/>
                    </a:lnTo>
                    <a:lnTo>
                      <a:pt x="0" y="2599"/>
                    </a:lnTo>
                    <a:lnTo>
                      <a:pt x="0" y="2095"/>
                    </a:lnTo>
                    <a:lnTo>
                      <a:pt x="32" y="2111"/>
                    </a:lnTo>
                    <a:lnTo>
                      <a:pt x="67" y="2123"/>
                    </a:lnTo>
                    <a:lnTo>
                      <a:pt x="102" y="2130"/>
                    </a:lnTo>
                    <a:lnTo>
                      <a:pt x="139" y="2132"/>
                    </a:lnTo>
                    <a:lnTo>
                      <a:pt x="140" y="2132"/>
                    </a:lnTo>
                    <a:lnTo>
                      <a:pt x="181" y="2129"/>
                    </a:lnTo>
                    <a:lnTo>
                      <a:pt x="220" y="2121"/>
                    </a:lnTo>
                    <a:lnTo>
                      <a:pt x="257" y="2106"/>
                    </a:lnTo>
                    <a:lnTo>
                      <a:pt x="292" y="2087"/>
                    </a:lnTo>
                    <a:lnTo>
                      <a:pt x="323" y="2063"/>
                    </a:lnTo>
                    <a:lnTo>
                      <a:pt x="350" y="2035"/>
                    </a:lnTo>
                    <a:lnTo>
                      <a:pt x="374" y="2004"/>
                    </a:lnTo>
                    <a:lnTo>
                      <a:pt x="392" y="1971"/>
                    </a:lnTo>
                    <a:lnTo>
                      <a:pt x="406" y="1932"/>
                    </a:lnTo>
                    <a:lnTo>
                      <a:pt x="414" y="1893"/>
                    </a:lnTo>
                    <a:lnTo>
                      <a:pt x="418" y="1853"/>
                    </a:lnTo>
                    <a:lnTo>
                      <a:pt x="415" y="1817"/>
                    </a:lnTo>
                    <a:lnTo>
                      <a:pt x="408" y="1784"/>
                    </a:lnTo>
                    <a:lnTo>
                      <a:pt x="398" y="1750"/>
                    </a:lnTo>
                    <a:lnTo>
                      <a:pt x="383" y="1720"/>
                    </a:lnTo>
                    <a:lnTo>
                      <a:pt x="360" y="1684"/>
                    </a:lnTo>
                    <a:lnTo>
                      <a:pt x="332" y="1653"/>
                    </a:lnTo>
                    <a:lnTo>
                      <a:pt x="300" y="1627"/>
                    </a:lnTo>
                    <a:lnTo>
                      <a:pt x="264" y="1605"/>
                    </a:lnTo>
                    <a:lnTo>
                      <a:pt x="225" y="1588"/>
                    </a:lnTo>
                    <a:lnTo>
                      <a:pt x="183" y="1578"/>
                    </a:lnTo>
                    <a:lnTo>
                      <a:pt x="139" y="1575"/>
                    </a:lnTo>
                    <a:lnTo>
                      <a:pt x="138" y="1575"/>
                    </a:lnTo>
                    <a:lnTo>
                      <a:pt x="101" y="1578"/>
                    </a:lnTo>
                    <a:lnTo>
                      <a:pt x="65" y="1585"/>
                    </a:lnTo>
                    <a:lnTo>
                      <a:pt x="32" y="1597"/>
                    </a:lnTo>
                    <a:lnTo>
                      <a:pt x="0" y="1613"/>
                    </a:lnTo>
                    <a:lnTo>
                      <a:pt x="0" y="791"/>
                    </a:lnTo>
                    <a:lnTo>
                      <a:pt x="42" y="727"/>
                    </a:lnTo>
                    <a:lnTo>
                      <a:pt x="82" y="659"/>
                    </a:lnTo>
                    <a:lnTo>
                      <a:pt x="116" y="589"/>
                    </a:lnTo>
                    <a:lnTo>
                      <a:pt x="147" y="515"/>
                    </a:lnTo>
                    <a:lnTo>
                      <a:pt x="172" y="440"/>
                    </a:lnTo>
                    <a:lnTo>
                      <a:pt x="189" y="363"/>
                    </a:lnTo>
                    <a:lnTo>
                      <a:pt x="202" y="301"/>
                    </a:lnTo>
                    <a:lnTo>
                      <a:pt x="213" y="247"/>
                    </a:lnTo>
                    <a:lnTo>
                      <a:pt x="226" y="198"/>
                    </a:lnTo>
                    <a:lnTo>
                      <a:pt x="240" y="156"/>
                    </a:lnTo>
                    <a:lnTo>
                      <a:pt x="255" y="119"/>
                    </a:lnTo>
                    <a:lnTo>
                      <a:pt x="272" y="89"/>
                    </a:lnTo>
                    <a:lnTo>
                      <a:pt x="292" y="62"/>
                    </a:lnTo>
                    <a:lnTo>
                      <a:pt x="315" y="41"/>
                    </a:lnTo>
                    <a:lnTo>
                      <a:pt x="341" y="25"/>
                    </a:lnTo>
                    <a:lnTo>
                      <a:pt x="371" y="12"/>
                    </a:lnTo>
                    <a:lnTo>
                      <a:pt x="406" y="4"/>
                    </a:lnTo>
                    <a:lnTo>
                      <a:pt x="447" y="0"/>
                    </a:lnTo>
                    <a:close/>
                  </a:path>
                </a:pathLst>
              </a:custGeom>
              <a:gradFill>
                <a:gsLst>
                  <a:gs pos="0">
                    <a:srgbClr val="EC7626"/>
                  </a:gs>
                  <a:gs pos="100000">
                    <a:srgbClr val="AA4E0E"/>
                  </a:gs>
                </a:gsLst>
                <a:lin ang="13500000" scaled="0"/>
              </a:gradFill>
              <a:ln w="381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3697288" y="4002088"/>
                <a:ext cx="2328863" cy="2451100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1544" extrusionOk="0">
                    <a:moveTo>
                      <a:pt x="722" y="0"/>
                    </a:moveTo>
                    <a:lnTo>
                      <a:pt x="722" y="0"/>
                    </a:lnTo>
                    <a:lnTo>
                      <a:pt x="758" y="4"/>
                    </a:lnTo>
                    <a:lnTo>
                      <a:pt x="791" y="13"/>
                    </a:lnTo>
                    <a:lnTo>
                      <a:pt x="822" y="27"/>
                    </a:lnTo>
                    <a:lnTo>
                      <a:pt x="850" y="47"/>
                    </a:lnTo>
                    <a:lnTo>
                      <a:pt x="873" y="71"/>
                    </a:lnTo>
                    <a:lnTo>
                      <a:pt x="894" y="99"/>
                    </a:lnTo>
                    <a:lnTo>
                      <a:pt x="908" y="129"/>
                    </a:lnTo>
                    <a:lnTo>
                      <a:pt x="917" y="162"/>
                    </a:lnTo>
                    <a:lnTo>
                      <a:pt x="920" y="198"/>
                    </a:lnTo>
                    <a:lnTo>
                      <a:pt x="918" y="231"/>
                    </a:lnTo>
                    <a:lnTo>
                      <a:pt x="910" y="265"/>
                    </a:lnTo>
                    <a:lnTo>
                      <a:pt x="896" y="295"/>
                    </a:lnTo>
                    <a:lnTo>
                      <a:pt x="878" y="322"/>
                    </a:lnTo>
                    <a:lnTo>
                      <a:pt x="853" y="347"/>
                    </a:lnTo>
                    <a:lnTo>
                      <a:pt x="841" y="359"/>
                    </a:lnTo>
                    <a:lnTo>
                      <a:pt x="841" y="418"/>
                    </a:lnTo>
                    <a:lnTo>
                      <a:pt x="1467" y="418"/>
                    </a:lnTo>
                    <a:lnTo>
                      <a:pt x="1467" y="922"/>
                    </a:lnTo>
                    <a:lnTo>
                      <a:pt x="1434" y="906"/>
                    </a:lnTo>
                    <a:lnTo>
                      <a:pt x="1400" y="894"/>
                    </a:lnTo>
                    <a:lnTo>
                      <a:pt x="1364" y="887"/>
                    </a:lnTo>
                    <a:lnTo>
                      <a:pt x="1327" y="885"/>
                    </a:lnTo>
                    <a:lnTo>
                      <a:pt x="1326" y="885"/>
                    </a:lnTo>
                    <a:lnTo>
                      <a:pt x="1285" y="888"/>
                    </a:lnTo>
                    <a:lnTo>
                      <a:pt x="1246" y="896"/>
                    </a:lnTo>
                    <a:lnTo>
                      <a:pt x="1209" y="911"/>
                    </a:lnTo>
                    <a:lnTo>
                      <a:pt x="1174" y="930"/>
                    </a:lnTo>
                    <a:lnTo>
                      <a:pt x="1143" y="954"/>
                    </a:lnTo>
                    <a:lnTo>
                      <a:pt x="1117" y="982"/>
                    </a:lnTo>
                    <a:lnTo>
                      <a:pt x="1092" y="1013"/>
                    </a:lnTo>
                    <a:lnTo>
                      <a:pt x="1074" y="1046"/>
                    </a:lnTo>
                    <a:lnTo>
                      <a:pt x="1060" y="1084"/>
                    </a:lnTo>
                    <a:lnTo>
                      <a:pt x="1052" y="1124"/>
                    </a:lnTo>
                    <a:lnTo>
                      <a:pt x="1049" y="1164"/>
                    </a:lnTo>
                    <a:lnTo>
                      <a:pt x="1052" y="1209"/>
                    </a:lnTo>
                    <a:lnTo>
                      <a:pt x="1064" y="1252"/>
                    </a:lnTo>
                    <a:lnTo>
                      <a:pt x="1080" y="1292"/>
                    </a:lnTo>
                    <a:lnTo>
                      <a:pt x="1103" y="1328"/>
                    </a:lnTo>
                    <a:lnTo>
                      <a:pt x="1131" y="1360"/>
                    </a:lnTo>
                    <a:lnTo>
                      <a:pt x="1163" y="1388"/>
                    </a:lnTo>
                    <a:lnTo>
                      <a:pt x="1200" y="1411"/>
                    </a:lnTo>
                    <a:lnTo>
                      <a:pt x="1239" y="1427"/>
                    </a:lnTo>
                    <a:lnTo>
                      <a:pt x="1282" y="1438"/>
                    </a:lnTo>
                    <a:lnTo>
                      <a:pt x="1327" y="1442"/>
                    </a:lnTo>
                    <a:lnTo>
                      <a:pt x="1328" y="1442"/>
                    </a:lnTo>
                    <a:lnTo>
                      <a:pt x="1365" y="1439"/>
                    </a:lnTo>
                    <a:lnTo>
                      <a:pt x="1401" y="1432"/>
                    </a:lnTo>
                    <a:lnTo>
                      <a:pt x="1434" y="1420"/>
                    </a:lnTo>
                    <a:lnTo>
                      <a:pt x="1467" y="1404"/>
                    </a:lnTo>
                    <a:lnTo>
                      <a:pt x="1467" y="1544"/>
                    </a:lnTo>
                    <a:lnTo>
                      <a:pt x="1440" y="1544"/>
                    </a:lnTo>
                    <a:lnTo>
                      <a:pt x="1418" y="1544"/>
                    </a:lnTo>
                    <a:lnTo>
                      <a:pt x="1352" y="1544"/>
                    </a:lnTo>
                    <a:lnTo>
                      <a:pt x="1290" y="1542"/>
                    </a:lnTo>
                    <a:lnTo>
                      <a:pt x="1232" y="1539"/>
                    </a:lnTo>
                    <a:lnTo>
                      <a:pt x="1179" y="1537"/>
                    </a:lnTo>
                    <a:lnTo>
                      <a:pt x="1131" y="1534"/>
                    </a:lnTo>
                    <a:lnTo>
                      <a:pt x="1087" y="1530"/>
                    </a:lnTo>
                    <a:lnTo>
                      <a:pt x="1049" y="1526"/>
                    </a:lnTo>
                    <a:lnTo>
                      <a:pt x="1017" y="1522"/>
                    </a:lnTo>
                    <a:lnTo>
                      <a:pt x="992" y="1520"/>
                    </a:lnTo>
                    <a:lnTo>
                      <a:pt x="974" y="1517"/>
                    </a:lnTo>
                    <a:lnTo>
                      <a:pt x="962" y="1515"/>
                    </a:lnTo>
                    <a:lnTo>
                      <a:pt x="958" y="1515"/>
                    </a:lnTo>
                    <a:lnTo>
                      <a:pt x="955" y="1514"/>
                    </a:lnTo>
                    <a:lnTo>
                      <a:pt x="945" y="1511"/>
                    </a:lnTo>
                    <a:lnTo>
                      <a:pt x="930" y="1506"/>
                    </a:lnTo>
                    <a:lnTo>
                      <a:pt x="910" y="1500"/>
                    </a:lnTo>
                    <a:lnTo>
                      <a:pt x="887" y="1491"/>
                    </a:lnTo>
                    <a:lnTo>
                      <a:pt x="861" y="1481"/>
                    </a:lnTo>
                    <a:lnTo>
                      <a:pt x="835" y="1468"/>
                    </a:lnTo>
                    <a:lnTo>
                      <a:pt x="808" y="1453"/>
                    </a:lnTo>
                    <a:lnTo>
                      <a:pt x="782" y="1437"/>
                    </a:lnTo>
                    <a:lnTo>
                      <a:pt x="758" y="1417"/>
                    </a:lnTo>
                    <a:lnTo>
                      <a:pt x="736" y="1395"/>
                    </a:lnTo>
                    <a:lnTo>
                      <a:pt x="717" y="1372"/>
                    </a:lnTo>
                    <a:lnTo>
                      <a:pt x="703" y="1345"/>
                    </a:lnTo>
                    <a:lnTo>
                      <a:pt x="0" y="1319"/>
                    </a:lnTo>
                    <a:lnTo>
                      <a:pt x="2" y="418"/>
                    </a:lnTo>
                    <a:lnTo>
                      <a:pt x="671" y="418"/>
                    </a:lnTo>
                    <a:lnTo>
                      <a:pt x="591" y="348"/>
                    </a:lnTo>
                    <a:lnTo>
                      <a:pt x="568" y="324"/>
                    </a:lnTo>
                    <a:lnTo>
                      <a:pt x="548" y="296"/>
                    </a:lnTo>
                    <a:lnTo>
                      <a:pt x="535" y="266"/>
                    </a:lnTo>
                    <a:lnTo>
                      <a:pt x="527" y="234"/>
                    </a:lnTo>
                    <a:lnTo>
                      <a:pt x="523" y="200"/>
                    </a:lnTo>
                    <a:lnTo>
                      <a:pt x="527" y="164"/>
                    </a:lnTo>
                    <a:lnTo>
                      <a:pt x="536" y="131"/>
                    </a:lnTo>
                    <a:lnTo>
                      <a:pt x="550" y="100"/>
                    </a:lnTo>
                    <a:lnTo>
                      <a:pt x="569" y="72"/>
                    </a:lnTo>
                    <a:lnTo>
                      <a:pt x="594" y="48"/>
                    </a:lnTo>
                    <a:lnTo>
                      <a:pt x="621" y="28"/>
                    </a:lnTo>
                    <a:lnTo>
                      <a:pt x="652" y="13"/>
                    </a:lnTo>
                    <a:lnTo>
                      <a:pt x="686" y="4"/>
                    </a:lnTo>
                    <a:lnTo>
                      <a:pt x="722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D453"/>
                  </a:gs>
                  <a:gs pos="100000">
                    <a:srgbClr val="E5AC00"/>
                  </a:gs>
                </a:gsLst>
                <a:lin ang="10800000" scaled="0"/>
              </a:gradFill>
              <a:ln w="2857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3700463" y="1825626"/>
                <a:ext cx="2990850" cy="2714625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1710" extrusionOk="0">
                    <a:moveTo>
                      <a:pt x="1465" y="0"/>
                    </a:moveTo>
                    <a:lnTo>
                      <a:pt x="1465" y="914"/>
                    </a:lnTo>
                    <a:lnTo>
                      <a:pt x="1535" y="835"/>
                    </a:lnTo>
                    <a:lnTo>
                      <a:pt x="1542" y="826"/>
                    </a:lnTo>
                    <a:lnTo>
                      <a:pt x="1550" y="818"/>
                    </a:lnTo>
                    <a:lnTo>
                      <a:pt x="1573" y="800"/>
                    </a:lnTo>
                    <a:lnTo>
                      <a:pt x="1599" y="786"/>
                    </a:lnTo>
                    <a:lnTo>
                      <a:pt x="1625" y="774"/>
                    </a:lnTo>
                    <a:lnTo>
                      <a:pt x="1654" y="769"/>
                    </a:lnTo>
                    <a:lnTo>
                      <a:pt x="1684" y="766"/>
                    </a:lnTo>
                    <a:lnTo>
                      <a:pt x="1685" y="766"/>
                    </a:lnTo>
                    <a:lnTo>
                      <a:pt x="1721" y="770"/>
                    </a:lnTo>
                    <a:lnTo>
                      <a:pt x="1755" y="779"/>
                    </a:lnTo>
                    <a:lnTo>
                      <a:pt x="1787" y="794"/>
                    </a:lnTo>
                    <a:lnTo>
                      <a:pt x="1815" y="815"/>
                    </a:lnTo>
                    <a:lnTo>
                      <a:pt x="1839" y="839"/>
                    </a:lnTo>
                    <a:lnTo>
                      <a:pt x="1859" y="868"/>
                    </a:lnTo>
                    <a:lnTo>
                      <a:pt x="1872" y="899"/>
                    </a:lnTo>
                    <a:lnTo>
                      <a:pt x="1882" y="934"/>
                    </a:lnTo>
                    <a:lnTo>
                      <a:pt x="1884" y="964"/>
                    </a:lnTo>
                    <a:lnTo>
                      <a:pt x="1882" y="994"/>
                    </a:lnTo>
                    <a:lnTo>
                      <a:pt x="1877" y="1013"/>
                    </a:lnTo>
                    <a:lnTo>
                      <a:pt x="1871" y="1032"/>
                    </a:lnTo>
                    <a:lnTo>
                      <a:pt x="1865" y="1046"/>
                    </a:lnTo>
                    <a:lnTo>
                      <a:pt x="1850" y="1075"/>
                    </a:lnTo>
                    <a:lnTo>
                      <a:pt x="1831" y="1099"/>
                    </a:lnTo>
                    <a:lnTo>
                      <a:pt x="1808" y="1121"/>
                    </a:lnTo>
                    <a:lnTo>
                      <a:pt x="1780" y="1138"/>
                    </a:lnTo>
                    <a:lnTo>
                      <a:pt x="1751" y="1152"/>
                    </a:lnTo>
                    <a:lnTo>
                      <a:pt x="1719" y="1160"/>
                    </a:lnTo>
                    <a:lnTo>
                      <a:pt x="1685" y="1164"/>
                    </a:lnTo>
                    <a:lnTo>
                      <a:pt x="1685" y="1164"/>
                    </a:lnTo>
                    <a:lnTo>
                      <a:pt x="1655" y="1161"/>
                    </a:lnTo>
                    <a:lnTo>
                      <a:pt x="1626" y="1154"/>
                    </a:lnTo>
                    <a:lnTo>
                      <a:pt x="1600" y="1144"/>
                    </a:lnTo>
                    <a:lnTo>
                      <a:pt x="1574" y="1129"/>
                    </a:lnTo>
                    <a:lnTo>
                      <a:pt x="1550" y="1112"/>
                    </a:lnTo>
                    <a:lnTo>
                      <a:pt x="1543" y="1105"/>
                    </a:lnTo>
                    <a:lnTo>
                      <a:pt x="1536" y="1097"/>
                    </a:lnTo>
                    <a:lnTo>
                      <a:pt x="1525" y="1083"/>
                    </a:lnTo>
                    <a:lnTo>
                      <a:pt x="1465" y="1083"/>
                    </a:lnTo>
                    <a:lnTo>
                      <a:pt x="1465" y="1710"/>
                    </a:lnTo>
                    <a:lnTo>
                      <a:pt x="961" y="1710"/>
                    </a:lnTo>
                    <a:lnTo>
                      <a:pt x="977" y="1676"/>
                    </a:lnTo>
                    <a:lnTo>
                      <a:pt x="989" y="1642"/>
                    </a:lnTo>
                    <a:lnTo>
                      <a:pt x="997" y="1606"/>
                    </a:lnTo>
                    <a:lnTo>
                      <a:pt x="999" y="1569"/>
                    </a:lnTo>
                    <a:lnTo>
                      <a:pt x="995" y="1524"/>
                    </a:lnTo>
                    <a:lnTo>
                      <a:pt x="984" y="1481"/>
                    </a:lnTo>
                    <a:lnTo>
                      <a:pt x="967" y="1442"/>
                    </a:lnTo>
                    <a:lnTo>
                      <a:pt x="945" y="1405"/>
                    </a:lnTo>
                    <a:lnTo>
                      <a:pt x="916" y="1373"/>
                    </a:lnTo>
                    <a:lnTo>
                      <a:pt x="884" y="1345"/>
                    </a:lnTo>
                    <a:lnTo>
                      <a:pt x="848" y="1322"/>
                    </a:lnTo>
                    <a:lnTo>
                      <a:pt x="807" y="1306"/>
                    </a:lnTo>
                    <a:lnTo>
                      <a:pt x="765" y="1295"/>
                    </a:lnTo>
                    <a:lnTo>
                      <a:pt x="720" y="1292"/>
                    </a:lnTo>
                    <a:lnTo>
                      <a:pt x="719" y="1292"/>
                    </a:lnTo>
                    <a:lnTo>
                      <a:pt x="678" y="1294"/>
                    </a:lnTo>
                    <a:lnTo>
                      <a:pt x="639" y="1303"/>
                    </a:lnTo>
                    <a:lnTo>
                      <a:pt x="602" y="1317"/>
                    </a:lnTo>
                    <a:lnTo>
                      <a:pt x="567" y="1337"/>
                    </a:lnTo>
                    <a:lnTo>
                      <a:pt x="536" y="1360"/>
                    </a:lnTo>
                    <a:lnTo>
                      <a:pt x="510" y="1388"/>
                    </a:lnTo>
                    <a:lnTo>
                      <a:pt x="485" y="1419"/>
                    </a:lnTo>
                    <a:lnTo>
                      <a:pt x="467" y="1453"/>
                    </a:lnTo>
                    <a:lnTo>
                      <a:pt x="453" y="1490"/>
                    </a:lnTo>
                    <a:lnTo>
                      <a:pt x="444" y="1530"/>
                    </a:lnTo>
                    <a:lnTo>
                      <a:pt x="441" y="1571"/>
                    </a:lnTo>
                    <a:lnTo>
                      <a:pt x="444" y="1607"/>
                    </a:lnTo>
                    <a:lnTo>
                      <a:pt x="451" y="1643"/>
                    </a:lnTo>
                    <a:lnTo>
                      <a:pt x="463" y="1677"/>
                    </a:lnTo>
                    <a:lnTo>
                      <a:pt x="478" y="1710"/>
                    </a:lnTo>
                    <a:lnTo>
                      <a:pt x="0" y="1710"/>
                    </a:lnTo>
                    <a:lnTo>
                      <a:pt x="2" y="1079"/>
                    </a:lnTo>
                    <a:lnTo>
                      <a:pt x="698" y="1079"/>
                    </a:lnTo>
                    <a:lnTo>
                      <a:pt x="698" y="1078"/>
                    </a:lnTo>
                    <a:lnTo>
                      <a:pt x="699" y="1075"/>
                    </a:lnTo>
                    <a:lnTo>
                      <a:pt x="701" y="1070"/>
                    </a:lnTo>
                    <a:lnTo>
                      <a:pt x="705" y="1062"/>
                    </a:lnTo>
                    <a:lnTo>
                      <a:pt x="710" y="1052"/>
                    </a:lnTo>
                    <a:lnTo>
                      <a:pt x="716" y="1039"/>
                    </a:lnTo>
                    <a:lnTo>
                      <a:pt x="725" y="1022"/>
                    </a:lnTo>
                    <a:lnTo>
                      <a:pt x="736" y="1002"/>
                    </a:lnTo>
                    <a:lnTo>
                      <a:pt x="747" y="979"/>
                    </a:lnTo>
                    <a:lnTo>
                      <a:pt x="762" y="952"/>
                    </a:lnTo>
                    <a:lnTo>
                      <a:pt x="780" y="921"/>
                    </a:lnTo>
                    <a:lnTo>
                      <a:pt x="799" y="885"/>
                    </a:lnTo>
                    <a:lnTo>
                      <a:pt x="823" y="845"/>
                    </a:lnTo>
                    <a:lnTo>
                      <a:pt x="848" y="801"/>
                    </a:lnTo>
                    <a:lnTo>
                      <a:pt x="878" y="748"/>
                    </a:lnTo>
                    <a:lnTo>
                      <a:pt x="910" y="691"/>
                    </a:lnTo>
                    <a:lnTo>
                      <a:pt x="944" y="634"/>
                    </a:lnTo>
                    <a:lnTo>
                      <a:pt x="980" y="572"/>
                    </a:lnTo>
                    <a:lnTo>
                      <a:pt x="1017" y="512"/>
                    </a:lnTo>
                    <a:lnTo>
                      <a:pt x="1056" y="451"/>
                    </a:lnTo>
                    <a:lnTo>
                      <a:pt x="1095" y="392"/>
                    </a:lnTo>
                    <a:lnTo>
                      <a:pt x="1136" y="335"/>
                    </a:lnTo>
                    <a:lnTo>
                      <a:pt x="1176" y="280"/>
                    </a:lnTo>
                    <a:lnTo>
                      <a:pt x="1216" y="230"/>
                    </a:lnTo>
                    <a:lnTo>
                      <a:pt x="1258" y="185"/>
                    </a:lnTo>
                    <a:lnTo>
                      <a:pt x="1300" y="145"/>
                    </a:lnTo>
                    <a:lnTo>
                      <a:pt x="1340" y="113"/>
                    </a:lnTo>
                    <a:lnTo>
                      <a:pt x="1383" y="79"/>
                    </a:lnTo>
                    <a:lnTo>
                      <a:pt x="1424" y="42"/>
                    </a:lnTo>
                    <a:lnTo>
                      <a:pt x="146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A67B8"/>
                  </a:gs>
                  <a:gs pos="100000">
                    <a:srgbClr val="1F3762"/>
                  </a:gs>
                </a:gsLst>
                <a:lin ang="13500000" scaled="0"/>
              </a:gradFill>
              <a:ln w="381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5487988" y="4665663"/>
                <a:ext cx="2905125" cy="1785938"/>
              </a:xfrm>
              <a:custGeom>
                <a:avLst/>
                <a:gdLst/>
                <a:ahLst/>
                <a:cxnLst/>
                <a:rect l="l" t="t" r="r" b="b"/>
                <a:pathLst>
                  <a:path w="1830" h="1125" extrusionOk="0">
                    <a:moveTo>
                      <a:pt x="420" y="0"/>
                    </a:moveTo>
                    <a:lnTo>
                      <a:pt x="923" y="0"/>
                    </a:lnTo>
                    <a:lnTo>
                      <a:pt x="907" y="34"/>
                    </a:lnTo>
                    <a:lnTo>
                      <a:pt x="895" y="68"/>
                    </a:lnTo>
                    <a:lnTo>
                      <a:pt x="887" y="104"/>
                    </a:lnTo>
                    <a:lnTo>
                      <a:pt x="885" y="141"/>
                    </a:lnTo>
                    <a:lnTo>
                      <a:pt x="887" y="169"/>
                    </a:lnTo>
                    <a:lnTo>
                      <a:pt x="891" y="195"/>
                    </a:lnTo>
                    <a:lnTo>
                      <a:pt x="891" y="197"/>
                    </a:lnTo>
                    <a:lnTo>
                      <a:pt x="903" y="238"/>
                    </a:lnTo>
                    <a:lnTo>
                      <a:pt x="921" y="276"/>
                    </a:lnTo>
                    <a:lnTo>
                      <a:pt x="944" y="311"/>
                    </a:lnTo>
                    <a:lnTo>
                      <a:pt x="972" y="342"/>
                    </a:lnTo>
                    <a:lnTo>
                      <a:pt x="1004" y="367"/>
                    </a:lnTo>
                    <a:lnTo>
                      <a:pt x="1040" y="389"/>
                    </a:lnTo>
                    <a:lnTo>
                      <a:pt x="1079" y="406"/>
                    </a:lnTo>
                    <a:lnTo>
                      <a:pt x="1121" y="415"/>
                    </a:lnTo>
                    <a:lnTo>
                      <a:pt x="1165" y="418"/>
                    </a:lnTo>
                    <a:lnTo>
                      <a:pt x="1166" y="418"/>
                    </a:lnTo>
                    <a:lnTo>
                      <a:pt x="1180" y="418"/>
                    </a:lnTo>
                    <a:lnTo>
                      <a:pt x="1206" y="416"/>
                    </a:lnTo>
                    <a:lnTo>
                      <a:pt x="1220" y="414"/>
                    </a:lnTo>
                    <a:lnTo>
                      <a:pt x="1240" y="408"/>
                    </a:lnTo>
                    <a:lnTo>
                      <a:pt x="1273" y="396"/>
                    </a:lnTo>
                    <a:lnTo>
                      <a:pt x="1305" y="380"/>
                    </a:lnTo>
                    <a:lnTo>
                      <a:pt x="1335" y="361"/>
                    </a:lnTo>
                    <a:lnTo>
                      <a:pt x="1362" y="336"/>
                    </a:lnTo>
                    <a:lnTo>
                      <a:pt x="1385" y="311"/>
                    </a:lnTo>
                    <a:lnTo>
                      <a:pt x="1405" y="282"/>
                    </a:lnTo>
                    <a:lnTo>
                      <a:pt x="1420" y="252"/>
                    </a:lnTo>
                    <a:lnTo>
                      <a:pt x="1430" y="223"/>
                    </a:lnTo>
                    <a:lnTo>
                      <a:pt x="1438" y="194"/>
                    </a:lnTo>
                    <a:lnTo>
                      <a:pt x="1442" y="167"/>
                    </a:lnTo>
                    <a:lnTo>
                      <a:pt x="1443" y="139"/>
                    </a:lnTo>
                    <a:lnTo>
                      <a:pt x="1441" y="102"/>
                    </a:lnTo>
                    <a:lnTo>
                      <a:pt x="1434" y="67"/>
                    </a:lnTo>
                    <a:lnTo>
                      <a:pt x="1421" y="33"/>
                    </a:lnTo>
                    <a:lnTo>
                      <a:pt x="1406" y="0"/>
                    </a:lnTo>
                    <a:lnTo>
                      <a:pt x="1830" y="0"/>
                    </a:lnTo>
                    <a:lnTo>
                      <a:pt x="1815" y="29"/>
                    </a:lnTo>
                    <a:lnTo>
                      <a:pt x="1797" y="56"/>
                    </a:lnTo>
                    <a:lnTo>
                      <a:pt x="1780" y="78"/>
                    </a:lnTo>
                    <a:lnTo>
                      <a:pt x="1763" y="97"/>
                    </a:lnTo>
                    <a:lnTo>
                      <a:pt x="1747" y="115"/>
                    </a:lnTo>
                    <a:lnTo>
                      <a:pt x="1730" y="127"/>
                    </a:lnTo>
                    <a:lnTo>
                      <a:pt x="1718" y="138"/>
                    </a:lnTo>
                    <a:lnTo>
                      <a:pt x="1709" y="145"/>
                    </a:lnTo>
                    <a:lnTo>
                      <a:pt x="1702" y="149"/>
                    </a:lnTo>
                    <a:lnTo>
                      <a:pt x="1699" y="150"/>
                    </a:lnTo>
                    <a:lnTo>
                      <a:pt x="1700" y="154"/>
                    </a:lnTo>
                    <a:lnTo>
                      <a:pt x="1706" y="161"/>
                    </a:lnTo>
                    <a:lnTo>
                      <a:pt x="1713" y="174"/>
                    </a:lnTo>
                    <a:lnTo>
                      <a:pt x="1722" y="190"/>
                    </a:lnTo>
                    <a:lnTo>
                      <a:pt x="1732" y="210"/>
                    </a:lnTo>
                    <a:lnTo>
                      <a:pt x="1742" y="235"/>
                    </a:lnTo>
                    <a:lnTo>
                      <a:pt x="1751" y="262"/>
                    </a:lnTo>
                    <a:lnTo>
                      <a:pt x="1759" y="294"/>
                    </a:lnTo>
                    <a:lnTo>
                      <a:pt x="1765" y="327"/>
                    </a:lnTo>
                    <a:lnTo>
                      <a:pt x="1767" y="364"/>
                    </a:lnTo>
                    <a:lnTo>
                      <a:pt x="1766" y="402"/>
                    </a:lnTo>
                    <a:lnTo>
                      <a:pt x="1762" y="433"/>
                    </a:lnTo>
                    <a:lnTo>
                      <a:pt x="1754" y="462"/>
                    </a:lnTo>
                    <a:lnTo>
                      <a:pt x="1741" y="490"/>
                    </a:lnTo>
                    <a:lnTo>
                      <a:pt x="1727" y="515"/>
                    </a:lnTo>
                    <a:lnTo>
                      <a:pt x="1710" y="538"/>
                    </a:lnTo>
                    <a:lnTo>
                      <a:pt x="1692" y="560"/>
                    </a:lnTo>
                    <a:lnTo>
                      <a:pt x="1674" y="579"/>
                    </a:lnTo>
                    <a:lnTo>
                      <a:pt x="1657" y="596"/>
                    </a:lnTo>
                    <a:lnTo>
                      <a:pt x="1639" y="611"/>
                    </a:lnTo>
                    <a:lnTo>
                      <a:pt x="1623" y="623"/>
                    </a:lnTo>
                    <a:lnTo>
                      <a:pt x="1610" y="633"/>
                    </a:lnTo>
                    <a:lnTo>
                      <a:pt x="1600" y="640"/>
                    </a:lnTo>
                    <a:lnTo>
                      <a:pt x="1593" y="645"/>
                    </a:lnTo>
                    <a:lnTo>
                      <a:pt x="1591" y="646"/>
                    </a:lnTo>
                    <a:lnTo>
                      <a:pt x="1593" y="648"/>
                    </a:lnTo>
                    <a:lnTo>
                      <a:pt x="1598" y="655"/>
                    </a:lnTo>
                    <a:lnTo>
                      <a:pt x="1605" y="666"/>
                    </a:lnTo>
                    <a:lnTo>
                      <a:pt x="1613" y="682"/>
                    </a:lnTo>
                    <a:lnTo>
                      <a:pt x="1622" y="700"/>
                    </a:lnTo>
                    <a:lnTo>
                      <a:pt x="1630" y="722"/>
                    </a:lnTo>
                    <a:lnTo>
                      <a:pt x="1638" y="746"/>
                    </a:lnTo>
                    <a:lnTo>
                      <a:pt x="1643" y="774"/>
                    </a:lnTo>
                    <a:lnTo>
                      <a:pt x="1645" y="805"/>
                    </a:lnTo>
                    <a:lnTo>
                      <a:pt x="1644" y="837"/>
                    </a:lnTo>
                    <a:lnTo>
                      <a:pt x="1638" y="871"/>
                    </a:lnTo>
                    <a:lnTo>
                      <a:pt x="1625" y="909"/>
                    </a:lnTo>
                    <a:lnTo>
                      <a:pt x="1610" y="946"/>
                    </a:lnTo>
                    <a:lnTo>
                      <a:pt x="1591" y="979"/>
                    </a:lnTo>
                    <a:lnTo>
                      <a:pt x="1568" y="1012"/>
                    </a:lnTo>
                    <a:lnTo>
                      <a:pt x="1542" y="1039"/>
                    </a:lnTo>
                    <a:lnTo>
                      <a:pt x="1513" y="1064"/>
                    </a:lnTo>
                    <a:lnTo>
                      <a:pt x="1482" y="1083"/>
                    </a:lnTo>
                    <a:lnTo>
                      <a:pt x="1447" y="1098"/>
                    </a:lnTo>
                    <a:lnTo>
                      <a:pt x="1412" y="1108"/>
                    </a:lnTo>
                    <a:lnTo>
                      <a:pt x="1374" y="1111"/>
                    </a:lnTo>
                    <a:lnTo>
                      <a:pt x="1359" y="1111"/>
                    </a:lnTo>
                    <a:lnTo>
                      <a:pt x="1337" y="1112"/>
                    </a:lnTo>
                    <a:lnTo>
                      <a:pt x="1307" y="1112"/>
                    </a:lnTo>
                    <a:lnTo>
                      <a:pt x="1270" y="1112"/>
                    </a:lnTo>
                    <a:lnTo>
                      <a:pt x="1227" y="1113"/>
                    </a:lnTo>
                    <a:lnTo>
                      <a:pt x="1180" y="1113"/>
                    </a:lnTo>
                    <a:lnTo>
                      <a:pt x="1128" y="1114"/>
                    </a:lnTo>
                    <a:lnTo>
                      <a:pt x="1071" y="1116"/>
                    </a:lnTo>
                    <a:lnTo>
                      <a:pt x="1013" y="1117"/>
                    </a:lnTo>
                    <a:lnTo>
                      <a:pt x="952" y="1117"/>
                    </a:lnTo>
                    <a:lnTo>
                      <a:pt x="890" y="1118"/>
                    </a:lnTo>
                    <a:lnTo>
                      <a:pt x="826" y="1119"/>
                    </a:lnTo>
                    <a:lnTo>
                      <a:pt x="763" y="1120"/>
                    </a:lnTo>
                    <a:lnTo>
                      <a:pt x="699" y="1121"/>
                    </a:lnTo>
                    <a:lnTo>
                      <a:pt x="638" y="1121"/>
                    </a:lnTo>
                    <a:lnTo>
                      <a:pt x="578" y="1123"/>
                    </a:lnTo>
                    <a:lnTo>
                      <a:pt x="521" y="1124"/>
                    </a:lnTo>
                    <a:lnTo>
                      <a:pt x="468" y="1124"/>
                    </a:lnTo>
                    <a:lnTo>
                      <a:pt x="420" y="1125"/>
                    </a:lnTo>
                    <a:lnTo>
                      <a:pt x="420" y="796"/>
                    </a:lnTo>
                    <a:lnTo>
                      <a:pt x="349" y="875"/>
                    </a:lnTo>
                    <a:lnTo>
                      <a:pt x="342" y="884"/>
                    </a:lnTo>
                    <a:lnTo>
                      <a:pt x="334" y="892"/>
                    </a:lnTo>
                    <a:lnTo>
                      <a:pt x="311" y="910"/>
                    </a:lnTo>
                    <a:lnTo>
                      <a:pt x="286" y="924"/>
                    </a:lnTo>
                    <a:lnTo>
                      <a:pt x="258" y="934"/>
                    </a:lnTo>
                    <a:lnTo>
                      <a:pt x="230" y="941"/>
                    </a:lnTo>
                    <a:lnTo>
                      <a:pt x="200" y="944"/>
                    </a:lnTo>
                    <a:lnTo>
                      <a:pt x="199" y="944"/>
                    </a:lnTo>
                    <a:lnTo>
                      <a:pt x="164" y="941"/>
                    </a:lnTo>
                    <a:lnTo>
                      <a:pt x="131" y="932"/>
                    </a:lnTo>
                    <a:lnTo>
                      <a:pt x="100" y="917"/>
                    </a:lnTo>
                    <a:lnTo>
                      <a:pt x="72" y="897"/>
                    </a:lnTo>
                    <a:lnTo>
                      <a:pt x="48" y="873"/>
                    </a:lnTo>
                    <a:lnTo>
                      <a:pt x="28" y="845"/>
                    </a:lnTo>
                    <a:lnTo>
                      <a:pt x="13" y="815"/>
                    </a:lnTo>
                    <a:lnTo>
                      <a:pt x="4" y="782"/>
                    </a:lnTo>
                    <a:lnTo>
                      <a:pt x="0" y="746"/>
                    </a:lnTo>
                    <a:lnTo>
                      <a:pt x="4" y="710"/>
                    </a:lnTo>
                    <a:lnTo>
                      <a:pt x="13" y="677"/>
                    </a:lnTo>
                    <a:lnTo>
                      <a:pt x="28" y="646"/>
                    </a:lnTo>
                    <a:lnTo>
                      <a:pt x="46" y="618"/>
                    </a:lnTo>
                    <a:lnTo>
                      <a:pt x="71" y="594"/>
                    </a:lnTo>
                    <a:lnTo>
                      <a:pt x="98" y="574"/>
                    </a:lnTo>
                    <a:lnTo>
                      <a:pt x="130" y="559"/>
                    </a:lnTo>
                    <a:lnTo>
                      <a:pt x="163" y="550"/>
                    </a:lnTo>
                    <a:lnTo>
                      <a:pt x="199" y="546"/>
                    </a:lnTo>
                    <a:lnTo>
                      <a:pt x="199" y="546"/>
                    </a:lnTo>
                    <a:lnTo>
                      <a:pt x="234" y="550"/>
                    </a:lnTo>
                    <a:lnTo>
                      <a:pt x="265" y="558"/>
                    </a:lnTo>
                    <a:lnTo>
                      <a:pt x="296" y="572"/>
                    </a:lnTo>
                    <a:lnTo>
                      <a:pt x="324" y="590"/>
                    </a:lnTo>
                    <a:lnTo>
                      <a:pt x="348" y="613"/>
                    </a:lnTo>
                    <a:lnTo>
                      <a:pt x="359" y="627"/>
                    </a:lnTo>
                    <a:lnTo>
                      <a:pt x="420" y="627"/>
                    </a:lnTo>
                    <a:lnTo>
                      <a:pt x="420" y="0"/>
                    </a:lnTo>
                    <a:close/>
                  </a:path>
                </a:pathLst>
              </a:custGeom>
              <a:gradFill>
                <a:gsLst>
                  <a:gs pos="0">
                    <a:srgbClr val="D4D4D4"/>
                  </a:gs>
                  <a:gs pos="100000">
                    <a:srgbClr val="A0A0A0"/>
                  </a:gs>
                </a:gsLst>
                <a:lin ang="2700000" scaled="0"/>
              </a:gradFill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75" name="Google Shape;475;p20"/>
            <p:cNvGrpSpPr/>
            <p:nvPr/>
          </p:nvGrpSpPr>
          <p:grpSpPr>
            <a:xfrm>
              <a:off x="5914873" y="3765258"/>
              <a:ext cx="1447338" cy="740414"/>
              <a:chOff x="2220087" y="1905000"/>
              <a:chExt cx="2197925" cy="838200"/>
            </a:xfrm>
          </p:grpSpPr>
          <p:cxnSp>
            <p:nvCxnSpPr>
              <p:cNvPr id="476" name="Google Shape;476;p20"/>
              <p:cNvCxnSpPr/>
              <p:nvPr/>
            </p:nvCxnSpPr>
            <p:spPr>
              <a:xfrm>
                <a:off x="2220087" y="1905000"/>
                <a:ext cx="1371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 lim="800000"/>
                <a:headEnd type="oval" w="lg" len="lg"/>
                <a:tailEnd type="none" w="sm" len="sm"/>
              </a:ln>
            </p:spPr>
          </p:cxnSp>
          <p:cxnSp>
            <p:nvCxnSpPr>
              <p:cNvPr id="477" name="Google Shape;477;p20"/>
              <p:cNvCxnSpPr/>
              <p:nvPr/>
            </p:nvCxnSpPr>
            <p:spPr>
              <a:xfrm>
                <a:off x="3579812" y="1905000"/>
                <a:ext cx="838200" cy="838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78" name="Google Shape;478;p20"/>
            <p:cNvGrpSpPr/>
            <p:nvPr/>
          </p:nvGrpSpPr>
          <p:grpSpPr>
            <a:xfrm flipH="1">
              <a:off x="9036976" y="3765258"/>
              <a:ext cx="1447338" cy="740414"/>
              <a:chOff x="2220087" y="1905000"/>
              <a:chExt cx="2197925" cy="838200"/>
            </a:xfrm>
          </p:grpSpPr>
          <p:cxnSp>
            <p:nvCxnSpPr>
              <p:cNvPr id="479" name="Google Shape;479;p20"/>
              <p:cNvCxnSpPr/>
              <p:nvPr/>
            </p:nvCxnSpPr>
            <p:spPr>
              <a:xfrm>
                <a:off x="2220087" y="1905000"/>
                <a:ext cx="1371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/>
                </a:solidFill>
                <a:prstDash val="solid"/>
                <a:miter lim="800000"/>
                <a:headEnd type="oval" w="lg" len="lg"/>
                <a:tailEnd type="none" w="sm" len="sm"/>
              </a:ln>
            </p:spPr>
          </p:cxnSp>
          <p:cxnSp>
            <p:nvCxnSpPr>
              <p:cNvPr id="480" name="Google Shape;480;p20"/>
              <p:cNvCxnSpPr/>
              <p:nvPr/>
            </p:nvCxnSpPr>
            <p:spPr>
              <a:xfrm>
                <a:off x="3579812" y="1905000"/>
                <a:ext cx="838200" cy="838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81" name="Google Shape;481;p20"/>
            <p:cNvGrpSpPr/>
            <p:nvPr/>
          </p:nvGrpSpPr>
          <p:grpSpPr>
            <a:xfrm rot="10800000" flipH="1">
              <a:off x="5914873" y="6333446"/>
              <a:ext cx="1447338" cy="740414"/>
              <a:chOff x="2220087" y="1905000"/>
              <a:chExt cx="2197925" cy="838200"/>
            </a:xfrm>
          </p:grpSpPr>
          <p:cxnSp>
            <p:nvCxnSpPr>
              <p:cNvPr id="482" name="Google Shape;482;p20"/>
              <p:cNvCxnSpPr/>
              <p:nvPr/>
            </p:nvCxnSpPr>
            <p:spPr>
              <a:xfrm>
                <a:off x="2220087" y="1905000"/>
                <a:ext cx="1371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miter lim="800000"/>
                <a:headEnd type="oval" w="lg" len="lg"/>
                <a:tailEnd type="none" w="sm" len="sm"/>
              </a:ln>
            </p:spPr>
          </p:cxnSp>
          <p:cxnSp>
            <p:nvCxnSpPr>
              <p:cNvPr id="483" name="Google Shape;483;p20"/>
              <p:cNvCxnSpPr/>
              <p:nvPr/>
            </p:nvCxnSpPr>
            <p:spPr>
              <a:xfrm>
                <a:off x="3579812" y="1905000"/>
                <a:ext cx="838200" cy="838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84" name="Google Shape;484;p20"/>
            <p:cNvGrpSpPr/>
            <p:nvPr/>
          </p:nvGrpSpPr>
          <p:grpSpPr>
            <a:xfrm rot="10800000">
              <a:off x="9036976" y="6333446"/>
              <a:ext cx="1447338" cy="740414"/>
              <a:chOff x="2220087" y="1905000"/>
              <a:chExt cx="2197925" cy="838200"/>
            </a:xfrm>
          </p:grpSpPr>
          <p:cxnSp>
            <p:nvCxnSpPr>
              <p:cNvPr id="485" name="Google Shape;485;p20"/>
              <p:cNvCxnSpPr/>
              <p:nvPr/>
            </p:nvCxnSpPr>
            <p:spPr>
              <a:xfrm>
                <a:off x="2220087" y="1905000"/>
                <a:ext cx="1371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miter lim="800000"/>
                <a:headEnd type="oval" w="lg" len="lg"/>
                <a:tailEnd type="none" w="sm" len="sm"/>
              </a:ln>
            </p:spPr>
          </p:cxnSp>
          <p:cxnSp>
            <p:nvCxnSpPr>
              <p:cNvPr id="486" name="Google Shape;486;p20"/>
              <p:cNvCxnSpPr/>
              <p:nvPr/>
            </p:nvCxnSpPr>
            <p:spPr>
              <a:xfrm>
                <a:off x="3579812" y="1905000"/>
                <a:ext cx="838200" cy="838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487" name="Google Shape;487;p20"/>
          <p:cNvSpPr txBox="1"/>
          <p:nvPr/>
        </p:nvSpPr>
        <p:spPr>
          <a:xfrm>
            <a:off x="1747462" y="2724149"/>
            <a:ext cx="4006588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It does not consider global co-occurrence statistics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8" name="Google Shape;488;p20"/>
          <p:cNvSpPr txBox="1"/>
          <p:nvPr/>
        </p:nvSpPr>
        <p:spPr>
          <a:xfrm>
            <a:off x="10697078" y="2724149"/>
            <a:ext cx="4542922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Lack of sub-word information in  morphologically rich languages</a:t>
            </a:r>
            <a:endParaRPr/>
          </a:p>
        </p:txBody>
      </p:sp>
      <p:sp>
        <p:nvSpPr>
          <p:cNvPr id="489" name="Google Shape;489;p20"/>
          <p:cNvSpPr txBox="1"/>
          <p:nvPr/>
        </p:nvSpPr>
        <p:spPr>
          <a:xfrm>
            <a:off x="10469637" y="5976940"/>
            <a:ext cx="4746122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Words with multiple meanings may have a single representation</a:t>
            </a:r>
            <a:endParaRPr/>
          </a:p>
        </p:txBody>
      </p:sp>
      <p:sp>
        <p:nvSpPr>
          <p:cNvPr id="490" name="Google Shape;490;p20"/>
          <p:cNvSpPr txBox="1"/>
          <p:nvPr/>
        </p:nvSpPr>
        <p:spPr>
          <a:xfrm>
            <a:off x="1108245" y="5976941"/>
            <a:ext cx="4721038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Lacks extensive awareness of broader contextual information</a:t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6791356" y="816324"/>
            <a:ext cx="2688847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1"/>
          <p:cNvSpPr txBox="1">
            <a:spLocks noGrp="1"/>
          </p:cNvSpPr>
          <p:nvPr>
            <p:ph type="body" idx="2"/>
          </p:nvPr>
        </p:nvSpPr>
        <p:spPr>
          <a:xfrm>
            <a:off x="1291857" y="163475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These limitations are overcome by these advanced models:</a:t>
            </a:r>
            <a:endParaRPr dirty="0"/>
          </a:p>
        </p:txBody>
      </p:sp>
      <p:sp>
        <p:nvSpPr>
          <p:cNvPr id="497" name="Google Shape;497;p2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Word2Vec: Cons</a:t>
            </a:r>
            <a:endParaRPr/>
          </a:p>
        </p:txBody>
      </p:sp>
      <p:sp>
        <p:nvSpPr>
          <p:cNvPr id="498" name="Google Shape;498;p21"/>
          <p:cNvSpPr txBox="1"/>
          <p:nvPr/>
        </p:nvSpPr>
        <p:spPr>
          <a:xfrm>
            <a:off x="11952514" y="-1143000"/>
            <a:ext cx="18473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7" name="Google Shape;517;p21"/>
          <p:cNvSpPr txBox="1"/>
          <p:nvPr/>
        </p:nvSpPr>
        <p:spPr>
          <a:xfrm>
            <a:off x="1747462" y="2720332"/>
            <a:ext cx="4006588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It does not consider global co-occurrence statistics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8" name="Google Shape;518;p21"/>
          <p:cNvSpPr txBox="1"/>
          <p:nvPr/>
        </p:nvSpPr>
        <p:spPr>
          <a:xfrm>
            <a:off x="10697078" y="2720332"/>
            <a:ext cx="4542922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Lack of sub-word information in  morphologically rich languages</a:t>
            </a:r>
            <a:endParaRPr/>
          </a:p>
        </p:txBody>
      </p:sp>
      <p:sp>
        <p:nvSpPr>
          <p:cNvPr id="519" name="Google Shape;519;p21"/>
          <p:cNvSpPr txBox="1"/>
          <p:nvPr/>
        </p:nvSpPr>
        <p:spPr>
          <a:xfrm>
            <a:off x="10469637" y="5973123"/>
            <a:ext cx="4746122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Words with multiple meanings may have a single representation</a:t>
            </a:r>
            <a:endParaRPr/>
          </a:p>
        </p:txBody>
      </p:sp>
      <p:sp>
        <p:nvSpPr>
          <p:cNvPr id="520" name="Google Shape;520;p21"/>
          <p:cNvSpPr txBox="1"/>
          <p:nvPr/>
        </p:nvSpPr>
        <p:spPr>
          <a:xfrm>
            <a:off x="1296135" y="5973124"/>
            <a:ext cx="4721038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Lacks extensive awareness of broader contextual information</a:t>
            </a:r>
            <a:endParaRPr dirty="0"/>
          </a:p>
        </p:txBody>
      </p:sp>
      <p:sp>
        <p:nvSpPr>
          <p:cNvPr id="521" name="Google Shape;521;p21"/>
          <p:cNvSpPr/>
          <p:nvPr/>
        </p:nvSpPr>
        <p:spPr>
          <a:xfrm>
            <a:off x="2455633" y="3689778"/>
            <a:ext cx="2679856" cy="772658"/>
          </a:xfrm>
          <a:prstGeom prst="roundRect">
            <a:avLst>
              <a:gd name="adj" fmla="val 16667"/>
            </a:avLst>
          </a:prstGeom>
          <a:solidFill>
            <a:srgbClr val="CCC7BA"/>
          </a:solidFill>
          <a:ln w="12700" cap="flat" cmpd="sng">
            <a:solidFill>
              <a:srgbClr val="BEBA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2" name="Google Shape;522;p21"/>
          <p:cNvSpPr txBox="1"/>
          <p:nvPr/>
        </p:nvSpPr>
        <p:spPr>
          <a:xfrm>
            <a:off x="2455633" y="3848769"/>
            <a:ext cx="2562283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Solved by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GloVe</a:t>
            </a:r>
            <a:endParaRPr sz="2200" b="1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1551870" y="6811848"/>
            <a:ext cx="4210753" cy="774000"/>
          </a:xfrm>
          <a:prstGeom prst="roundRect">
            <a:avLst>
              <a:gd name="adj" fmla="val 16667"/>
            </a:avLst>
          </a:prstGeom>
          <a:solidFill>
            <a:srgbClr val="CCC7BA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4" name="Google Shape;524;p21"/>
          <p:cNvSpPr txBox="1"/>
          <p:nvPr/>
        </p:nvSpPr>
        <p:spPr>
          <a:xfrm>
            <a:off x="1707543" y="6971510"/>
            <a:ext cx="3899406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Solved by LSTM, BERT, GPT</a:t>
            </a:r>
            <a:endParaRPr sz="2200" b="1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10697078" y="6811848"/>
            <a:ext cx="4210753" cy="774000"/>
          </a:xfrm>
          <a:prstGeom prst="roundRect">
            <a:avLst>
              <a:gd name="adj" fmla="val 16667"/>
            </a:avLst>
          </a:prstGeom>
          <a:solidFill>
            <a:srgbClr val="CCC7BA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6" name="Google Shape;526;p21"/>
          <p:cNvSpPr txBox="1"/>
          <p:nvPr/>
        </p:nvSpPr>
        <p:spPr>
          <a:xfrm>
            <a:off x="10852751" y="6971510"/>
            <a:ext cx="3899406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Solved by LSTM, BERT, GPT</a:t>
            </a:r>
            <a:endParaRPr sz="2200" b="1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11664871" y="3689778"/>
            <a:ext cx="3087285" cy="772658"/>
          </a:xfrm>
          <a:prstGeom prst="roundRect">
            <a:avLst>
              <a:gd name="adj" fmla="val 16667"/>
            </a:avLst>
          </a:prstGeom>
          <a:solidFill>
            <a:srgbClr val="CCC7BA"/>
          </a:solidFill>
          <a:ln w="12700" cap="flat" cmpd="sng">
            <a:solidFill>
              <a:srgbClr val="BEBA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8" name="Google Shape;528;p21"/>
          <p:cNvSpPr txBox="1"/>
          <p:nvPr/>
        </p:nvSpPr>
        <p:spPr>
          <a:xfrm>
            <a:off x="11719399" y="3848769"/>
            <a:ext cx="2978228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Solved by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FastText</a:t>
            </a:r>
            <a:endParaRPr sz="2200" b="1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6791356" y="816324"/>
            <a:ext cx="2688847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" name="Google Shape;469;p20">
            <a:extLst>
              <a:ext uri="{FF2B5EF4-FFF2-40B4-BE49-F238E27FC236}">
                <a16:creationId xmlns:a16="http://schemas.microsoft.com/office/drawing/2014/main" id="{9FB95A34-2743-4A74-7B4A-FC3DF742EC42}"/>
              </a:ext>
            </a:extLst>
          </p:cNvPr>
          <p:cNvGrpSpPr/>
          <p:nvPr/>
        </p:nvGrpSpPr>
        <p:grpSpPr>
          <a:xfrm rot="10800000">
            <a:off x="5914873" y="3038546"/>
            <a:ext cx="4569441" cy="4157622"/>
            <a:chOff x="5914873" y="2916238"/>
            <a:chExt cx="4569441" cy="4157622"/>
          </a:xfrm>
        </p:grpSpPr>
        <p:grpSp>
          <p:nvGrpSpPr>
            <p:cNvPr id="3" name="Google Shape;470;p20">
              <a:extLst>
                <a:ext uri="{FF2B5EF4-FFF2-40B4-BE49-F238E27FC236}">
                  <a16:creationId xmlns:a16="http://schemas.microsoft.com/office/drawing/2014/main" id="{48732453-D16F-489C-4FE8-77FBD9066C56}"/>
                </a:ext>
              </a:extLst>
            </p:cNvPr>
            <p:cNvGrpSpPr/>
            <p:nvPr/>
          </p:nvGrpSpPr>
          <p:grpSpPr>
            <a:xfrm>
              <a:off x="6607212" y="2916238"/>
              <a:ext cx="3184762" cy="4019495"/>
              <a:chOff x="3697288" y="414338"/>
              <a:chExt cx="4784725" cy="6038850"/>
            </a:xfrm>
          </p:grpSpPr>
          <p:sp>
            <p:nvSpPr>
              <p:cNvPr id="16" name="Google Shape;471;p20">
                <a:extLst>
                  <a:ext uri="{FF2B5EF4-FFF2-40B4-BE49-F238E27FC236}">
                    <a16:creationId xmlns:a16="http://schemas.microsoft.com/office/drawing/2014/main" id="{CC70A54B-59E2-7860-F7DC-D51132989E52}"/>
                  </a:ext>
                </a:extLst>
              </p:cNvPr>
              <p:cNvSpPr/>
              <p:nvPr/>
            </p:nvSpPr>
            <p:spPr>
              <a:xfrm>
                <a:off x="6154738" y="414338"/>
                <a:ext cx="2327275" cy="4789488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3017" extrusionOk="0">
                    <a:moveTo>
                      <a:pt x="447" y="0"/>
                    </a:moveTo>
                    <a:lnTo>
                      <a:pt x="479" y="1"/>
                    </a:lnTo>
                    <a:lnTo>
                      <a:pt x="510" y="10"/>
                    </a:lnTo>
                    <a:lnTo>
                      <a:pt x="540" y="25"/>
                    </a:lnTo>
                    <a:lnTo>
                      <a:pt x="568" y="47"/>
                    </a:lnTo>
                    <a:lnTo>
                      <a:pt x="594" y="75"/>
                    </a:lnTo>
                    <a:lnTo>
                      <a:pt x="619" y="108"/>
                    </a:lnTo>
                    <a:lnTo>
                      <a:pt x="641" y="148"/>
                    </a:lnTo>
                    <a:lnTo>
                      <a:pt x="660" y="191"/>
                    </a:lnTo>
                    <a:lnTo>
                      <a:pt x="678" y="240"/>
                    </a:lnTo>
                    <a:lnTo>
                      <a:pt x="693" y="293"/>
                    </a:lnTo>
                    <a:lnTo>
                      <a:pt x="703" y="351"/>
                    </a:lnTo>
                    <a:lnTo>
                      <a:pt x="711" y="412"/>
                    </a:lnTo>
                    <a:lnTo>
                      <a:pt x="716" y="477"/>
                    </a:lnTo>
                    <a:lnTo>
                      <a:pt x="716" y="545"/>
                    </a:lnTo>
                    <a:lnTo>
                      <a:pt x="712" y="615"/>
                    </a:lnTo>
                    <a:lnTo>
                      <a:pt x="705" y="688"/>
                    </a:lnTo>
                    <a:lnTo>
                      <a:pt x="694" y="753"/>
                    </a:lnTo>
                    <a:lnTo>
                      <a:pt x="678" y="813"/>
                    </a:lnTo>
                    <a:lnTo>
                      <a:pt x="657" y="870"/>
                    </a:lnTo>
                    <a:lnTo>
                      <a:pt x="634" y="925"/>
                    </a:lnTo>
                    <a:lnTo>
                      <a:pt x="607" y="975"/>
                    </a:lnTo>
                    <a:lnTo>
                      <a:pt x="579" y="1024"/>
                    </a:lnTo>
                    <a:lnTo>
                      <a:pt x="550" y="1070"/>
                    </a:lnTo>
                    <a:lnTo>
                      <a:pt x="522" y="1113"/>
                    </a:lnTo>
                    <a:lnTo>
                      <a:pt x="493" y="1154"/>
                    </a:lnTo>
                    <a:lnTo>
                      <a:pt x="466" y="1192"/>
                    </a:lnTo>
                    <a:lnTo>
                      <a:pt x="441" y="1229"/>
                    </a:lnTo>
                    <a:lnTo>
                      <a:pt x="418" y="1264"/>
                    </a:lnTo>
                    <a:lnTo>
                      <a:pt x="399" y="1297"/>
                    </a:lnTo>
                    <a:lnTo>
                      <a:pt x="384" y="1329"/>
                    </a:lnTo>
                    <a:lnTo>
                      <a:pt x="375" y="1359"/>
                    </a:lnTo>
                    <a:lnTo>
                      <a:pt x="370" y="1389"/>
                    </a:lnTo>
                    <a:lnTo>
                      <a:pt x="373" y="1416"/>
                    </a:lnTo>
                    <a:lnTo>
                      <a:pt x="383" y="1444"/>
                    </a:lnTo>
                    <a:lnTo>
                      <a:pt x="397" y="1465"/>
                    </a:lnTo>
                    <a:lnTo>
                      <a:pt x="414" y="1482"/>
                    </a:lnTo>
                    <a:lnTo>
                      <a:pt x="436" y="1496"/>
                    </a:lnTo>
                    <a:lnTo>
                      <a:pt x="462" y="1506"/>
                    </a:lnTo>
                    <a:lnTo>
                      <a:pt x="490" y="1515"/>
                    </a:lnTo>
                    <a:lnTo>
                      <a:pt x="523" y="1519"/>
                    </a:lnTo>
                    <a:lnTo>
                      <a:pt x="557" y="1523"/>
                    </a:lnTo>
                    <a:lnTo>
                      <a:pt x="594" y="1525"/>
                    </a:lnTo>
                    <a:lnTo>
                      <a:pt x="634" y="1525"/>
                    </a:lnTo>
                    <a:lnTo>
                      <a:pt x="674" y="1525"/>
                    </a:lnTo>
                    <a:lnTo>
                      <a:pt x="717" y="1524"/>
                    </a:lnTo>
                    <a:lnTo>
                      <a:pt x="761" y="1521"/>
                    </a:lnTo>
                    <a:lnTo>
                      <a:pt x="806" y="1520"/>
                    </a:lnTo>
                    <a:lnTo>
                      <a:pt x="852" y="1519"/>
                    </a:lnTo>
                    <a:lnTo>
                      <a:pt x="898" y="1519"/>
                    </a:lnTo>
                    <a:lnTo>
                      <a:pt x="944" y="1520"/>
                    </a:lnTo>
                    <a:lnTo>
                      <a:pt x="992" y="1521"/>
                    </a:lnTo>
                    <a:lnTo>
                      <a:pt x="1037" y="1526"/>
                    </a:lnTo>
                    <a:lnTo>
                      <a:pt x="1083" y="1532"/>
                    </a:lnTo>
                    <a:lnTo>
                      <a:pt x="1127" y="1541"/>
                    </a:lnTo>
                    <a:lnTo>
                      <a:pt x="1171" y="1551"/>
                    </a:lnTo>
                    <a:lnTo>
                      <a:pt x="1216" y="1569"/>
                    </a:lnTo>
                    <a:lnTo>
                      <a:pt x="1258" y="1591"/>
                    </a:lnTo>
                    <a:lnTo>
                      <a:pt x="1297" y="1617"/>
                    </a:lnTo>
                    <a:lnTo>
                      <a:pt x="1331" y="1647"/>
                    </a:lnTo>
                    <a:lnTo>
                      <a:pt x="1362" y="1681"/>
                    </a:lnTo>
                    <a:lnTo>
                      <a:pt x="1390" y="1717"/>
                    </a:lnTo>
                    <a:lnTo>
                      <a:pt x="1413" y="1756"/>
                    </a:lnTo>
                    <a:lnTo>
                      <a:pt x="1432" y="1796"/>
                    </a:lnTo>
                    <a:lnTo>
                      <a:pt x="1447" y="1839"/>
                    </a:lnTo>
                    <a:lnTo>
                      <a:pt x="1458" y="1883"/>
                    </a:lnTo>
                    <a:lnTo>
                      <a:pt x="1464" y="1927"/>
                    </a:lnTo>
                    <a:lnTo>
                      <a:pt x="1466" y="1972"/>
                    </a:lnTo>
                    <a:lnTo>
                      <a:pt x="1464" y="2016"/>
                    </a:lnTo>
                    <a:lnTo>
                      <a:pt x="1456" y="2059"/>
                    </a:lnTo>
                    <a:lnTo>
                      <a:pt x="1444" y="2101"/>
                    </a:lnTo>
                    <a:lnTo>
                      <a:pt x="1427" y="2143"/>
                    </a:lnTo>
                    <a:lnTo>
                      <a:pt x="1405" y="2181"/>
                    </a:lnTo>
                    <a:lnTo>
                      <a:pt x="1379" y="2217"/>
                    </a:lnTo>
                    <a:lnTo>
                      <a:pt x="1346" y="2249"/>
                    </a:lnTo>
                    <a:lnTo>
                      <a:pt x="1349" y="2251"/>
                    </a:lnTo>
                    <a:lnTo>
                      <a:pt x="1353" y="2256"/>
                    </a:lnTo>
                    <a:lnTo>
                      <a:pt x="1361" y="2264"/>
                    </a:lnTo>
                    <a:lnTo>
                      <a:pt x="1372" y="2275"/>
                    </a:lnTo>
                    <a:lnTo>
                      <a:pt x="1382" y="2290"/>
                    </a:lnTo>
                    <a:lnTo>
                      <a:pt x="1395" y="2309"/>
                    </a:lnTo>
                    <a:lnTo>
                      <a:pt x="1406" y="2331"/>
                    </a:lnTo>
                    <a:lnTo>
                      <a:pt x="1418" y="2356"/>
                    </a:lnTo>
                    <a:lnTo>
                      <a:pt x="1428" y="2385"/>
                    </a:lnTo>
                    <a:lnTo>
                      <a:pt x="1438" y="2419"/>
                    </a:lnTo>
                    <a:lnTo>
                      <a:pt x="1443" y="2454"/>
                    </a:lnTo>
                    <a:lnTo>
                      <a:pt x="1447" y="2495"/>
                    </a:lnTo>
                    <a:lnTo>
                      <a:pt x="1446" y="2539"/>
                    </a:lnTo>
                    <a:lnTo>
                      <a:pt x="1443" y="2570"/>
                    </a:lnTo>
                    <a:lnTo>
                      <a:pt x="1438" y="2599"/>
                    </a:lnTo>
                    <a:lnTo>
                      <a:pt x="795" y="2599"/>
                    </a:lnTo>
                    <a:lnTo>
                      <a:pt x="875" y="2669"/>
                    </a:lnTo>
                    <a:lnTo>
                      <a:pt x="896" y="2690"/>
                    </a:lnTo>
                    <a:lnTo>
                      <a:pt x="913" y="2714"/>
                    </a:lnTo>
                    <a:lnTo>
                      <a:pt x="927" y="2740"/>
                    </a:lnTo>
                    <a:lnTo>
                      <a:pt x="936" y="2767"/>
                    </a:lnTo>
                    <a:lnTo>
                      <a:pt x="942" y="2796"/>
                    </a:lnTo>
                    <a:lnTo>
                      <a:pt x="943" y="2817"/>
                    </a:lnTo>
                    <a:lnTo>
                      <a:pt x="941" y="2849"/>
                    </a:lnTo>
                    <a:lnTo>
                      <a:pt x="934" y="2879"/>
                    </a:lnTo>
                    <a:lnTo>
                      <a:pt x="921" y="2907"/>
                    </a:lnTo>
                    <a:lnTo>
                      <a:pt x="906" y="2933"/>
                    </a:lnTo>
                    <a:lnTo>
                      <a:pt x="885" y="2958"/>
                    </a:lnTo>
                    <a:lnTo>
                      <a:pt x="878" y="2965"/>
                    </a:lnTo>
                    <a:lnTo>
                      <a:pt x="855" y="2983"/>
                    </a:lnTo>
                    <a:lnTo>
                      <a:pt x="830" y="2997"/>
                    </a:lnTo>
                    <a:lnTo>
                      <a:pt x="802" y="3009"/>
                    </a:lnTo>
                    <a:lnTo>
                      <a:pt x="775" y="3014"/>
                    </a:lnTo>
                    <a:lnTo>
                      <a:pt x="745" y="3017"/>
                    </a:lnTo>
                    <a:lnTo>
                      <a:pt x="709" y="3013"/>
                    </a:lnTo>
                    <a:lnTo>
                      <a:pt x="675" y="3004"/>
                    </a:lnTo>
                    <a:lnTo>
                      <a:pt x="644" y="2990"/>
                    </a:lnTo>
                    <a:lnTo>
                      <a:pt x="616" y="2970"/>
                    </a:lnTo>
                    <a:lnTo>
                      <a:pt x="592" y="2946"/>
                    </a:lnTo>
                    <a:lnTo>
                      <a:pt x="572" y="2918"/>
                    </a:lnTo>
                    <a:lnTo>
                      <a:pt x="559" y="2887"/>
                    </a:lnTo>
                    <a:lnTo>
                      <a:pt x="549" y="2854"/>
                    </a:lnTo>
                    <a:lnTo>
                      <a:pt x="546" y="2819"/>
                    </a:lnTo>
                    <a:lnTo>
                      <a:pt x="548" y="2786"/>
                    </a:lnTo>
                    <a:lnTo>
                      <a:pt x="556" y="2752"/>
                    </a:lnTo>
                    <a:lnTo>
                      <a:pt x="570" y="2722"/>
                    </a:lnTo>
                    <a:lnTo>
                      <a:pt x="589" y="2694"/>
                    </a:lnTo>
                    <a:lnTo>
                      <a:pt x="613" y="2669"/>
                    </a:lnTo>
                    <a:lnTo>
                      <a:pt x="626" y="2658"/>
                    </a:lnTo>
                    <a:lnTo>
                      <a:pt x="626" y="2599"/>
                    </a:lnTo>
                    <a:lnTo>
                      <a:pt x="0" y="2599"/>
                    </a:lnTo>
                    <a:lnTo>
                      <a:pt x="0" y="2095"/>
                    </a:lnTo>
                    <a:lnTo>
                      <a:pt x="32" y="2111"/>
                    </a:lnTo>
                    <a:lnTo>
                      <a:pt x="67" y="2123"/>
                    </a:lnTo>
                    <a:lnTo>
                      <a:pt x="102" y="2130"/>
                    </a:lnTo>
                    <a:lnTo>
                      <a:pt x="139" y="2132"/>
                    </a:lnTo>
                    <a:lnTo>
                      <a:pt x="140" y="2132"/>
                    </a:lnTo>
                    <a:lnTo>
                      <a:pt x="181" y="2129"/>
                    </a:lnTo>
                    <a:lnTo>
                      <a:pt x="220" y="2121"/>
                    </a:lnTo>
                    <a:lnTo>
                      <a:pt x="257" y="2106"/>
                    </a:lnTo>
                    <a:lnTo>
                      <a:pt x="292" y="2087"/>
                    </a:lnTo>
                    <a:lnTo>
                      <a:pt x="323" y="2063"/>
                    </a:lnTo>
                    <a:lnTo>
                      <a:pt x="350" y="2035"/>
                    </a:lnTo>
                    <a:lnTo>
                      <a:pt x="374" y="2004"/>
                    </a:lnTo>
                    <a:lnTo>
                      <a:pt x="392" y="1971"/>
                    </a:lnTo>
                    <a:lnTo>
                      <a:pt x="406" y="1932"/>
                    </a:lnTo>
                    <a:lnTo>
                      <a:pt x="414" y="1893"/>
                    </a:lnTo>
                    <a:lnTo>
                      <a:pt x="418" y="1853"/>
                    </a:lnTo>
                    <a:lnTo>
                      <a:pt x="415" y="1817"/>
                    </a:lnTo>
                    <a:lnTo>
                      <a:pt x="408" y="1784"/>
                    </a:lnTo>
                    <a:lnTo>
                      <a:pt x="398" y="1750"/>
                    </a:lnTo>
                    <a:lnTo>
                      <a:pt x="383" y="1720"/>
                    </a:lnTo>
                    <a:lnTo>
                      <a:pt x="360" y="1684"/>
                    </a:lnTo>
                    <a:lnTo>
                      <a:pt x="332" y="1653"/>
                    </a:lnTo>
                    <a:lnTo>
                      <a:pt x="300" y="1627"/>
                    </a:lnTo>
                    <a:lnTo>
                      <a:pt x="264" y="1605"/>
                    </a:lnTo>
                    <a:lnTo>
                      <a:pt x="225" y="1588"/>
                    </a:lnTo>
                    <a:lnTo>
                      <a:pt x="183" y="1578"/>
                    </a:lnTo>
                    <a:lnTo>
                      <a:pt x="139" y="1575"/>
                    </a:lnTo>
                    <a:lnTo>
                      <a:pt x="138" y="1575"/>
                    </a:lnTo>
                    <a:lnTo>
                      <a:pt x="101" y="1578"/>
                    </a:lnTo>
                    <a:lnTo>
                      <a:pt x="65" y="1585"/>
                    </a:lnTo>
                    <a:lnTo>
                      <a:pt x="32" y="1597"/>
                    </a:lnTo>
                    <a:lnTo>
                      <a:pt x="0" y="1613"/>
                    </a:lnTo>
                    <a:lnTo>
                      <a:pt x="0" y="791"/>
                    </a:lnTo>
                    <a:lnTo>
                      <a:pt x="42" y="727"/>
                    </a:lnTo>
                    <a:lnTo>
                      <a:pt x="82" y="659"/>
                    </a:lnTo>
                    <a:lnTo>
                      <a:pt x="116" y="589"/>
                    </a:lnTo>
                    <a:lnTo>
                      <a:pt x="147" y="515"/>
                    </a:lnTo>
                    <a:lnTo>
                      <a:pt x="172" y="440"/>
                    </a:lnTo>
                    <a:lnTo>
                      <a:pt x="189" y="363"/>
                    </a:lnTo>
                    <a:lnTo>
                      <a:pt x="202" y="301"/>
                    </a:lnTo>
                    <a:lnTo>
                      <a:pt x="213" y="247"/>
                    </a:lnTo>
                    <a:lnTo>
                      <a:pt x="226" y="198"/>
                    </a:lnTo>
                    <a:lnTo>
                      <a:pt x="240" y="156"/>
                    </a:lnTo>
                    <a:lnTo>
                      <a:pt x="255" y="119"/>
                    </a:lnTo>
                    <a:lnTo>
                      <a:pt x="272" y="89"/>
                    </a:lnTo>
                    <a:lnTo>
                      <a:pt x="292" y="62"/>
                    </a:lnTo>
                    <a:lnTo>
                      <a:pt x="315" y="41"/>
                    </a:lnTo>
                    <a:lnTo>
                      <a:pt x="341" y="25"/>
                    </a:lnTo>
                    <a:lnTo>
                      <a:pt x="371" y="12"/>
                    </a:lnTo>
                    <a:lnTo>
                      <a:pt x="406" y="4"/>
                    </a:lnTo>
                    <a:lnTo>
                      <a:pt x="447" y="0"/>
                    </a:lnTo>
                    <a:close/>
                  </a:path>
                </a:pathLst>
              </a:custGeom>
              <a:gradFill>
                <a:gsLst>
                  <a:gs pos="0">
                    <a:srgbClr val="EC7626"/>
                  </a:gs>
                  <a:gs pos="100000">
                    <a:srgbClr val="AA4E0E"/>
                  </a:gs>
                </a:gsLst>
                <a:lin ang="13500000" scaled="0"/>
              </a:gradFill>
              <a:ln w="381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7" name="Google Shape;472;p20">
                <a:extLst>
                  <a:ext uri="{FF2B5EF4-FFF2-40B4-BE49-F238E27FC236}">
                    <a16:creationId xmlns:a16="http://schemas.microsoft.com/office/drawing/2014/main" id="{F445C21D-0ACB-8E6D-61CB-802B1A04814B}"/>
                  </a:ext>
                </a:extLst>
              </p:cNvPr>
              <p:cNvSpPr/>
              <p:nvPr/>
            </p:nvSpPr>
            <p:spPr>
              <a:xfrm>
                <a:off x="3697288" y="4002088"/>
                <a:ext cx="2328863" cy="2451100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1544" extrusionOk="0">
                    <a:moveTo>
                      <a:pt x="722" y="0"/>
                    </a:moveTo>
                    <a:lnTo>
                      <a:pt x="722" y="0"/>
                    </a:lnTo>
                    <a:lnTo>
                      <a:pt x="758" y="4"/>
                    </a:lnTo>
                    <a:lnTo>
                      <a:pt x="791" y="13"/>
                    </a:lnTo>
                    <a:lnTo>
                      <a:pt x="822" y="27"/>
                    </a:lnTo>
                    <a:lnTo>
                      <a:pt x="850" y="47"/>
                    </a:lnTo>
                    <a:lnTo>
                      <a:pt x="873" y="71"/>
                    </a:lnTo>
                    <a:lnTo>
                      <a:pt x="894" y="99"/>
                    </a:lnTo>
                    <a:lnTo>
                      <a:pt x="908" y="129"/>
                    </a:lnTo>
                    <a:lnTo>
                      <a:pt x="917" y="162"/>
                    </a:lnTo>
                    <a:lnTo>
                      <a:pt x="920" y="198"/>
                    </a:lnTo>
                    <a:lnTo>
                      <a:pt x="918" y="231"/>
                    </a:lnTo>
                    <a:lnTo>
                      <a:pt x="910" y="265"/>
                    </a:lnTo>
                    <a:lnTo>
                      <a:pt x="896" y="295"/>
                    </a:lnTo>
                    <a:lnTo>
                      <a:pt x="878" y="322"/>
                    </a:lnTo>
                    <a:lnTo>
                      <a:pt x="853" y="347"/>
                    </a:lnTo>
                    <a:lnTo>
                      <a:pt x="841" y="359"/>
                    </a:lnTo>
                    <a:lnTo>
                      <a:pt x="841" y="418"/>
                    </a:lnTo>
                    <a:lnTo>
                      <a:pt x="1467" y="418"/>
                    </a:lnTo>
                    <a:lnTo>
                      <a:pt x="1467" y="922"/>
                    </a:lnTo>
                    <a:lnTo>
                      <a:pt x="1434" y="906"/>
                    </a:lnTo>
                    <a:lnTo>
                      <a:pt x="1400" y="894"/>
                    </a:lnTo>
                    <a:lnTo>
                      <a:pt x="1364" y="887"/>
                    </a:lnTo>
                    <a:lnTo>
                      <a:pt x="1327" y="885"/>
                    </a:lnTo>
                    <a:lnTo>
                      <a:pt x="1326" y="885"/>
                    </a:lnTo>
                    <a:lnTo>
                      <a:pt x="1285" y="888"/>
                    </a:lnTo>
                    <a:lnTo>
                      <a:pt x="1246" y="896"/>
                    </a:lnTo>
                    <a:lnTo>
                      <a:pt x="1209" y="911"/>
                    </a:lnTo>
                    <a:lnTo>
                      <a:pt x="1174" y="930"/>
                    </a:lnTo>
                    <a:lnTo>
                      <a:pt x="1143" y="954"/>
                    </a:lnTo>
                    <a:lnTo>
                      <a:pt x="1117" y="982"/>
                    </a:lnTo>
                    <a:lnTo>
                      <a:pt x="1092" y="1013"/>
                    </a:lnTo>
                    <a:lnTo>
                      <a:pt x="1074" y="1046"/>
                    </a:lnTo>
                    <a:lnTo>
                      <a:pt x="1060" y="1084"/>
                    </a:lnTo>
                    <a:lnTo>
                      <a:pt x="1052" y="1124"/>
                    </a:lnTo>
                    <a:lnTo>
                      <a:pt x="1049" y="1164"/>
                    </a:lnTo>
                    <a:lnTo>
                      <a:pt x="1052" y="1209"/>
                    </a:lnTo>
                    <a:lnTo>
                      <a:pt x="1064" y="1252"/>
                    </a:lnTo>
                    <a:lnTo>
                      <a:pt x="1080" y="1292"/>
                    </a:lnTo>
                    <a:lnTo>
                      <a:pt x="1103" y="1328"/>
                    </a:lnTo>
                    <a:lnTo>
                      <a:pt x="1131" y="1360"/>
                    </a:lnTo>
                    <a:lnTo>
                      <a:pt x="1163" y="1388"/>
                    </a:lnTo>
                    <a:lnTo>
                      <a:pt x="1200" y="1411"/>
                    </a:lnTo>
                    <a:lnTo>
                      <a:pt x="1239" y="1427"/>
                    </a:lnTo>
                    <a:lnTo>
                      <a:pt x="1282" y="1438"/>
                    </a:lnTo>
                    <a:lnTo>
                      <a:pt x="1327" y="1442"/>
                    </a:lnTo>
                    <a:lnTo>
                      <a:pt x="1328" y="1442"/>
                    </a:lnTo>
                    <a:lnTo>
                      <a:pt x="1365" y="1439"/>
                    </a:lnTo>
                    <a:lnTo>
                      <a:pt x="1401" y="1432"/>
                    </a:lnTo>
                    <a:lnTo>
                      <a:pt x="1434" y="1420"/>
                    </a:lnTo>
                    <a:lnTo>
                      <a:pt x="1467" y="1404"/>
                    </a:lnTo>
                    <a:lnTo>
                      <a:pt x="1467" y="1544"/>
                    </a:lnTo>
                    <a:lnTo>
                      <a:pt x="1440" y="1544"/>
                    </a:lnTo>
                    <a:lnTo>
                      <a:pt x="1418" y="1544"/>
                    </a:lnTo>
                    <a:lnTo>
                      <a:pt x="1352" y="1544"/>
                    </a:lnTo>
                    <a:lnTo>
                      <a:pt x="1290" y="1542"/>
                    </a:lnTo>
                    <a:lnTo>
                      <a:pt x="1232" y="1539"/>
                    </a:lnTo>
                    <a:lnTo>
                      <a:pt x="1179" y="1537"/>
                    </a:lnTo>
                    <a:lnTo>
                      <a:pt x="1131" y="1534"/>
                    </a:lnTo>
                    <a:lnTo>
                      <a:pt x="1087" y="1530"/>
                    </a:lnTo>
                    <a:lnTo>
                      <a:pt x="1049" y="1526"/>
                    </a:lnTo>
                    <a:lnTo>
                      <a:pt x="1017" y="1522"/>
                    </a:lnTo>
                    <a:lnTo>
                      <a:pt x="992" y="1520"/>
                    </a:lnTo>
                    <a:lnTo>
                      <a:pt x="974" y="1517"/>
                    </a:lnTo>
                    <a:lnTo>
                      <a:pt x="962" y="1515"/>
                    </a:lnTo>
                    <a:lnTo>
                      <a:pt x="958" y="1515"/>
                    </a:lnTo>
                    <a:lnTo>
                      <a:pt x="955" y="1514"/>
                    </a:lnTo>
                    <a:lnTo>
                      <a:pt x="945" y="1511"/>
                    </a:lnTo>
                    <a:lnTo>
                      <a:pt x="930" y="1506"/>
                    </a:lnTo>
                    <a:lnTo>
                      <a:pt x="910" y="1500"/>
                    </a:lnTo>
                    <a:lnTo>
                      <a:pt x="887" y="1491"/>
                    </a:lnTo>
                    <a:lnTo>
                      <a:pt x="861" y="1481"/>
                    </a:lnTo>
                    <a:lnTo>
                      <a:pt x="835" y="1468"/>
                    </a:lnTo>
                    <a:lnTo>
                      <a:pt x="808" y="1453"/>
                    </a:lnTo>
                    <a:lnTo>
                      <a:pt x="782" y="1437"/>
                    </a:lnTo>
                    <a:lnTo>
                      <a:pt x="758" y="1417"/>
                    </a:lnTo>
                    <a:lnTo>
                      <a:pt x="736" y="1395"/>
                    </a:lnTo>
                    <a:lnTo>
                      <a:pt x="717" y="1372"/>
                    </a:lnTo>
                    <a:lnTo>
                      <a:pt x="703" y="1345"/>
                    </a:lnTo>
                    <a:lnTo>
                      <a:pt x="0" y="1319"/>
                    </a:lnTo>
                    <a:lnTo>
                      <a:pt x="2" y="418"/>
                    </a:lnTo>
                    <a:lnTo>
                      <a:pt x="671" y="418"/>
                    </a:lnTo>
                    <a:lnTo>
                      <a:pt x="591" y="348"/>
                    </a:lnTo>
                    <a:lnTo>
                      <a:pt x="568" y="324"/>
                    </a:lnTo>
                    <a:lnTo>
                      <a:pt x="548" y="296"/>
                    </a:lnTo>
                    <a:lnTo>
                      <a:pt x="535" y="266"/>
                    </a:lnTo>
                    <a:lnTo>
                      <a:pt x="527" y="234"/>
                    </a:lnTo>
                    <a:lnTo>
                      <a:pt x="523" y="200"/>
                    </a:lnTo>
                    <a:lnTo>
                      <a:pt x="527" y="164"/>
                    </a:lnTo>
                    <a:lnTo>
                      <a:pt x="536" y="131"/>
                    </a:lnTo>
                    <a:lnTo>
                      <a:pt x="550" y="100"/>
                    </a:lnTo>
                    <a:lnTo>
                      <a:pt x="569" y="72"/>
                    </a:lnTo>
                    <a:lnTo>
                      <a:pt x="594" y="48"/>
                    </a:lnTo>
                    <a:lnTo>
                      <a:pt x="621" y="28"/>
                    </a:lnTo>
                    <a:lnTo>
                      <a:pt x="652" y="13"/>
                    </a:lnTo>
                    <a:lnTo>
                      <a:pt x="686" y="4"/>
                    </a:lnTo>
                    <a:lnTo>
                      <a:pt x="722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D453"/>
                  </a:gs>
                  <a:gs pos="100000">
                    <a:srgbClr val="E5AC00"/>
                  </a:gs>
                </a:gsLst>
                <a:lin ang="10800000" scaled="0"/>
              </a:gradFill>
              <a:ln w="2857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" name="Google Shape;473;p20">
                <a:extLst>
                  <a:ext uri="{FF2B5EF4-FFF2-40B4-BE49-F238E27FC236}">
                    <a16:creationId xmlns:a16="http://schemas.microsoft.com/office/drawing/2014/main" id="{7677E47F-755E-28D8-4B0F-6D0565223857}"/>
                  </a:ext>
                </a:extLst>
              </p:cNvPr>
              <p:cNvSpPr/>
              <p:nvPr/>
            </p:nvSpPr>
            <p:spPr>
              <a:xfrm>
                <a:off x="3700463" y="1825626"/>
                <a:ext cx="2990850" cy="2714625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1710" extrusionOk="0">
                    <a:moveTo>
                      <a:pt x="1465" y="0"/>
                    </a:moveTo>
                    <a:lnTo>
                      <a:pt x="1465" y="914"/>
                    </a:lnTo>
                    <a:lnTo>
                      <a:pt x="1535" y="835"/>
                    </a:lnTo>
                    <a:lnTo>
                      <a:pt x="1542" y="826"/>
                    </a:lnTo>
                    <a:lnTo>
                      <a:pt x="1550" y="818"/>
                    </a:lnTo>
                    <a:lnTo>
                      <a:pt x="1573" y="800"/>
                    </a:lnTo>
                    <a:lnTo>
                      <a:pt x="1599" y="786"/>
                    </a:lnTo>
                    <a:lnTo>
                      <a:pt x="1625" y="774"/>
                    </a:lnTo>
                    <a:lnTo>
                      <a:pt x="1654" y="769"/>
                    </a:lnTo>
                    <a:lnTo>
                      <a:pt x="1684" y="766"/>
                    </a:lnTo>
                    <a:lnTo>
                      <a:pt x="1685" y="766"/>
                    </a:lnTo>
                    <a:lnTo>
                      <a:pt x="1721" y="770"/>
                    </a:lnTo>
                    <a:lnTo>
                      <a:pt x="1755" y="779"/>
                    </a:lnTo>
                    <a:lnTo>
                      <a:pt x="1787" y="794"/>
                    </a:lnTo>
                    <a:lnTo>
                      <a:pt x="1815" y="815"/>
                    </a:lnTo>
                    <a:lnTo>
                      <a:pt x="1839" y="839"/>
                    </a:lnTo>
                    <a:lnTo>
                      <a:pt x="1859" y="868"/>
                    </a:lnTo>
                    <a:lnTo>
                      <a:pt x="1872" y="899"/>
                    </a:lnTo>
                    <a:lnTo>
                      <a:pt x="1882" y="934"/>
                    </a:lnTo>
                    <a:lnTo>
                      <a:pt x="1884" y="964"/>
                    </a:lnTo>
                    <a:lnTo>
                      <a:pt x="1882" y="994"/>
                    </a:lnTo>
                    <a:lnTo>
                      <a:pt x="1877" y="1013"/>
                    </a:lnTo>
                    <a:lnTo>
                      <a:pt x="1871" y="1032"/>
                    </a:lnTo>
                    <a:lnTo>
                      <a:pt x="1865" y="1046"/>
                    </a:lnTo>
                    <a:lnTo>
                      <a:pt x="1850" y="1075"/>
                    </a:lnTo>
                    <a:lnTo>
                      <a:pt x="1831" y="1099"/>
                    </a:lnTo>
                    <a:lnTo>
                      <a:pt x="1808" y="1121"/>
                    </a:lnTo>
                    <a:lnTo>
                      <a:pt x="1780" y="1138"/>
                    </a:lnTo>
                    <a:lnTo>
                      <a:pt x="1751" y="1152"/>
                    </a:lnTo>
                    <a:lnTo>
                      <a:pt x="1719" y="1160"/>
                    </a:lnTo>
                    <a:lnTo>
                      <a:pt x="1685" y="1164"/>
                    </a:lnTo>
                    <a:lnTo>
                      <a:pt x="1685" y="1164"/>
                    </a:lnTo>
                    <a:lnTo>
                      <a:pt x="1655" y="1161"/>
                    </a:lnTo>
                    <a:lnTo>
                      <a:pt x="1626" y="1154"/>
                    </a:lnTo>
                    <a:lnTo>
                      <a:pt x="1600" y="1144"/>
                    </a:lnTo>
                    <a:lnTo>
                      <a:pt x="1574" y="1129"/>
                    </a:lnTo>
                    <a:lnTo>
                      <a:pt x="1550" y="1112"/>
                    </a:lnTo>
                    <a:lnTo>
                      <a:pt x="1543" y="1105"/>
                    </a:lnTo>
                    <a:lnTo>
                      <a:pt x="1536" y="1097"/>
                    </a:lnTo>
                    <a:lnTo>
                      <a:pt x="1525" y="1083"/>
                    </a:lnTo>
                    <a:lnTo>
                      <a:pt x="1465" y="1083"/>
                    </a:lnTo>
                    <a:lnTo>
                      <a:pt x="1465" y="1710"/>
                    </a:lnTo>
                    <a:lnTo>
                      <a:pt x="961" y="1710"/>
                    </a:lnTo>
                    <a:lnTo>
                      <a:pt x="977" y="1676"/>
                    </a:lnTo>
                    <a:lnTo>
                      <a:pt x="989" y="1642"/>
                    </a:lnTo>
                    <a:lnTo>
                      <a:pt x="997" y="1606"/>
                    </a:lnTo>
                    <a:lnTo>
                      <a:pt x="999" y="1569"/>
                    </a:lnTo>
                    <a:lnTo>
                      <a:pt x="995" y="1524"/>
                    </a:lnTo>
                    <a:lnTo>
                      <a:pt x="984" y="1481"/>
                    </a:lnTo>
                    <a:lnTo>
                      <a:pt x="967" y="1442"/>
                    </a:lnTo>
                    <a:lnTo>
                      <a:pt x="945" y="1405"/>
                    </a:lnTo>
                    <a:lnTo>
                      <a:pt x="916" y="1373"/>
                    </a:lnTo>
                    <a:lnTo>
                      <a:pt x="884" y="1345"/>
                    </a:lnTo>
                    <a:lnTo>
                      <a:pt x="848" y="1322"/>
                    </a:lnTo>
                    <a:lnTo>
                      <a:pt x="807" y="1306"/>
                    </a:lnTo>
                    <a:lnTo>
                      <a:pt x="765" y="1295"/>
                    </a:lnTo>
                    <a:lnTo>
                      <a:pt x="720" y="1292"/>
                    </a:lnTo>
                    <a:lnTo>
                      <a:pt x="719" y="1292"/>
                    </a:lnTo>
                    <a:lnTo>
                      <a:pt x="678" y="1294"/>
                    </a:lnTo>
                    <a:lnTo>
                      <a:pt x="639" y="1303"/>
                    </a:lnTo>
                    <a:lnTo>
                      <a:pt x="602" y="1317"/>
                    </a:lnTo>
                    <a:lnTo>
                      <a:pt x="567" y="1337"/>
                    </a:lnTo>
                    <a:lnTo>
                      <a:pt x="536" y="1360"/>
                    </a:lnTo>
                    <a:lnTo>
                      <a:pt x="510" y="1388"/>
                    </a:lnTo>
                    <a:lnTo>
                      <a:pt x="485" y="1419"/>
                    </a:lnTo>
                    <a:lnTo>
                      <a:pt x="467" y="1453"/>
                    </a:lnTo>
                    <a:lnTo>
                      <a:pt x="453" y="1490"/>
                    </a:lnTo>
                    <a:lnTo>
                      <a:pt x="444" y="1530"/>
                    </a:lnTo>
                    <a:lnTo>
                      <a:pt x="441" y="1571"/>
                    </a:lnTo>
                    <a:lnTo>
                      <a:pt x="444" y="1607"/>
                    </a:lnTo>
                    <a:lnTo>
                      <a:pt x="451" y="1643"/>
                    </a:lnTo>
                    <a:lnTo>
                      <a:pt x="463" y="1677"/>
                    </a:lnTo>
                    <a:lnTo>
                      <a:pt x="478" y="1710"/>
                    </a:lnTo>
                    <a:lnTo>
                      <a:pt x="0" y="1710"/>
                    </a:lnTo>
                    <a:lnTo>
                      <a:pt x="2" y="1079"/>
                    </a:lnTo>
                    <a:lnTo>
                      <a:pt x="698" y="1079"/>
                    </a:lnTo>
                    <a:lnTo>
                      <a:pt x="698" y="1078"/>
                    </a:lnTo>
                    <a:lnTo>
                      <a:pt x="699" y="1075"/>
                    </a:lnTo>
                    <a:lnTo>
                      <a:pt x="701" y="1070"/>
                    </a:lnTo>
                    <a:lnTo>
                      <a:pt x="705" y="1062"/>
                    </a:lnTo>
                    <a:lnTo>
                      <a:pt x="710" y="1052"/>
                    </a:lnTo>
                    <a:lnTo>
                      <a:pt x="716" y="1039"/>
                    </a:lnTo>
                    <a:lnTo>
                      <a:pt x="725" y="1022"/>
                    </a:lnTo>
                    <a:lnTo>
                      <a:pt x="736" y="1002"/>
                    </a:lnTo>
                    <a:lnTo>
                      <a:pt x="747" y="979"/>
                    </a:lnTo>
                    <a:lnTo>
                      <a:pt x="762" y="952"/>
                    </a:lnTo>
                    <a:lnTo>
                      <a:pt x="780" y="921"/>
                    </a:lnTo>
                    <a:lnTo>
                      <a:pt x="799" y="885"/>
                    </a:lnTo>
                    <a:lnTo>
                      <a:pt x="823" y="845"/>
                    </a:lnTo>
                    <a:lnTo>
                      <a:pt x="848" y="801"/>
                    </a:lnTo>
                    <a:lnTo>
                      <a:pt x="878" y="748"/>
                    </a:lnTo>
                    <a:lnTo>
                      <a:pt x="910" y="691"/>
                    </a:lnTo>
                    <a:lnTo>
                      <a:pt x="944" y="634"/>
                    </a:lnTo>
                    <a:lnTo>
                      <a:pt x="980" y="572"/>
                    </a:lnTo>
                    <a:lnTo>
                      <a:pt x="1017" y="512"/>
                    </a:lnTo>
                    <a:lnTo>
                      <a:pt x="1056" y="451"/>
                    </a:lnTo>
                    <a:lnTo>
                      <a:pt x="1095" y="392"/>
                    </a:lnTo>
                    <a:lnTo>
                      <a:pt x="1136" y="335"/>
                    </a:lnTo>
                    <a:lnTo>
                      <a:pt x="1176" y="280"/>
                    </a:lnTo>
                    <a:lnTo>
                      <a:pt x="1216" y="230"/>
                    </a:lnTo>
                    <a:lnTo>
                      <a:pt x="1258" y="185"/>
                    </a:lnTo>
                    <a:lnTo>
                      <a:pt x="1300" y="145"/>
                    </a:lnTo>
                    <a:lnTo>
                      <a:pt x="1340" y="113"/>
                    </a:lnTo>
                    <a:lnTo>
                      <a:pt x="1383" y="79"/>
                    </a:lnTo>
                    <a:lnTo>
                      <a:pt x="1424" y="42"/>
                    </a:lnTo>
                    <a:lnTo>
                      <a:pt x="146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A67B8"/>
                  </a:gs>
                  <a:gs pos="100000">
                    <a:srgbClr val="1F3762"/>
                  </a:gs>
                </a:gsLst>
                <a:lin ang="13500000" scaled="0"/>
              </a:gradFill>
              <a:ln w="381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" name="Google Shape;474;p20">
                <a:extLst>
                  <a:ext uri="{FF2B5EF4-FFF2-40B4-BE49-F238E27FC236}">
                    <a16:creationId xmlns:a16="http://schemas.microsoft.com/office/drawing/2014/main" id="{8C3C9131-7464-932E-16C8-D411055B3147}"/>
                  </a:ext>
                </a:extLst>
              </p:cNvPr>
              <p:cNvSpPr/>
              <p:nvPr/>
            </p:nvSpPr>
            <p:spPr>
              <a:xfrm>
                <a:off x="5487988" y="4665663"/>
                <a:ext cx="2905125" cy="1785938"/>
              </a:xfrm>
              <a:custGeom>
                <a:avLst/>
                <a:gdLst/>
                <a:ahLst/>
                <a:cxnLst/>
                <a:rect l="l" t="t" r="r" b="b"/>
                <a:pathLst>
                  <a:path w="1830" h="1125" extrusionOk="0">
                    <a:moveTo>
                      <a:pt x="420" y="0"/>
                    </a:moveTo>
                    <a:lnTo>
                      <a:pt x="923" y="0"/>
                    </a:lnTo>
                    <a:lnTo>
                      <a:pt x="907" y="34"/>
                    </a:lnTo>
                    <a:lnTo>
                      <a:pt x="895" y="68"/>
                    </a:lnTo>
                    <a:lnTo>
                      <a:pt x="887" y="104"/>
                    </a:lnTo>
                    <a:lnTo>
                      <a:pt x="885" y="141"/>
                    </a:lnTo>
                    <a:lnTo>
                      <a:pt x="887" y="169"/>
                    </a:lnTo>
                    <a:lnTo>
                      <a:pt x="891" y="195"/>
                    </a:lnTo>
                    <a:lnTo>
                      <a:pt x="891" y="197"/>
                    </a:lnTo>
                    <a:lnTo>
                      <a:pt x="903" y="238"/>
                    </a:lnTo>
                    <a:lnTo>
                      <a:pt x="921" y="276"/>
                    </a:lnTo>
                    <a:lnTo>
                      <a:pt x="944" y="311"/>
                    </a:lnTo>
                    <a:lnTo>
                      <a:pt x="972" y="342"/>
                    </a:lnTo>
                    <a:lnTo>
                      <a:pt x="1004" y="367"/>
                    </a:lnTo>
                    <a:lnTo>
                      <a:pt x="1040" y="389"/>
                    </a:lnTo>
                    <a:lnTo>
                      <a:pt x="1079" y="406"/>
                    </a:lnTo>
                    <a:lnTo>
                      <a:pt x="1121" y="415"/>
                    </a:lnTo>
                    <a:lnTo>
                      <a:pt x="1165" y="418"/>
                    </a:lnTo>
                    <a:lnTo>
                      <a:pt x="1166" y="418"/>
                    </a:lnTo>
                    <a:lnTo>
                      <a:pt x="1180" y="418"/>
                    </a:lnTo>
                    <a:lnTo>
                      <a:pt x="1206" y="416"/>
                    </a:lnTo>
                    <a:lnTo>
                      <a:pt x="1220" y="414"/>
                    </a:lnTo>
                    <a:lnTo>
                      <a:pt x="1240" y="408"/>
                    </a:lnTo>
                    <a:lnTo>
                      <a:pt x="1273" y="396"/>
                    </a:lnTo>
                    <a:lnTo>
                      <a:pt x="1305" y="380"/>
                    </a:lnTo>
                    <a:lnTo>
                      <a:pt x="1335" y="361"/>
                    </a:lnTo>
                    <a:lnTo>
                      <a:pt x="1362" y="336"/>
                    </a:lnTo>
                    <a:lnTo>
                      <a:pt x="1385" y="311"/>
                    </a:lnTo>
                    <a:lnTo>
                      <a:pt x="1405" y="282"/>
                    </a:lnTo>
                    <a:lnTo>
                      <a:pt x="1420" y="252"/>
                    </a:lnTo>
                    <a:lnTo>
                      <a:pt x="1430" y="223"/>
                    </a:lnTo>
                    <a:lnTo>
                      <a:pt x="1438" y="194"/>
                    </a:lnTo>
                    <a:lnTo>
                      <a:pt x="1442" y="167"/>
                    </a:lnTo>
                    <a:lnTo>
                      <a:pt x="1443" y="139"/>
                    </a:lnTo>
                    <a:lnTo>
                      <a:pt x="1441" y="102"/>
                    </a:lnTo>
                    <a:lnTo>
                      <a:pt x="1434" y="67"/>
                    </a:lnTo>
                    <a:lnTo>
                      <a:pt x="1421" y="33"/>
                    </a:lnTo>
                    <a:lnTo>
                      <a:pt x="1406" y="0"/>
                    </a:lnTo>
                    <a:lnTo>
                      <a:pt x="1830" y="0"/>
                    </a:lnTo>
                    <a:lnTo>
                      <a:pt x="1815" y="29"/>
                    </a:lnTo>
                    <a:lnTo>
                      <a:pt x="1797" y="56"/>
                    </a:lnTo>
                    <a:lnTo>
                      <a:pt x="1780" y="78"/>
                    </a:lnTo>
                    <a:lnTo>
                      <a:pt x="1763" y="97"/>
                    </a:lnTo>
                    <a:lnTo>
                      <a:pt x="1747" y="115"/>
                    </a:lnTo>
                    <a:lnTo>
                      <a:pt x="1730" y="127"/>
                    </a:lnTo>
                    <a:lnTo>
                      <a:pt x="1718" y="138"/>
                    </a:lnTo>
                    <a:lnTo>
                      <a:pt x="1709" y="145"/>
                    </a:lnTo>
                    <a:lnTo>
                      <a:pt x="1702" y="149"/>
                    </a:lnTo>
                    <a:lnTo>
                      <a:pt x="1699" y="150"/>
                    </a:lnTo>
                    <a:lnTo>
                      <a:pt x="1700" y="154"/>
                    </a:lnTo>
                    <a:lnTo>
                      <a:pt x="1706" y="161"/>
                    </a:lnTo>
                    <a:lnTo>
                      <a:pt x="1713" y="174"/>
                    </a:lnTo>
                    <a:lnTo>
                      <a:pt x="1722" y="190"/>
                    </a:lnTo>
                    <a:lnTo>
                      <a:pt x="1732" y="210"/>
                    </a:lnTo>
                    <a:lnTo>
                      <a:pt x="1742" y="235"/>
                    </a:lnTo>
                    <a:lnTo>
                      <a:pt x="1751" y="262"/>
                    </a:lnTo>
                    <a:lnTo>
                      <a:pt x="1759" y="294"/>
                    </a:lnTo>
                    <a:lnTo>
                      <a:pt x="1765" y="327"/>
                    </a:lnTo>
                    <a:lnTo>
                      <a:pt x="1767" y="364"/>
                    </a:lnTo>
                    <a:lnTo>
                      <a:pt x="1766" y="402"/>
                    </a:lnTo>
                    <a:lnTo>
                      <a:pt x="1762" y="433"/>
                    </a:lnTo>
                    <a:lnTo>
                      <a:pt x="1754" y="462"/>
                    </a:lnTo>
                    <a:lnTo>
                      <a:pt x="1741" y="490"/>
                    </a:lnTo>
                    <a:lnTo>
                      <a:pt x="1727" y="515"/>
                    </a:lnTo>
                    <a:lnTo>
                      <a:pt x="1710" y="538"/>
                    </a:lnTo>
                    <a:lnTo>
                      <a:pt x="1692" y="560"/>
                    </a:lnTo>
                    <a:lnTo>
                      <a:pt x="1674" y="579"/>
                    </a:lnTo>
                    <a:lnTo>
                      <a:pt x="1657" y="596"/>
                    </a:lnTo>
                    <a:lnTo>
                      <a:pt x="1639" y="611"/>
                    </a:lnTo>
                    <a:lnTo>
                      <a:pt x="1623" y="623"/>
                    </a:lnTo>
                    <a:lnTo>
                      <a:pt x="1610" y="633"/>
                    </a:lnTo>
                    <a:lnTo>
                      <a:pt x="1600" y="640"/>
                    </a:lnTo>
                    <a:lnTo>
                      <a:pt x="1593" y="645"/>
                    </a:lnTo>
                    <a:lnTo>
                      <a:pt x="1591" y="646"/>
                    </a:lnTo>
                    <a:lnTo>
                      <a:pt x="1593" y="648"/>
                    </a:lnTo>
                    <a:lnTo>
                      <a:pt x="1598" y="655"/>
                    </a:lnTo>
                    <a:lnTo>
                      <a:pt x="1605" y="666"/>
                    </a:lnTo>
                    <a:lnTo>
                      <a:pt x="1613" y="682"/>
                    </a:lnTo>
                    <a:lnTo>
                      <a:pt x="1622" y="700"/>
                    </a:lnTo>
                    <a:lnTo>
                      <a:pt x="1630" y="722"/>
                    </a:lnTo>
                    <a:lnTo>
                      <a:pt x="1638" y="746"/>
                    </a:lnTo>
                    <a:lnTo>
                      <a:pt x="1643" y="774"/>
                    </a:lnTo>
                    <a:lnTo>
                      <a:pt x="1645" y="805"/>
                    </a:lnTo>
                    <a:lnTo>
                      <a:pt x="1644" y="837"/>
                    </a:lnTo>
                    <a:lnTo>
                      <a:pt x="1638" y="871"/>
                    </a:lnTo>
                    <a:lnTo>
                      <a:pt x="1625" y="909"/>
                    </a:lnTo>
                    <a:lnTo>
                      <a:pt x="1610" y="946"/>
                    </a:lnTo>
                    <a:lnTo>
                      <a:pt x="1591" y="979"/>
                    </a:lnTo>
                    <a:lnTo>
                      <a:pt x="1568" y="1012"/>
                    </a:lnTo>
                    <a:lnTo>
                      <a:pt x="1542" y="1039"/>
                    </a:lnTo>
                    <a:lnTo>
                      <a:pt x="1513" y="1064"/>
                    </a:lnTo>
                    <a:lnTo>
                      <a:pt x="1482" y="1083"/>
                    </a:lnTo>
                    <a:lnTo>
                      <a:pt x="1447" y="1098"/>
                    </a:lnTo>
                    <a:lnTo>
                      <a:pt x="1412" y="1108"/>
                    </a:lnTo>
                    <a:lnTo>
                      <a:pt x="1374" y="1111"/>
                    </a:lnTo>
                    <a:lnTo>
                      <a:pt x="1359" y="1111"/>
                    </a:lnTo>
                    <a:lnTo>
                      <a:pt x="1337" y="1112"/>
                    </a:lnTo>
                    <a:lnTo>
                      <a:pt x="1307" y="1112"/>
                    </a:lnTo>
                    <a:lnTo>
                      <a:pt x="1270" y="1112"/>
                    </a:lnTo>
                    <a:lnTo>
                      <a:pt x="1227" y="1113"/>
                    </a:lnTo>
                    <a:lnTo>
                      <a:pt x="1180" y="1113"/>
                    </a:lnTo>
                    <a:lnTo>
                      <a:pt x="1128" y="1114"/>
                    </a:lnTo>
                    <a:lnTo>
                      <a:pt x="1071" y="1116"/>
                    </a:lnTo>
                    <a:lnTo>
                      <a:pt x="1013" y="1117"/>
                    </a:lnTo>
                    <a:lnTo>
                      <a:pt x="952" y="1117"/>
                    </a:lnTo>
                    <a:lnTo>
                      <a:pt x="890" y="1118"/>
                    </a:lnTo>
                    <a:lnTo>
                      <a:pt x="826" y="1119"/>
                    </a:lnTo>
                    <a:lnTo>
                      <a:pt x="763" y="1120"/>
                    </a:lnTo>
                    <a:lnTo>
                      <a:pt x="699" y="1121"/>
                    </a:lnTo>
                    <a:lnTo>
                      <a:pt x="638" y="1121"/>
                    </a:lnTo>
                    <a:lnTo>
                      <a:pt x="578" y="1123"/>
                    </a:lnTo>
                    <a:lnTo>
                      <a:pt x="521" y="1124"/>
                    </a:lnTo>
                    <a:lnTo>
                      <a:pt x="468" y="1124"/>
                    </a:lnTo>
                    <a:lnTo>
                      <a:pt x="420" y="1125"/>
                    </a:lnTo>
                    <a:lnTo>
                      <a:pt x="420" y="796"/>
                    </a:lnTo>
                    <a:lnTo>
                      <a:pt x="349" y="875"/>
                    </a:lnTo>
                    <a:lnTo>
                      <a:pt x="342" y="884"/>
                    </a:lnTo>
                    <a:lnTo>
                      <a:pt x="334" y="892"/>
                    </a:lnTo>
                    <a:lnTo>
                      <a:pt x="311" y="910"/>
                    </a:lnTo>
                    <a:lnTo>
                      <a:pt x="286" y="924"/>
                    </a:lnTo>
                    <a:lnTo>
                      <a:pt x="258" y="934"/>
                    </a:lnTo>
                    <a:lnTo>
                      <a:pt x="230" y="941"/>
                    </a:lnTo>
                    <a:lnTo>
                      <a:pt x="200" y="944"/>
                    </a:lnTo>
                    <a:lnTo>
                      <a:pt x="199" y="944"/>
                    </a:lnTo>
                    <a:lnTo>
                      <a:pt x="164" y="941"/>
                    </a:lnTo>
                    <a:lnTo>
                      <a:pt x="131" y="932"/>
                    </a:lnTo>
                    <a:lnTo>
                      <a:pt x="100" y="917"/>
                    </a:lnTo>
                    <a:lnTo>
                      <a:pt x="72" y="897"/>
                    </a:lnTo>
                    <a:lnTo>
                      <a:pt x="48" y="873"/>
                    </a:lnTo>
                    <a:lnTo>
                      <a:pt x="28" y="845"/>
                    </a:lnTo>
                    <a:lnTo>
                      <a:pt x="13" y="815"/>
                    </a:lnTo>
                    <a:lnTo>
                      <a:pt x="4" y="782"/>
                    </a:lnTo>
                    <a:lnTo>
                      <a:pt x="0" y="746"/>
                    </a:lnTo>
                    <a:lnTo>
                      <a:pt x="4" y="710"/>
                    </a:lnTo>
                    <a:lnTo>
                      <a:pt x="13" y="677"/>
                    </a:lnTo>
                    <a:lnTo>
                      <a:pt x="28" y="646"/>
                    </a:lnTo>
                    <a:lnTo>
                      <a:pt x="46" y="618"/>
                    </a:lnTo>
                    <a:lnTo>
                      <a:pt x="71" y="594"/>
                    </a:lnTo>
                    <a:lnTo>
                      <a:pt x="98" y="574"/>
                    </a:lnTo>
                    <a:lnTo>
                      <a:pt x="130" y="559"/>
                    </a:lnTo>
                    <a:lnTo>
                      <a:pt x="163" y="550"/>
                    </a:lnTo>
                    <a:lnTo>
                      <a:pt x="199" y="546"/>
                    </a:lnTo>
                    <a:lnTo>
                      <a:pt x="199" y="546"/>
                    </a:lnTo>
                    <a:lnTo>
                      <a:pt x="234" y="550"/>
                    </a:lnTo>
                    <a:lnTo>
                      <a:pt x="265" y="558"/>
                    </a:lnTo>
                    <a:lnTo>
                      <a:pt x="296" y="572"/>
                    </a:lnTo>
                    <a:lnTo>
                      <a:pt x="324" y="590"/>
                    </a:lnTo>
                    <a:lnTo>
                      <a:pt x="348" y="613"/>
                    </a:lnTo>
                    <a:lnTo>
                      <a:pt x="359" y="627"/>
                    </a:lnTo>
                    <a:lnTo>
                      <a:pt x="420" y="627"/>
                    </a:lnTo>
                    <a:lnTo>
                      <a:pt x="420" y="0"/>
                    </a:lnTo>
                    <a:close/>
                  </a:path>
                </a:pathLst>
              </a:custGeom>
              <a:gradFill>
                <a:gsLst>
                  <a:gs pos="0">
                    <a:srgbClr val="D4D4D4"/>
                  </a:gs>
                  <a:gs pos="100000">
                    <a:srgbClr val="A0A0A0"/>
                  </a:gs>
                </a:gsLst>
                <a:lin ang="2700000" scaled="0"/>
              </a:gradFill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" name="Google Shape;475;p20">
              <a:extLst>
                <a:ext uri="{FF2B5EF4-FFF2-40B4-BE49-F238E27FC236}">
                  <a16:creationId xmlns:a16="http://schemas.microsoft.com/office/drawing/2014/main" id="{3CF1C3C6-E717-2B1F-76E4-56DCF35DB990}"/>
                </a:ext>
              </a:extLst>
            </p:cNvPr>
            <p:cNvGrpSpPr/>
            <p:nvPr/>
          </p:nvGrpSpPr>
          <p:grpSpPr>
            <a:xfrm>
              <a:off x="5914873" y="3765258"/>
              <a:ext cx="1447338" cy="740414"/>
              <a:chOff x="2220087" y="1905000"/>
              <a:chExt cx="2197925" cy="838200"/>
            </a:xfrm>
          </p:grpSpPr>
          <p:cxnSp>
            <p:nvCxnSpPr>
              <p:cNvPr id="14" name="Google Shape;476;p20">
                <a:extLst>
                  <a:ext uri="{FF2B5EF4-FFF2-40B4-BE49-F238E27FC236}">
                    <a16:creationId xmlns:a16="http://schemas.microsoft.com/office/drawing/2014/main" id="{7E23DD13-6D26-77C3-8758-65A2F9670F21}"/>
                  </a:ext>
                </a:extLst>
              </p:cNvPr>
              <p:cNvCxnSpPr/>
              <p:nvPr/>
            </p:nvCxnSpPr>
            <p:spPr>
              <a:xfrm>
                <a:off x="2220087" y="1905000"/>
                <a:ext cx="1371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 lim="800000"/>
                <a:headEnd type="oval" w="lg" len="lg"/>
                <a:tailEnd type="none" w="sm" len="sm"/>
              </a:ln>
            </p:spPr>
          </p:cxnSp>
          <p:cxnSp>
            <p:nvCxnSpPr>
              <p:cNvPr id="15" name="Google Shape;477;p20">
                <a:extLst>
                  <a:ext uri="{FF2B5EF4-FFF2-40B4-BE49-F238E27FC236}">
                    <a16:creationId xmlns:a16="http://schemas.microsoft.com/office/drawing/2014/main" id="{6349436D-49EF-DCB3-F899-A19D46FCF441}"/>
                  </a:ext>
                </a:extLst>
              </p:cNvPr>
              <p:cNvCxnSpPr/>
              <p:nvPr/>
            </p:nvCxnSpPr>
            <p:spPr>
              <a:xfrm>
                <a:off x="3579812" y="1905000"/>
                <a:ext cx="838200" cy="838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5" name="Google Shape;478;p20">
              <a:extLst>
                <a:ext uri="{FF2B5EF4-FFF2-40B4-BE49-F238E27FC236}">
                  <a16:creationId xmlns:a16="http://schemas.microsoft.com/office/drawing/2014/main" id="{B69B2C3C-5083-1ADE-9FF1-BC1A0095C0F8}"/>
                </a:ext>
              </a:extLst>
            </p:cNvPr>
            <p:cNvGrpSpPr/>
            <p:nvPr/>
          </p:nvGrpSpPr>
          <p:grpSpPr>
            <a:xfrm flipH="1">
              <a:off x="9036976" y="3765258"/>
              <a:ext cx="1447338" cy="740414"/>
              <a:chOff x="2220087" y="1905000"/>
              <a:chExt cx="2197925" cy="838200"/>
            </a:xfrm>
          </p:grpSpPr>
          <p:cxnSp>
            <p:nvCxnSpPr>
              <p:cNvPr id="12" name="Google Shape;479;p20">
                <a:extLst>
                  <a:ext uri="{FF2B5EF4-FFF2-40B4-BE49-F238E27FC236}">
                    <a16:creationId xmlns:a16="http://schemas.microsoft.com/office/drawing/2014/main" id="{6E71B35D-DA2E-E601-8D67-FA406701E4EB}"/>
                  </a:ext>
                </a:extLst>
              </p:cNvPr>
              <p:cNvCxnSpPr/>
              <p:nvPr/>
            </p:nvCxnSpPr>
            <p:spPr>
              <a:xfrm>
                <a:off x="2220087" y="1905000"/>
                <a:ext cx="1371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/>
                </a:solidFill>
                <a:prstDash val="solid"/>
                <a:miter lim="800000"/>
                <a:headEnd type="oval" w="lg" len="lg"/>
                <a:tailEnd type="none" w="sm" len="sm"/>
              </a:ln>
            </p:spPr>
          </p:cxnSp>
          <p:cxnSp>
            <p:nvCxnSpPr>
              <p:cNvPr id="13" name="Google Shape;480;p20">
                <a:extLst>
                  <a:ext uri="{FF2B5EF4-FFF2-40B4-BE49-F238E27FC236}">
                    <a16:creationId xmlns:a16="http://schemas.microsoft.com/office/drawing/2014/main" id="{11F8011B-BC2C-85E4-D2FE-2ECC7E698450}"/>
                  </a:ext>
                </a:extLst>
              </p:cNvPr>
              <p:cNvCxnSpPr/>
              <p:nvPr/>
            </p:nvCxnSpPr>
            <p:spPr>
              <a:xfrm>
                <a:off x="3579812" y="1905000"/>
                <a:ext cx="838200" cy="838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" name="Google Shape;481;p20">
              <a:extLst>
                <a:ext uri="{FF2B5EF4-FFF2-40B4-BE49-F238E27FC236}">
                  <a16:creationId xmlns:a16="http://schemas.microsoft.com/office/drawing/2014/main" id="{612C3D0B-8CDA-7553-578F-2971D08140FF}"/>
                </a:ext>
              </a:extLst>
            </p:cNvPr>
            <p:cNvGrpSpPr/>
            <p:nvPr/>
          </p:nvGrpSpPr>
          <p:grpSpPr>
            <a:xfrm rot="10800000" flipH="1">
              <a:off x="5914873" y="6333446"/>
              <a:ext cx="1447338" cy="740414"/>
              <a:chOff x="2220087" y="1905000"/>
              <a:chExt cx="2197925" cy="838200"/>
            </a:xfrm>
          </p:grpSpPr>
          <p:cxnSp>
            <p:nvCxnSpPr>
              <p:cNvPr id="10" name="Google Shape;482;p20">
                <a:extLst>
                  <a:ext uri="{FF2B5EF4-FFF2-40B4-BE49-F238E27FC236}">
                    <a16:creationId xmlns:a16="http://schemas.microsoft.com/office/drawing/2014/main" id="{4C46DFCC-9F3C-4481-CDD8-2F0B0476C02A}"/>
                  </a:ext>
                </a:extLst>
              </p:cNvPr>
              <p:cNvCxnSpPr/>
              <p:nvPr/>
            </p:nvCxnSpPr>
            <p:spPr>
              <a:xfrm>
                <a:off x="2220087" y="1905000"/>
                <a:ext cx="1371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miter lim="800000"/>
                <a:headEnd type="oval" w="lg" len="lg"/>
                <a:tailEnd type="none" w="sm" len="sm"/>
              </a:ln>
            </p:spPr>
          </p:cxnSp>
          <p:cxnSp>
            <p:nvCxnSpPr>
              <p:cNvPr id="11" name="Google Shape;483;p20">
                <a:extLst>
                  <a:ext uri="{FF2B5EF4-FFF2-40B4-BE49-F238E27FC236}">
                    <a16:creationId xmlns:a16="http://schemas.microsoft.com/office/drawing/2014/main" id="{2A150D1D-13F4-D7C5-2392-AD2ABD19829B}"/>
                  </a:ext>
                </a:extLst>
              </p:cNvPr>
              <p:cNvCxnSpPr/>
              <p:nvPr/>
            </p:nvCxnSpPr>
            <p:spPr>
              <a:xfrm>
                <a:off x="3579812" y="1905000"/>
                <a:ext cx="838200" cy="838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7" name="Google Shape;484;p20">
              <a:extLst>
                <a:ext uri="{FF2B5EF4-FFF2-40B4-BE49-F238E27FC236}">
                  <a16:creationId xmlns:a16="http://schemas.microsoft.com/office/drawing/2014/main" id="{C484659F-7EBE-976B-76F2-9DAC2C0BA78A}"/>
                </a:ext>
              </a:extLst>
            </p:cNvPr>
            <p:cNvGrpSpPr/>
            <p:nvPr/>
          </p:nvGrpSpPr>
          <p:grpSpPr>
            <a:xfrm rot="10800000">
              <a:off x="9036976" y="6333446"/>
              <a:ext cx="1447338" cy="740414"/>
              <a:chOff x="2220087" y="1905000"/>
              <a:chExt cx="2197925" cy="838200"/>
            </a:xfrm>
          </p:grpSpPr>
          <p:cxnSp>
            <p:nvCxnSpPr>
              <p:cNvPr id="8" name="Google Shape;485;p20">
                <a:extLst>
                  <a:ext uri="{FF2B5EF4-FFF2-40B4-BE49-F238E27FC236}">
                    <a16:creationId xmlns:a16="http://schemas.microsoft.com/office/drawing/2014/main" id="{6F37695D-5338-8FBB-E922-276AB02D659C}"/>
                  </a:ext>
                </a:extLst>
              </p:cNvPr>
              <p:cNvCxnSpPr/>
              <p:nvPr/>
            </p:nvCxnSpPr>
            <p:spPr>
              <a:xfrm>
                <a:off x="2220087" y="1905000"/>
                <a:ext cx="1371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miter lim="800000"/>
                <a:headEnd type="oval" w="lg" len="lg"/>
                <a:tailEnd type="none" w="sm" len="sm"/>
              </a:ln>
            </p:spPr>
          </p:cxnSp>
          <p:cxnSp>
            <p:nvCxnSpPr>
              <p:cNvPr id="9" name="Google Shape;486;p20">
                <a:extLst>
                  <a:ext uri="{FF2B5EF4-FFF2-40B4-BE49-F238E27FC236}">
                    <a16:creationId xmlns:a16="http://schemas.microsoft.com/office/drawing/2014/main" id="{0891091D-99B8-0787-06A6-30146B460075}"/>
                  </a:ext>
                </a:extLst>
              </p:cNvPr>
              <p:cNvCxnSpPr/>
              <p:nvPr/>
            </p:nvCxnSpPr>
            <p:spPr>
              <a:xfrm>
                <a:off x="3579812" y="1905000"/>
                <a:ext cx="838200" cy="838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2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GloVe Word Representation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3"/>
          <p:cNvSpPr/>
          <p:nvPr/>
        </p:nvSpPr>
        <p:spPr>
          <a:xfrm>
            <a:off x="3220879" y="3540210"/>
            <a:ext cx="9829800" cy="184491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7E9E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0" name="Google Shape;540;p23"/>
          <p:cNvSpPr txBox="1">
            <a:spLocks noGrp="1"/>
          </p:cNvSpPr>
          <p:nvPr>
            <p:ph type="body" idx="2"/>
          </p:nvPr>
        </p:nvSpPr>
        <p:spPr>
          <a:xfrm>
            <a:off x="1279501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Global Vectors for Word Representation (GloVe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)</a:t>
            </a: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, is a word embedding model focussing on capturing global relationships between words based on their co-occurrence probabilities in the entire corpus.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1" name="Google Shape;541;p2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Global Vectors for Word Representation (GloVe)</a:t>
            </a:r>
            <a:endParaRPr/>
          </a:p>
        </p:txBody>
      </p:sp>
      <p:sp>
        <p:nvSpPr>
          <p:cNvPr id="542" name="Google Shape;542;p23"/>
          <p:cNvSpPr/>
          <p:nvPr/>
        </p:nvSpPr>
        <p:spPr>
          <a:xfrm>
            <a:off x="3916401" y="816324"/>
            <a:ext cx="8438756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3" name="Google Shape;543;p23"/>
          <p:cNvSpPr txBox="1"/>
          <p:nvPr/>
        </p:nvSpPr>
        <p:spPr>
          <a:xfrm>
            <a:off x="3742165" y="3871540"/>
            <a:ext cx="8787228" cy="1227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GloVe extracts the co-occurrence probability with the global statistics whereas word2vec is trained on the dataset it is made to focus on.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4" name="Google Shape;544;p23"/>
          <p:cNvSpPr/>
          <p:nvPr/>
        </p:nvSpPr>
        <p:spPr>
          <a:xfrm>
            <a:off x="2404132" y="6443412"/>
            <a:ext cx="11447736" cy="1019750"/>
          </a:xfrm>
          <a:prstGeom prst="roundRect">
            <a:avLst>
              <a:gd name="adj" fmla="val 16667"/>
            </a:avLst>
          </a:prstGeom>
          <a:solidFill>
            <a:srgbClr val="7E9E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5" name="Google Shape;545;p23"/>
          <p:cNvSpPr txBox="1"/>
          <p:nvPr/>
        </p:nvSpPr>
        <p:spPr>
          <a:xfrm>
            <a:off x="2796722" y="6525057"/>
            <a:ext cx="10662557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This makes GloVe more effective for capturing semantic relationships between words in a broader context.</a:t>
            </a: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46" name="Google Shape;546;p23"/>
          <p:cNvGrpSpPr/>
          <p:nvPr/>
        </p:nvGrpSpPr>
        <p:grpSpPr>
          <a:xfrm>
            <a:off x="2395524" y="2677869"/>
            <a:ext cx="1588646" cy="1658501"/>
            <a:chOff x="2575139" y="2898830"/>
            <a:chExt cx="1216704" cy="1208938"/>
          </a:xfrm>
        </p:grpSpPr>
        <p:sp>
          <p:nvSpPr>
            <p:cNvPr id="547" name="Google Shape;547;p23"/>
            <p:cNvSpPr/>
            <p:nvPr/>
          </p:nvSpPr>
          <p:spPr>
            <a:xfrm>
              <a:off x="2575139" y="2898830"/>
              <a:ext cx="1080000" cy="10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548" name="Google Shape;548;p23" descr="Free Settings Icon, Symbol. PNG, SVG Download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49914" y="2965839"/>
              <a:ext cx="1141929" cy="114192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/>
          <p:cNvSpPr/>
          <p:nvPr/>
        </p:nvSpPr>
        <p:spPr>
          <a:xfrm>
            <a:off x="1396637" y="6516689"/>
            <a:ext cx="13485500" cy="903776"/>
          </a:xfrm>
          <a:prstGeom prst="roundRect">
            <a:avLst>
              <a:gd name="adj" fmla="val 16667"/>
            </a:avLst>
          </a:prstGeom>
          <a:solidFill>
            <a:srgbClr val="D8D5C4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4" name="Google Shape;554;p24"/>
          <p:cNvSpPr txBox="1">
            <a:spLocks noGrp="1"/>
          </p:cNvSpPr>
          <p:nvPr>
            <p:ph type="body" idx="2"/>
          </p:nvPr>
        </p:nvSpPr>
        <p:spPr>
          <a:xfrm>
            <a:off x="1385250" y="1512833"/>
            <a:ext cx="13485500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Let's consider an example 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nalyzing co-occurrence probabilities of </a:t>
            </a:r>
            <a:r>
              <a:rPr lang="en-US" b="1" i="1">
                <a:latin typeface="Open Sans"/>
                <a:ea typeface="Open Sans"/>
                <a:cs typeface="Open Sans"/>
                <a:sym typeface="Open Sans"/>
              </a:rPr>
              <a:t>ice</a:t>
            </a: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b="1" i="1">
                <a:latin typeface="Open Sans"/>
                <a:ea typeface="Open Sans"/>
                <a:cs typeface="Open Sans"/>
                <a:sym typeface="Open Sans"/>
              </a:rPr>
              <a:t>steam</a:t>
            </a: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 with context words in a 6 billion token corpus.</a:t>
            </a:r>
            <a:endParaRPr/>
          </a:p>
        </p:txBody>
      </p:sp>
      <p:sp>
        <p:nvSpPr>
          <p:cNvPr id="555" name="Google Shape;555;p24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GloVe</a:t>
            </a:r>
            <a:endParaRPr/>
          </a:p>
        </p:txBody>
      </p:sp>
      <p:sp>
        <p:nvSpPr>
          <p:cNvPr id="556" name="Google Shape;556;p24"/>
          <p:cNvSpPr txBox="1"/>
          <p:nvPr/>
        </p:nvSpPr>
        <p:spPr>
          <a:xfrm>
            <a:off x="1634949" y="6761307"/>
            <a:ext cx="13247188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Shown above is the co-occurrence matrix based on the probe words </a:t>
            </a:r>
            <a:r>
              <a:rPr lang="en-US" sz="2200" b="1" i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solid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 i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gas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 i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water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lang="en-US" sz="2200" b="1" i="1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fashion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200" i="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7" name="Google Shape;557;p24"/>
          <p:cNvSpPr/>
          <p:nvPr/>
        </p:nvSpPr>
        <p:spPr>
          <a:xfrm>
            <a:off x="7617446" y="816324"/>
            <a:ext cx="1036667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58" name="Google Shape;558;p24"/>
          <p:cNvGraphicFramePr/>
          <p:nvPr/>
        </p:nvGraphicFramePr>
        <p:xfrm>
          <a:off x="1900310" y="3012320"/>
          <a:ext cx="12453600" cy="2647700"/>
        </p:xfrm>
        <a:graphic>
          <a:graphicData uri="http://schemas.openxmlformats.org/drawingml/2006/table">
            <a:tbl>
              <a:tblPr firstRow="1" bandRow="1">
                <a:noFill/>
                <a:tableStyleId>{9E6CBDBF-BBD2-4A83-9F77-1C2D719464C3}</a:tableStyleId>
              </a:tblPr>
              <a:tblGrid>
                <a:gridCol w="310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1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Probabilty and ratio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 = solid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 = gas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 = water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 = fashion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P(k|ice)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1.9 X 10</a:t>
                      </a:r>
                      <a:r>
                        <a:rPr lang="en-US" sz="2200" u="none" strike="noStrike" cap="none" baseline="300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-4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6.6 X 10</a:t>
                      </a:r>
                      <a:r>
                        <a:rPr lang="en-US" sz="2200" u="none" strike="noStrike" cap="none" baseline="300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-5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3.0 X 10</a:t>
                      </a:r>
                      <a:r>
                        <a:rPr lang="en-US" sz="2200" u="none" strike="noStrike" cap="none" baseline="300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-3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 X 10</a:t>
                      </a:r>
                      <a:r>
                        <a:rPr lang="en-US" sz="2200" u="none" strike="noStrike" cap="none" baseline="300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-5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P(k|steam)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 X 10</a:t>
                      </a:r>
                      <a:r>
                        <a:rPr lang="en-US" sz="2200" u="none" strike="noStrike" cap="none" baseline="300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-5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7.8 X 10</a:t>
                      </a:r>
                      <a:r>
                        <a:rPr lang="en-US" sz="2200" u="none" strike="noStrike" cap="none" baseline="300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-4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 X 10</a:t>
                      </a:r>
                      <a:r>
                        <a:rPr lang="en-US" sz="2200" u="none" strike="noStrike" cap="none" baseline="300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-3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1.8 X 10</a:t>
                      </a:r>
                      <a:r>
                        <a:rPr lang="en-US" sz="2200" u="none" strike="noStrike" cap="none" baseline="300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-5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P(k|ice)/P(k|steam)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8.9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8.5 X 10</a:t>
                      </a:r>
                      <a:r>
                        <a:rPr lang="en-US" sz="2200" u="none" strike="noStrike" cap="none" baseline="300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-2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1.36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0.96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5"/>
          <p:cNvSpPr txBox="1">
            <a:spLocks noGrp="1"/>
          </p:cNvSpPr>
          <p:nvPr>
            <p:ph type="body" idx="2"/>
          </p:nvPr>
        </p:nvSpPr>
        <p:spPr>
          <a:xfrm>
            <a:off x="1385250" y="1512833"/>
            <a:ext cx="13485500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GloVe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operates on the principle that the ratio of word-word co-occurrence probability can easily determine some meaning of the words to be vectorized. In the given example: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4" name="Google Shape;564;p2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GloVe</a:t>
            </a:r>
            <a:endParaRPr/>
          </a:p>
        </p:txBody>
      </p:sp>
      <p:grpSp>
        <p:nvGrpSpPr>
          <p:cNvPr id="565" name="Google Shape;565;p25"/>
          <p:cNvGrpSpPr/>
          <p:nvPr/>
        </p:nvGrpSpPr>
        <p:grpSpPr>
          <a:xfrm>
            <a:off x="1806498" y="2881094"/>
            <a:ext cx="12676549" cy="5317971"/>
            <a:chOff x="2036977" y="2881094"/>
            <a:chExt cx="12676549" cy="5317971"/>
          </a:xfrm>
        </p:grpSpPr>
        <p:grpSp>
          <p:nvGrpSpPr>
            <p:cNvPr id="566" name="Google Shape;566;p25"/>
            <p:cNvGrpSpPr/>
            <p:nvPr/>
          </p:nvGrpSpPr>
          <p:grpSpPr>
            <a:xfrm>
              <a:off x="6591759" y="2881094"/>
              <a:ext cx="3072482" cy="1701548"/>
              <a:chOff x="6601934" y="3060012"/>
              <a:chExt cx="3072482" cy="1701548"/>
            </a:xfrm>
          </p:grpSpPr>
          <p:sp>
            <p:nvSpPr>
              <p:cNvPr id="567" name="Google Shape;567;p25"/>
              <p:cNvSpPr/>
              <p:nvPr/>
            </p:nvSpPr>
            <p:spPr>
              <a:xfrm>
                <a:off x="6601934" y="3060012"/>
                <a:ext cx="1642846" cy="1701548"/>
              </a:xfrm>
              <a:prstGeom prst="ellipse">
                <a:avLst/>
              </a:prstGeom>
              <a:solidFill>
                <a:srgbClr val="00D7F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68" name="Google Shape;568;p25"/>
              <p:cNvSpPr/>
              <p:nvPr/>
            </p:nvSpPr>
            <p:spPr>
              <a:xfrm>
                <a:off x="8025817" y="3494322"/>
                <a:ext cx="1172783" cy="832927"/>
              </a:xfrm>
              <a:prstGeom prst="rect">
                <a:avLst/>
              </a:prstGeom>
              <a:solidFill>
                <a:srgbClr val="00D7F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69" name="Google Shape;569;p25"/>
              <p:cNvSpPr/>
              <p:nvPr/>
            </p:nvSpPr>
            <p:spPr>
              <a:xfrm rot="5400000">
                <a:off x="8790986" y="3672879"/>
                <a:ext cx="1291043" cy="475816"/>
              </a:xfrm>
              <a:prstGeom prst="triangle">
                <a:avLst>
                  <a:gd name="adj" fmla="val 50000"/>
                </a:avLst>
              </a:prstGeom>
              <a:solidFill>
                <a:srgbClr val="00D7F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0" name="Google Shape;570;p25"/>
              <p:cNvSpPr/>
              <p:nvPr/>
            </p:nvSpPr>
            <p:spPr>
              <a:xfrm>
                <a:off x="6778261" y="3242639"/>
                <a:ext cx="1290193" cy="1336294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1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01</a:t>
                </a:r>
                <a:endParaRPr/>
              </a:p>
            </p:txBody>
          </p:sp>
        </p:grpSp>
        <p:grpSp>
          <p:nvGrpSpPr>
            <p:cNvPr id="571" name="Google Shape;571;p25"/>
            <p:cNvGrpSpPr/>
            <p:nvPr/>
          </p:nvGrpSpPr>
          <p:grpSpPr>
            <a:xfrm>
              <a:off x="6663197" y="4681441"/>
              <a:ext cx="3072482" cy="1701548"/>
              <a:chOff x="6587291" y="4676139"/>
              <a:chExt cx="3072482" cy="1701548"/>
            </a:xfrm>
          </p:grpSpPr>
          <p:sp>
            <p:nvSpPr>
              <p:cNvPr id="572" name="Google Shape;572;p25"/>
              <p:cNvSpPr/>
              <p:nvPr/>
            </p:nvSpPr>
            <p:spPr>
              <a:xfrm flipH="1">
                <a:off x="8016927" y="4676139"/>
                <a:ext cx="1642846" cy="1701548"/>
              </a:xfrm>
              <a:prstGeom prst="ellipse">
                <a:avLst/>
              </a:prstGeom>
              <a:solidFill>
                <a:srgbClr val="FF99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3" name="Google Shape;573;p25"/>
              <p:cNvSpPr/>
              <p:nvPr/>
            </p:nvSpPr>
            <p:spPr>
              <a:xfrm flipH="1">
                <a:off x="7063107" y="5110449"/>
                <a:ext cx="1172783" cy="832927"/>
              </a:xfrm>
              <a:prstGeom prst="rect">
                <a:avLst/>
              </a:prstGeom>
              <a:solidFill>
                <a:srgbClr val="FF99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4" name="Google Shape;574;p25"/>
              <p:cNvSpPr/>
              <p:nvPr/>
            </p:nvSpPr>
            <p:spPr>
              <a:xfrm rot="-5400000" flipH="1">
                <a:off x="6179678" y="5289006"/>
                <a:ext cx="1291043" cy="475816"/>
              </a:xfrm>
              <a:prstGeom prst="triangle">
                <a:avLst>
                  <a:gd name="adj" fmla="val 50000"/>
                </a:avLst>
              </a:prstGeom>
              <a:solidFill>
                <a:srgbClr val="FF99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5" name="Google Shape;575;p25"/>
              <p:cNvSpPr/>
              <p:nvPr/>
            </p:nvSpPr>
            <p:spPr>
              <a:xfrm>
                <a:off x="8193253" y="4858766"/>
                <a:ext cx="1290193" cy="1336294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1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02</a:t>
                </a:r>
                <a:endParaRPr/>
              </a:p>
            </p:txBody>
          </p:sp>
        </p:grpSp>
        <p:grpSp>
          <p:nvGrpSpPr>
            <p:cNvPr id="576" name="Google Shape;576;p25"/>
            <p:cNvGrpSpPr/>
            <p:nvPr/>
          </p:nvGrpSpPr>
          <p:grpSpPr>
            <a:xfrm>
              <a:off x="6614928" y="6497517"/>
              <a:ext cx="3072480" cy="1701548"/>
              <a:chOff x="6581585" y="6278165"/>
              <a:chExt cx="3072480" cy="1701548"/>
            </a:xfrm>
          </p:grpSpPr>
          <p:sp>
            <p:nvSpPr>
              <p:cNvPr id="577" name="Google Shape;577;p25"/>
              <p:cNvSpPr/>
              <p:nvPr/>
            </p:nvSpPr>
            <p:spPr>
              <a:xfrm>
                <a:off x="6581585" y="6278165"/>
                <a:ext cx="1642846" cy="1701548"/>
              </a:xfrm>
              <a:prstGeom prst="ellipse">
                <a:avLst/>
              </a:prstGeom>
              <a:solidFill>
                <a:srgbClr val="C7D4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8" name="Google Shape;578;p25"/>
              <p:cNvSpPr/>
              <p:nvPr/>
            </p:nvSpPr>
            <p:spPr>
              <a:xfrm>
                <a:off x="8005468" y="6712475"/>
                <a:ext cx="1172783" cy="832927"/>
              </a:xfrm>
              <a:prstGeom prst="rect">
                <a:avLst/>
              </a:prstGeom>
              <a:solidFill>
                <a:srgbClr val="C7D4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9" name="Google Shape;579;p25"/>
              <p:cNvSpPr/>
              <p:nvPr/>
            </p:nvSpPr>
            <p:spPr>
              <a:xfrm rot="5400000">
                <a:off x="8770636" y="6891032"/>
                <a:ext cx="1291043" cy="475816"/>
              </a:xfrm>
              <a:prstGeom prst="triangle">
                <a:avLst>
                  <a:gd name="adj" fmla="val 50000"/>
                </a:avLst>
              </a:prstGeom>
              <a:solidFill>
                <a:srgbClr val="C7D4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80" name="Google Shape;580;p25"/>
              <p:cNvSpPr/>
              <p:nvPr/>
            </p:nvSpPr>
            <p:spPr>
              <a:xfrm>
                <a:off x="6757911" y="6460792"/>
                <a:ext cx="1290193" cy="1336294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1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03</a:t>
                </a:r>
                <a:endParaRPr/>
              </a:p>
            </p:txBody>
          </p:sp>
        </p:grpSp>
        <p:sp>
          <p:nvSpPr>
            <p:cNvPr id="581" name="Google Shape;581;p25"/>
            <p:cNvSpPr txBox="1"/>
            <p:nvPr/>
          </p:nvSpPr>
          <p:spPr>
            <a:xfrm>
              <a:off x="9780877" y="3150837"/>
              <a:ext cx="4707422" cy="1226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The ratio mitigates noise from non-discriminative words like </a:t>
              </a:r>
              <a:r>
                <a:rPr lang="en-US" sz="2200" b="1" i="1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water</a:t>
              </a:r>
              <a:r>
                <a:rPr lang="en-US" sz="2200" b="0" i="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 and </a:t>
              </a:r>
              <a:r>
                <a:rPr lang="en-US" sz="2200" b="1" i="1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fashion</a:t>
              </a:r>
              <a:endParaRPr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82" name="Google Shape;582;p25"/>
            <p:cNvSpPr txBox="1"/>
            <p:nvPr/>
          </p:nvSpPr>
          <p:spPr>
            <a:xfrm>
              <a:off x="2036977" y="5029782"/>
              <a:ext cx="4415831" cy="840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Large ratio values (&gt;&gt;1) align with properties specific to </a:t>
              </a:r>
              <a:r>
                <a:rPr lang="en-US" sz="2200" b="1" i="1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ice</a:t>
              </a:r>
              <a:endParaRPr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83" name="Google Shape;583;p25"/>
            <p:cNvSpPr txBox="1"/>
            <p:nvPr/>
          </p:nvSpPr>
          <p:spPr>
            <a:xfrm>
              <a:off x="10006104" y="6924139"/>
              <a:ext cx="4707422" cy="840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Small ratio values (&lt;&lt;1) align with properties specific to </a:t>
              </a:r>
              <a:r>
                <a:rPr lang="en-US" sz="2200" b="1" i="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steam</a:t>
              </a:r>
              <a:endParaRPr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84" name="Google Shape;584;p25"/>
          <p:cNvSpPr/>
          <p:nvPr/>
        </p:nvSpPr>
        <p:spPr>
          <a:xfrm>
            <a:off x="7617446" y="816324"/>
            <a:ext cx="1036667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6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FastText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7"/>
          <p:cNvSpPr txBox="1">
            <a:spLocks noGrp="1"/>
          </p:cNvSpPr>
          <p:nvPr>
            <p:ph type="body" idx="2"/>
          </p:nvPr>
        </p:nvSpPr>
        <p:spPr>
          <a:xfrm>
            <a:off x="1291857" y="163809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FastText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was developed by Facebook's AI Research (FAIR) lab and is known for its efficiency, especially in handling out-of-vocabulary words and capturing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subword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information.</a:t>
            </a:r>
            <a:endParaRPr dirty="0"/>
          </a:p>
        </p:txBody>
      </p:sp>
      <p:sp>
        <p:nvSpPr>
          <p:cNvPr id="595" name="Google Shape;595;p2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FastText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7103767" y="5503950"/>
            <a:ext cx="2048933" cy="914400"/>
          </a:xfrm>
          <a:prstGeom prst="roundRect">
            <a:avLst>
              <a:gd name="adj" fmla="val 16667"/>
            </a:avLst>
          </a:prstGeom>
          <a:solidFill>
            <a:srgbClr val="28B2C8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Sub-word vector 2</a:t>
            </a: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4456346" y="5503950"/>
            <a:ext cx="2048933" cy="914400"/>
          </a:xfrm>
          <a:prstGeom prst="roundRect">
            <a:avLst>
              <a:gd name="adj" fmla="val 16667"/>
            </a:avLst>
          </a:prstGeom>
          <a:solidFill>
            <a:srgbClr val="28B2C8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Sub-word vector 1</a:t>
            </a: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9751188" y="5503950"/>
            <a:ext cx="2048933" cy="914400"/>
          </a:xfrm>
          <a:prstGeom prst="roundRect">
            <a:avLst>
              <a:gd name="adj" fmla="val 16667"/>
            </a:avLst>
          </a:prstGeom>
          <a:solidFill>
            <a:srgbClr val="28B2C8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Sub-word vector 3</a:t>
            </a: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1808925" y="5503950"/>
            <a:ext cx="2048933" cy="914400"/>
          </a:xfrm>
          <a:prstGeom prst="roundRect">
            <a:avLst>
              <a:gd name="adj" fmla="val 16667"/>
            </a:avLst>
          </a:prstGeom>
          <a:solidFill>
            <a:srgbClr val="28B2C8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Word vector</a:t>
            </a: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5499099" y="3265101"/>
            <a:ext cx="5257801" cy="914400"/>
          </a:xfrm>
          <a:prstGeom prst="roundRect">
            <a:avLst>
              <a:gd name="adj" fmla="val 16667"/>
            </a:avLst>
          </a:prstGeom>
          <a:solidFill>
            <a:srgbClr val="28B2C8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Enhanced word representation</a:t>
            </a:r>
            <a:endParaRPr/>
          </a:p>
        </p:txBody>
      </p:sp>
      <p:cxnSp>
        <p:nvCxnSpPr>
          <p:cNvPr id="601" name="Google Shape;601;p27"/>
          <p:cNvCxnSpPr>
            <a:cxnSpLocks/>
            <a:stCxn id="599" idx="0"/>
          </p:cNvCxnSpPr>
          <p:nvPr/>
        </p:nvCxnSpPr>
        <p:spPr>
          <a:xfrm flipV="1">
            <a:off x="2833392" y="4227286"/>
            <a:ext cx="4854593" cy="1276664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2" name="Google Shape;602;p27"/>
          <p:cNvCxnSpPr>
            <a:stCxn id="597" idx="0"/>
          </p:cNvCxnSpPr>
          <p:nvPr/>
        </p:nvCxnSpPr>
        <p:spPr>
          <a:xfrm rot="10800000" flipH="1">
            <a:off x="5480813" y="4230750"/>
            <a:ext cx="2569800" cy="1273200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3" name="Google Shape;603;p27"/>
          <p:cNvCxnSpPr>
            <a:stCxn id="604" idx="0"/>
          </p:cNvCxnSpPr>
          <p:nvPr/>
        </p:nvCxnSpPr>
        <p:spPr>
          <a:xfrm rot="10800000">
            <a:off x="8622175" y="4230750"/>
            <a:ext cx="4800900" cy="1273200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5" name="Google Shape;605;p27"/>
          <p:cNvCxnSpPr>
            <a:stCxn id="598" idx="0"/>
          </p:cNvCxnSpPr>
          <p:nvPr/>
        </p:nvCxnSpPr>
        <p:spPr>
          <a:xfrm rot="10800000">
            <a:off x="8264055" y="4230750"/>
            <a:ext cx="2511600" cy="1273200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6" name="Google Shape;606;p27"/>
          <p:cNvSpPr txBox="1"/>
          <p:nvPr/>
        </p:nvSpPr>
        <p:spPr>
          <a:xfrm>
            <a:off x="1860751" y="6673814"/>
            <a:ext cx="1802421" cy="4308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"fasttext"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7" name="Google Shape;607;p27"/>
          <p:cNvSpPr txBox="1"/>
          <p:nvPr/>
        </p:nvSpPr>
        <p:spPr>
          <a:xfrm>
            <a:off x="4875504" y="6672928"/>
            <a:ext cx="1157193" cy="4308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"fast”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8" name="Google Shape;608;p27"/>
          <p:cNvSpPr txBox="1"/>
          <p:nvPr/>
        </p:nvSpPr>
        <p:spPr>
          <a:xfrm>
            <a:off x="7549402" y="6672928"/>
            <a:ext cx="1157193" cy="4308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"astt”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9" name="Google Shape;609;p27"/>
          <p:cNvSpPr txBox="1"/>
          <p:nvPr/>
        </p:nvSpPr>
        <p:spPr>
          <a:xfrm>
            <a:off x="10344197" y="6641891"/>
            <a:ext cx="1157193" cy="4308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"stte”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4" name="Google Shape;604;p27"/>
          <p:cNvSpPr/>
          <p:nvPr/>
        </p:nvSpPr>
        <p:spPr>
          <a:xfrm>
            <a:off x="12398608" y="5503950"/>
            <a:ext cx="2048933" cy="914400"/>
          </a:xfrm>
          <a:prstGeom prst="roundRect">
            <a:avLst>
              <a:gd name="adj" fmla="val 16667"/>
            </a:avLst>
          </a:prstGeom>
          <a:solidFill>
            <a:srgbClr val="28B2C8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Sub-word vector 4</a:t>
            </a:r>
            <a:endParaRPr/>
          </a:p>
        </p:txBody>
      </p:sp>
      <p:sp>
        <p:nvSpPr>
          <p:cNvPr id="610" name="Google Shape;610;p27"/>
          <p:cNvSpPr txBox="1"/>
          <p:nvPr/>
        </p:nvSpPr>
        <p:spPr>
          <a:xfrm>
            <a:off x="13138992" y="6641890"/>
            <a:ext cx="1015995" cy="4308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ttext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7376887" y="816324"/>
            <a:ext cx="1517784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12" name="Google Shape;612;p27"/>
          <p:cNvCxnSpPr/>
          <p:nvPr/>
        </p:nvCxnSpPr>
        <p:spPr>
          <a:xfrm rot="10800000">
            <a:off x="8127999" y="4227286"/>
            <a:ext cx="234" cy="1273056"/>
          </a:xfrm>
          <a:prstGeom prst="straightConnector1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13" name="Google Shape;613;p27"/>
          <p:cNvGrpSpPr/>
          <p:nvPr/>
        </p:nvGrpSpPr>
        <p:grpSpPr>
          <a:xfrm>
            <a:off x="10855888" y="4688238"/>
            <a:ext cx="432000" cy="432000"/>
            <a:chOff x="11065112" y="2584795"/>
            <a:chExt cx="1303878" cy="1303878"/>
          </a:xfrm>
        </p:grpSpPr>
        <p:sp>
          <p:nvSpPr>
            <p:cNvPr id="614" name="Google Shape;614;p27"/>
            <p:cNvSpPr/>
            <p:nvPr/>
          </p:nvSpPr>
          <p:spPr>
            <a:xfrm>
              <a:off x="11267051" y="2786734"/>
              <a:ext cx="900000" cy="9000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615" name="Google Shape;615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65112" y="2584795"/>
              <a:ext cx="1303878" cy="13038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6" name="Google Shape;616;p27"/>
          <p:cNvGrpSpPr/>
          <p:nvPr/>
        </p:nvGrpSpPr>
        <p:grpSpPr>
          <a:xfrm>
            <a:off x="9399422" y="4688238"/>
            <a:ext cx="432000" cy="432000"/>
            <a:chOff x="11065112" y="2584795"/>
            <a:chExt cx="1303878" cy="1303878"/>
          </a:xfrm>
        </p:grpSpPr>
        <p:sp>
          <p:nvSpPr>
            <p:cNvPr id="617" name="Google Shape;617;p27"/>
            <p:cNvSpPr/>
            <p:nvPr/>
          </p:nvSpPr>
          <p:spPr>
            <a:xfrm>
              <a:off x="11267051" y="2786734"/>
              <a:ext cx="900000" cy="9000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618" name="Google Shape;618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65112" y="2584795"/>
              <a:ext cx="1303878" cy="13038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9" name="Google Shape;619;p27"/>
          <p:cNvGrpSpPr/>
          <p:nvPr/>
        </p:nvGrpSpPr>
        <p:grpSpPr>
          <a:xfrm>
            <a:off x="7899951" y="4688238"/>
            <a:ext cx="432000" cy="432000"/>
            <a:chOff x="11065112" y="2584795"/>
            <a:chExt cx="1303878" cy="1303878"/>
          </a:xfrm>
        </p:grpSpPr>
        <p:sp>
          <p:nvSpPr>
            <p:cNvPr id="620" name="Google Shape;620;p27"/>
            <p:cNvSpPr/>
            <p:nvPr/>
          </p:nvSpPr>
          <p:spPr>
            <a:xfrm>
              <a:off x="11267051" y="2786734"/>
              <a:ext cx="900000" cy="9000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621" name="Google Shape;621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65112" y="2584795"/>
              <a:ext cx="1303878" cy="13038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2" name="Google Shape;622;p27"/>
          <p:cNvGrpSpPr/>
          <p:nvPr/>
        </p:nvGrpSpPr>
        <p:grpSpPr>
          <a:xfrm>
            <a:off x="6549646" y="4688238"/>
            <a:ext cx="432000" cy="432000"/>
            <a:chOff x="11065112" y="2584795"/>
            <a:chExt cx="1303878" cy="1303878"/>
          </a:xfrm>
        </p:grpSpPr>
        <p:sp>
          <p:nvSpPr>
            <p:cNvPr id="623" name="Google Shape;623;p27"/>
            <p:cNvSpPr/>
            <p:nvPr/>
          </p:nvSpPr>
          <p:spPr>
            <a:xfrm>
              <a:off x="11267051" y="2786734"/>
              <a:ext cx="900000" cy="9000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624" name="Google Shape;624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65112" y="2584795"/>
              <a:ext cx="1303878" cy="13038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5" name="Google Shape;625;p27"/>
          <p:cNvGrpSpPr/>
          <p:nvPr/>
        </p:nvGrpSpPr>
        <p:grpSpPr>
          <a:xfrm>
            <a:off x="5001143" y="4688238"/>
            <a:ext cx="432000" cy="432000"/>
            <a:chOff x="11065112" y="2584795"/>
            <a:chExt cx="1303878" cy="1303878"/>
          </a:xfrm>
        </p:grpSpPr>
        <p:sp>
          <p:nvSpPr>
            <p:cNvPr id="626" name="Google Shape;626;p27"/>
            <p:cNvSpPr/>
            <p:nvPr/>
          </p:nvSpPr>
          <p:spPr>
            <a:xfrm>
              <a:off x="11267051" y="2786734"/>
              <a:ext cx="900000" cy="9000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627" name="Google Shape;627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65112" y="2584795"/>
              <a:ext cx="1303878" cy="130387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8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Some key advantages of using fastText include:</a:t>
            </a:r>
            <a:endParaRPr/>
          </a:p>
        </p:txBody>
      </p:sp>
      <p:sp>
        <p:nvSpPr>
          <p:cNvPr id="633" name="Google Shape;633;p28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FastText</a:t>
            </a:r>
            <a:endParaRPr/>
          </a:p>
        </p:txBody>
      </p:sp>
      <p:sp>
        <p:nvSpPr>
          <p:cNvPr id="634" name="Google Shape;634;p28"/>
          <p:cNvSpPr txBox="1"/>
          <p:nvPr/>
        </p:nvSpPr>
        <p:spPr>
          <a:xfrm>
            <a:off x="1612901" y="3343055"/>
            <a:ext cx="5186690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FastText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embeddings are useful for languages with rich morphology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5" name="Google Shape;635;p28"/>
          <p:cNvSpPr txBox="1"/>
          <p:nvPr/>
        </p:nvSpPr>
        <p:spPr>
          <a:xfrm>
            <a:off x="9989478" y="4216593"/>
            <a:ext cx="4994390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FastText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can handle OOV (out of vocabulary) better than word2vec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6" name="Google Shape;636;p28"/>
          <p:cNvSpPr txBox="1"/>
          <p:nvPr/>
        </p:nvSpPr>
        <p:spPr>
          <a:xfrm>
            <a:off x="1612900" y="5456516"/>
            <a:ext cx="5299362" cy="125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FastText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is often a first choice when you want to train custom word embeddings for your domains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37" name="Google Shape;637;p28"/>
          <p:cNvGrpSpPr/>
          <p:nvPr/>
        </p:nvGrpSpPr>
        <p:grpSpPr>
          <a:xfrm>
            <a:off x="6994861" y="3181729"/>
            <a:ext cx="2899293" cy="3820604"/>
            <a:chOff x="6720357" y="3382006"/>
            <a:chExt cx="3417887" cy="4388908"/>
          </a:xfrm>
        </p:grpSpPr>
        <p:grpSp>
          <p:nvGrpSpPr>
            <p:cNvPr id="638" name="Google Shape;638;p28"/>
            <p:cNvGrpSpPr/>
            <p:nvPr/>
          </p:nvGrpSpPr>
          <p:grpSpPr>
            <a:xfrm>
              <a:off x="6720357" y="3382006"/>
              <a:ext cx="3417887" cy="4388908"/>
              <a:chOff x="6538913" y="3603625"/>
              <a:chExt cx="2559050" cy="3359150"/>
            </a:xfrm>
          </p:grpSpPr>
          <p:grpSp>
            <p:nvGrpSpPr>
              <p:cNvPr id="639" name="Google Shape;639;p28"/>
              <p:cNvGrpSpPr/>
              <p:nvPr/>
            </p:nvGrpSpPr>
            <p:grpSpPr>
              <a:xfrm>
                <a:off x="6538913" y="5049838"/>
                <a:ext cx="1946275" cy="1912937"/>
                <a:chOff x="3389313" y="2509838"/>
                <a:chExt cx="1946275" cy="1912937"/>
              </a:xfrm>
            </p:grpSpPr>
            <p:sp>
              <p:nvSpPr>
                <p:cNvPr id="640" name="Google Shape;640;p28"/>
                <p:cNvSpPr/>
                <p:nvPr/>
              </p:nvSpPr>
              <p:spPr>
                <a:xfrm>
                  <a:off x="3794125" y="2906713"/>
                  <a:ext cx="1139825" cy="1139825"/>
                </a:xfrm>
                <a:prstGeom prst="ellipse">
                  <a:avLst/>
                </a:prstGeom>
                <a:solidFill>
                  <a:srgbClr val="427AA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14000"/>
                    </a:lnSpc>
                    <a:spcBef>
                      <a:spcPts val="10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41" name="Google Shape;641;p28"/>
                <p:cNvSpPr/>
                <p:nvPr/>
              </p:nvSpPr>
              <p:spPr>
                <a:xfrm>
                  <a:off x="3389313" y="2509838"/>
                  <a:ext cx="1946275" cy="1912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" h="1023" extrusionOk="0">
                      <a:moveTo>
                        <a:pt x="926" y="628"/>
                      </a:moveTo>
                      <a:cubicBezTo>
                        <a:pt x="932" y="607"/>
                        <a:pt x="936" y="585"/>
                        <a:pt x="939" y="562"/>
                      </a:cubicBezTo>
                      <a:cubicBezTo>
                        <a:pt x="941" y="562"/>
                        <a:pt x="941" y="562"/>
                        <a:pt x="941" y="562"/>
                      </a:cubicBezTo>
                      <a:cubicBezTo>
                        <a:pt x="1040" y="538"/>
                        <a:pt x="1040" y="538"/>
                        <a:pt x="1040" y="538"/>
                      </a:cubicBezTo>
                      <a:cubicBezTo>
                        <a:pt x="1034" y="433"/>
                        <a:pt x="1034" y="433"/>
                        <a:pt x="1034" y="433"/>
                      </a:cubicBezTo>
                      <a:cubicBezTo>
                        <a:pt x="929" y="420"/>
                        <a:pt x="929" y="420"/>
                        <a:pt x="929" y="420"/>
                      </a:cubicBezTo>
                      <a:cubicBezTo>
                        <a:pt x="924" y="398"/>
                        <a:pt x="917" y="376"/>
                        <a:pt x="909" y="355"/>
                      </a:cubicBezTo>
                      <a:cubicBezTo>
                        <a:pt x="910" y="354"/>
                        <a:pt x="910" y="354"/>
                        <a:pt x="910" y="354"/>
                      </a:cubicBezTo>
                      <a:cubicBezTo>
                        <a:pt x="986" y="285"/>
                        <a:pt x="986" y="285"/>
                        <a:pt x="986" y="285"/>
                      </a:cubicBezTo>
                      <a:cubicBezTo>
                        <a:pt x="929" y="197"/>
                        <a:pt x="929" y="197"/>
                        <a:pt x="929" y="197"/>
                      </a:cubicBezTo>
                      <a:cubicBezTo>
                        <a:pt x="832" y="235"/>
                        <a:pt x="832" y="235"/>
                        <a:pt x="832" y="235"/>
                      </a:cubicBezTo>
                      <a:cubicBezTo>
                        <a:pt x="817" y="218"/>
                        <a:pt x="800" y="203"/>
                        <a:pt x="783" y="188"/>
                      </a:cubicBezTo>
                      <a:cubicBezTo>
                        <a:pt x="784" y="187"/>
                        <a:pt x="784" y="187"/>
                        <a:pt x="784" y="187"/>
                      </a:cubicBezTo>
                      <a:cubicBezTo>
                        <a:pt x="817" y="90"/>
                        <a:pt x="817" y="90"/>
                        <a:pt x="817" y="90"/>
                      </a:cubicBezTo>
                      <a:cubicBezTo>
                        <a:pt x="725" y="40"/>
                        <a:pt x="725" y="40"/>
                        <a:pt x="725" y="40"/>
                      </a:cubicBezTo>
                      <a:cubicBezTo>
                        <a:pt x="657" y="120"/>
                        <a:pt x="657" y="120"/>
                        <a:pt x="657" y="120"/>
                      </a:cubicBezTo>
                      <a:cubicBezTo>
                        <a:pt x="636" y="112"/>
                        <a:pt x="621" y="107"/>
                        <a:pt x="591" y="103"/>
                      </a:cubicBezTo>
                      <a:cubicBezTo>
                        <a:pt x="591" y="101"/>
                        <a:pt x="591" y="101"/>
                        <a:pt x="591" y="101"/>
                      </a:cubicBezTo>
                      <a:cubicBezTo>
                        <a:pt x="574" y="0"/>
                        <a:pt x="574" y="0"/>
                        <a:pt x="574" y="0"/>
                      </a:cubicBezTo>
                      <a:cubicBezTo>
                        <a:pt x="469" y="0"/>
                        <a:pt x="469" y="0"/>
                        <a:pt x="469" y="0"/>
                      </a:cubicBezTo>
                      <a:cubicBezTo>
                        <a:pt x="449" y="103"/>
                        <a:pt x="449" y="103"/>
                        <a:pt x="449" y="103"/>
                      </a:cubicBezTo>
                      <a:cubicBezTo>
                        <a:pt x="420" y="108"/>
                        <a:pt x="391" y="116"/>
                        <a:pt x="364" y="127"/>
                      </a:cubicBezTo>
                      <a:cubicBezTo>
                        <a:pt x="363" y="125"/>
                        <a:pt x="363" y="125"/>
                        <a:pt x="363" y="125"/>
                      </a:cubicBezTo>
                      <a:cubicBezTo>
                        <a:pt x="295" y="49"/>
                        <a:pt x="295" y="49"/>
                        <a:pt x="295" y="49"/>
                      </a:cubicBezTo>
                      <a:cubicBezTo>
                        <a:pt x="206" y="104"/>
                        <a:pt x="206" y="104"/>
                        <a:pt x="206" y="104"/>
                      </a:cubicBezTo>
                      <a:cubicBezTo>
                        <a:pt x="242" y="202"/>
                        <a:pt x="242" y="202"/>
                        <a:pt x="242" y="202"/>
                      </a:cubicBezTo>
                      <a:cubicBezTo>
                        <a:pt x="217" y="225"/>
                        <a:pt x="194" y="250"/>
                        <a:pt x="175" y="278"/>
                      </a:cubicBezTo>
                      <a:cubicBezTo>
                        <a:pt x="172" y="277"/>
                        <a:pt x="172" y="277"/>
                        <a:pt x="172" y="277"/>
                      </a:cubicBezTo>
                      <a:cubicBezTo>
                        <a:pt x="74" y="251"/>
                        <a:pt x="74" y="251"/>
                        <a:pt x="74" y="251"/>
                      </a:cubicBezTo>
                      <a:cubicBezTo>
                        <a:pt x="30" y="346"/>
                        <a:pt x="30" y="346"/>
                        <a:pt x="30" y="346"/>
                      </a:cubicBezTo>
                      <a:cubicBezTo>
                        <a:pt x="115" y="408"/>
                        <a:pt x="115" y="408"/>
                        <a:pt x="115" y="408"/>
                      </a:cubicBezTo>
                      <a:cubicBezTo>
                        <a:pt x="115" y="408"/>
                        <a:pt x="115" y="408"/>
                        <a:pt x="115" y="408"/>
                      </a:cubicBezTo>
                      <a:cubicBezTo>
                        <a:pt x="109" y="429"/>
                        <a:pt x="104" y="451"/>
                        <a:pt x="102" y="474"/>
                      </a:cubicBezTo>
                      <a:cubicBezTo>
                        <a:pt x="100" y="474"/>
                        <a:pt x="100" y="474"/>
                        <a:pt x="100" y="474"/>
                      </a:cubicBezTo>
                      <a:cubicBezTo>
                        <a:pt x="0" y="498"/>
                        <a:pt x="0" y="498"/>
                        <a:pt x="0" y="498"/>
                      </a:cubicBezTo>
                      <a:cubicBezTo>
                        <a:pt x="7" y="603"/>
                        <a:pt x="7" y="603"/>
                        <a:pt x="7" y="603"/>
                      </a:cubicBezTo>
                      <a:cubicBezTo>
                        <a:pt x="112" y="617"/>
                        <a:pt x="112" y="617"/>
                        <a:pt x="112" y="617"/>
                      </a:cubicBezTo>
                      <a:cubicBezTo>
                        <a:pt x="112" y="617"/>
                        <a:pt x="112" y="617"/>
                        <a:pt x="112" y="617"/>
                      </a:cubicBezTo>
                      <a:cubicBezTo>
                        <a:pt x="118" y="638"/>
                        <a:pt x="124" y="660"/>
                        <a:pt x="133" y="680"/>
                      </a:cubicBezTo>
                      <a:cubicBezTo>
                        <a:pt x="130" y="682"/>
                        <a:pt x="130" y="682"/>
                        <a:pt x="130" y="682"/>
                      </a:cubicBezTo>
                      <a:cubicBezTo>
                        <a:pt x="55" y="751"/>
                        <a:pt x="55" y="751"/>
                        <a:pt x="55" y="751"/>
                      </a:cubicBezTo>
                      <a:cubicBezTo>
                        <a:pt x="111" y="839"/>
                        <a:pt x="111" y="839"/>
                        <a:pt x="111" y="839"/>
                      </a:cubicBezTo>
                      <a:cubicBezTo>
                        <a:pt x="209" y="801"/>
                        <a:pt x="209" y="801"/>
                        <a:pt x="209" y="801"/>
                      </a:cubicBezTo>
                      <a:cubicBezTo>
                        <a:pt x="210" y="800"/>
                        <a:pt x="210" y="800"/>
                        <a:pt x="210" y="800"/>
                      </a:cubicBezTo>
                      <a:cubicBezTo>
                        <a:pt x="225" y="817"/>
                        <a:pt x="242" y="832"/>
                        <a:pt x="259" y="846"/>
                      </a:cubicBezTo>
                      <a:cubicBezTo>
                        <a:pt x="257" y="850"/>
                        <a:pt x="257" y="850"/>
                        <a:pt x="257" y="850"/>
                      </a:cubicBezTo>
                      <a:cubicBezTo>
                        <a:pt x="224" y="946"/>
                        <a:pt x="224" y="946"/>
                        <a:pt x="224" y="946"/>
                      </a:cubicBezTo>
                      <a:cubicBezTo>
                        <a:pt x="316" y="997"/>
                        <a:pt x="316" y="997"/>
                        <a:pt x="316" y="997"/>
                      </a:cubicBezTo>
                      <a:cubicBezTo>
                        <a:pt x="384" y="916"/>
                        <a:pt x="384" y="916"/>
                        <a:pt x="384" y="916"/>
                      </a:cubicBezTo>
                      <a:cubicBezTo>
                        <a:pt x="390" y="915"/>
                        <a:pt x="390" y="915"/>
                        <a:pt x="390" y="915"/>
                      </a:cubicBezTo>
                      <a:cubicBezTo>
                        <a:pt x="411" y="922"/>
                        <a:pt x="430" y="927"/>
                        <a:pt x="460" y="931"/>
                      </a:cubicBezTo>
                      <a:cubicBezTo>
                        <a:pt x="460" y="935"/>
                        <a:pt x="460" y="935"/>
                        <a:pt x="460" y="935"/>
                      </a:cubicBezTo>
                      <a:cubicBezTo>
                        <a:pt x="467" y="1023"/>
                        <a:pt x="467" y="1023"/>
                        <a:pt x="467" y="1023"/>
                      </a:cubicBezTo>
                      <a:cubicBezTo>
                        <a:pt x="571" y="1023"/>
                        <a:pt x="571" y="1023"/>
                        <a:pt x="571" y="1023"/>
                      </a:cubicBezTo>
                      <a:cubicBezTo>
                        <a:pt x="592" y="926"/>
                        <a:pt x="592" y="926"/>
                        <a:pt x="592" y="926"/>
                      </a:cubicBezTo>
                      <a:cubicBezTo>
                        <a:pt x="592" y="928"/>
                        <a:pt x="592" y="928"/>
                        <a:pt x="592" y="928"/>
                      </a:cubicBezTo>
                      <a:cubicBezTo>
                        <a:pt x="621" y="923"/>
                        <a:pt x="649" y="917"/>
                        <a:pt x="676" y="906"/>
                      </a:cubicBezTo>
                      <a:cubicBezTo>
                        <a:pt x="678" y="910"/>
                        <a:pt x="678" y="910"/>
                        <a:pt x="678" y="910"/>
                      </a:cubicBezTo>
                      <a:cubicBezTo>
                        <a:pt x="745" y="987"/>
                        <a:pt x="745" y="987"/>
                        <a:pt x="745" y="987"/>
                      </a:cubicBezTo>
                      <a:cubicBezTo>
                        <a:pt x="835" y="932"/>
                        <a:pt x="835" y="932"/>
                        <a:pt x="835" y="932"/>
                      </a:cubicBezTo>
                      <a:cubicBezTo>
                        <a:pt x="798" y="834"/>
                        <a:pt x="798" y="834"/>
                        <a:pt x="798" y="834"/>
                      </a:cubicBezTo>
                      <a:cubicBezTo>
                        <a:pt x="798" y="833"/>
                        <a:pt x="798" y="833"/>
                        <a:pt x="798" y="833"/>
                      </a:cubicBezTo>
                      <a:cubicBezTo>
                        <a:pt x="823" y="811"/>
                        <a:pt x="846" y="785"/>
                        <a:pt x="865" y="758"/>
                      </a:cubicBezTo>
                      <a:cubicBezTo>
                        <a:pt x="868" y="759"/>
                        <a:pt x="868" y="759"/>
                        <a:pt x="868" y="759"/>
                      </a:cubicBezTo>
                      <a:cubicBezTo>
                        <a:pt x="967" y="786"/>
                        <a:pt x="967" y="786"/>
                        <a:pt x="967" y="786"/>
                      </a:cubicBezTo>
                      <a:cubicBezTo>
                        <a:pt x="1011" y="691"/>
                        <a:pt x="1011" y="691"/>
                        <a:pt x="1011" y="691"/>
                      </a:cubicBezTo>
                      <a:cubicBezTo>
                        <a:pt x="926" y="628"/>
                        <a:pt x="926" y="628"/>
                        <a:pt x="926" y="628"/>
                      </a:cubicBezTo>
                      <a:close/>
                      <a:moveTo>
                        <a:pt x="521" y="866"/>
                      </a:moveTo>
                      <a:cubicBezTo>
                        <a:pt x="328" y="866"/>
                        <a:pt x="172" y="710"/>
                        <a:pt x="172" y="517"/>
                      </a:cubicBezTo>
                      <a:cubicBezTo>
                        <a:pt x="172" y="324"/>
                        <a:pt x="328" y="168"/>
                        <a:pt x="521" y="168"/>
                      </a:cubicBezTo>
                      <a:cubicBezTo>
                        <a:pt x="713" y="168"/>
                        <a:pt x="869" y="324"/>
                        <a:pt x="869" y="517"/>
                      </a:cubicBezTo>
                      <a:cubicBezTo>
                        <a:pt x="869" y="710"/>
                        <a:pt x="713" y="866"/>
                        <a:pt x="521" y="866"/>
                      </a:cubicBezTo>
                    </a:path>
                  </a:pathLst>
                </a:custGeom>
                <a:solidFill>
                  <a:srgbClr val="427AA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14000"/>
                    </a:lnSpc>
                    <a:spcBef>
                      <a:spcPts val="10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642" name="Google Shape;642;p28"/>
              <p:cNvGrpSpPr/>
              <p:nvPr/>
            </p:nvGrpSpPr>
            <p:grpSpPr>
              <a:xfrm>
                <a:off x="8021638" y="4387850"/>
                <a:ext cx="1076325" cy="1065212"/>
                <a:chOff x="4872038" y="1847850"/>
                <a:chExt cx="1076325" cy="1065212"/>
              </a:xfrm>
            </p:grpSpPr>
            <p:sp>
              <p:nvSpPr>
                <p:cNvPr id="643" name="Google Shape;643;p28"/>
                <p:cNvSpPr/>
                <p:nvPr/>
              </p:nvSpPr>
              <p:spPr>
                <a:xfrm>
                  <a:off x="5060950" y="2030413"/>
                  <a:ext cx="698500" cy="69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" h="373" extrusionOk="0">
                      <a:moveTo>
                        <a:pt x="350" y="144"/>
                      </a:moveTo>
                      <a:cubicBezTo>
                        <a:pt x="326" y="54"/>
                        <a:pt x="234" y="0"/>
                        <a:pt x="144" y="23"/>
                      </a:cubicBezTo>
                      <a:cubicBezTo>
                        <a:pt x="54" y="47"/>
                        <a:pt x="0" y="139"/>
                        <a:pt x="23" y="229"/>
                      </a:cubicBezTo>
                      <a:cubicBezTo>
                        <a:pt x="46" y="319"/>
                        <a:pt x="139" y="373"/>
                        <a:pt x="229" y="350"/>
                      </a:cubicBezTo>
                      <a:cubicBezTo>
                        <a:pt x="319" y="327"/>
                        <a:pt x="373" y="234"/>
                        <a:pt x="350" y="144"/>
                      </a:cubicBezTo>
                    </a:path>
                  </a:pathLst>
                </a:custGeom>
                <a:solidFill>
                  <a:srgbClr val="E4B36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14000"/>
                    </a:lnSpc>
                    <a:spcBef>
                      <a:spcPts val="10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44" name="Google Shape;644;p28"/>
                <p:cNvSpPr/>
                <p:nvPr/>
              </p:nvSpPr>
              <p:spPr>
                <a:xfrm>
                  <a:off x="4872038" y="1847850"/>
                  <a:ext cx="1076325" cy="1065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" h="570" extrusionOk="0">
                      <a:moveTo>
                        <a:pt x="520" y="288"/>
                      </a:moveTo>
                      <a:cubicBezTo>
                        <a:pt x="520" y="276"/>
                        <a:pt x="520" y="263"/>
                        <a:pt x="518" y="251"/>
                      </a:cubicBezTo>
                      <a:cubicBezTo>
                        <a:pt x="519" y="250"/>
                        <a:pt x="519" y="250"/>
                        <a:pt x="519" y="250"/>
                      </a:cubicBezTo>
                      <a:cubicBezTo>
                        <a:pt x="569" y="224"/>
                        <a:pt x="569" y="224"/>
                        <a:pt x="569" y="224"/>
                      </a:cubicBezTo>
                      <a:cubicBezTo>
                        <a:pt x="551" y="168"/>
                        <a:pt x="551" y="168"/>
                        <a:pt x="551" y="168"/>
                      </a:cubicBezTo>
                      <a:cubicBezTo>
                        <a:pt x="493" y="176"/>
                        <a:pt x="493" y="176"/>
                        <a:pt x="493" y="176"/>
                      </a:cubicBezTo>
                      <a:cubicBezTo>
                        <a:pt x="487" y="164"/>
                        <a:pt x="481" y="154"/>
                        <a:pt x="473" y="144"/>
                      </a:cubicBezTo>
                      <a:cubicBezTo>
                        <a:pt x="474" y="143"/>
                        <a:pt x="474" y="143"/>
                        <a:pt x="474" y="143"/>
                      </a:cubicBezTo>
                      <a:cubicBezTo>
                        <a:pt x="505" y="96"/>
                        <a:pt x="505" y="96"/>
                        <a:pt x="505" y="96"/>
                      </a:cubicBezTo>
                      <a:cubicBezTo>
                        <a:pt x="462" y="56"/>
                        <a:pt x="462" y="56"/>
                        <a:pt x="462" y="56"/>
                      </a:cubicBezTo>
                      <a:cubicBezTo>
                        <a:pt x="415" y="90"/>
                        <a:pt x="415" y="90"/>
                        <a:pt x="415" y="90"/>
                      </a:cubicBezTo>
                      <a:cubicBezTo>
                        <a:pt x="405" y="83"/>
                        <a:pt x="394" y="77"/>
                        <a:pt x="382" y="72"/>
                      </a:cubicBezTo>
                      <a:cubicBezTo>
                        <a:pt x="383" y="71"/>
                        <a:pt x="383" y="71"/>
                        <a:pt x="383" y="71"/>
                      </a:cubicBezTo>
                      <a:cubicBezTo>
                        <a:pt x="387" y="15"/>
                        <a:pt x="387" y="15"/>
                        <a:pt x="387" y="15"/>
                      </a:cubicBezTo>
                      <a:cubicBezTo>
                        <a:pt x="330" y="0"/>
                        <a:pt x="330" y="0"/>
                        <a:pt x="330" y="0"/>
                      </a:cubicBezTo>
                      <a:cubicBezTo>
                        <a:pt x="305" y="53"/>
                        <a:pt x="305" y="53"/>
                        <a:pt x="305" y="53"/>
                      </a:cubicBezTo>
                      <a:cubicBezTo>
                        <a:pt x="293" y="52"/>
                        <a:pt x="286" y="50"/>
                        <a:pt x="267" y="53"/>
                      </a:cubicBezTo>
                      <a:cubicBezTo>
                        <a:pt x="267" y="52"/>
                        <a:pt x="267" y="52"/>
                        <a:pt x="267" y="52"/>
                      </a:cubicBezTo>
                      <a:cubicBezTo>
                        <a:pt x="245" y="1"/>
                        <a:pt x="245" y="1"/>
                        <a:pt x="245" y="1"/>
                      </a:cubicBezTo>
                      <a:cubicBezTo>
                        <a:pt x="189" y="16"/>
                        <a:pt x="189" y="16"/>
                        <a:pt x="189" y="16"/>
                      </a:cubicBezTo>
                      <a:cubicBezTo>
                        <a:pt x="192" y="73"/>
                        <a:pt x="192" y="73"/>
                        <a:pt x="192" y="73"/>
                      </a:cubicBezTo>
                      <a:cubicBezTo>
                        <a:pt x="177" y="80"/>
                        <a:pt x="162" y="88"/>
                        <a:pt x="149" y="98"/>
                      </a:cubicBezTo>
                      <a:cubicBezTo>
                        <a:pt x="148" y="97"/>
                        <a:pt x="148" y="97"/>
                        <a:pt x="148" y="97"/>
                      </a:cubicBezTo>
                      <a:cubicBezTo>
                        <a:pt x="102" y="65"/>
                        <a:pt x="102" y="65"/>
                        <a:pt x="102" y="65"/>
                      </a:cubicBezTo>
                      <a:cubicBezTo>
                        <a:pt x="61" y="107"/>
                        <a:pt x="61" y="107"/>
                        <a:pt x="61" y="107"/>
                      </a:cubicBezTo>
                      <a:cubicBezTo>
                        <a:pt x="95" y="154"/>
                        <a:pt x="95" y="154"/>
                        <a:pt x="95" y="154"/>
                      </a:cubicBezTo>
                      <a:cubicBezTo>
                        <a:pt x="84" y="170"/>
                        <a:pt x="75" y="187"/>
                        <a:pt x="69" y="205"/>
                      </a:cubicBezTo>
                      <a:cubicBezTo>
                        <a:pt x="67" y="204"/>
                        <a:pt x="67" y="204"/>
                        <a:pt x="67" y="204"/>
                      </a:cubicBezTo>
                      <a:cubicBezTo>
                        <a:pt x="11" y="204"/>
                        <a:pt x="11" y="204"/>
                        <a:pt x="11" y="204"/>
                      </a:cubicBezTo>
                      <a:cubicBezTo>
                        <a:pt x="0" y="261"/>
                        <a:pt x="0" y="261"/>
                        <a:pt x="0" y="261"/>
                      </a:cubicBezTo>
                      <a:cubicBezTo>
                        <a:pt x="55" y="282"/>
                        <a:pt x="55" y="282"/>
                        <a:pt x="55" y="282"/>
                      </a:cubicBezTo>
                      <a:cubicBezTo>
                        <a:pt x="55" y="282"/>
                        <a:pt x="55" y="282"/>
                        <a:pt x="55" y="282"/>
                      </a:cubicBezTo>
                      <a:cubicBezTo>
                        <a:pt x="55" y="295"/>
                        <a:pt x="55" y="307"/>
                        <a:pt x="57" y="320"/>
                      </a:cubicBezTo>
                      <a:cubicBezTo>
                        <a:pt x="56" y="320"/>
                        <a:pt x="56" y="320"/>
                        <a:pt x="56" y="320"/>
                      </a:cubicBezTo>
                      <a:cubicBezTo>
                        <a:pt x="6" y="347"/>
                        <a:pt x="6" y="347"/>
                        <a:pt x="6" y="347"/>
                      </a:cubicBezTo>
                      <a:cubicBezTo>
                        <a:pt x="24" y="402"/>
                        <a:pt x="24" y="402"/>
                        <a:pt x="24" y="402"/>
                      </a:cubicBezTo>
                      <a:cubicBezTo>
                        <a:pt x="82" y="395"/>
                        <a:pt x="82" y="395"/>
                        <a:pt x="82" y="395"/>
                      </a:cubicBezTo>
                      <a:cubicBezTo>
                        <a:pt x="82" y="395"/>
                        <a:pt x="82" y="395"/>
                        <a:pt x="82" y="395"/>
                      </a:cubicBezTo>
                      <a:cubicBezTo>
                        <a:pt x="88" y="406"/>
                        <a:pt x="95" y="416"/>
                        <a:pt x="102" y="426"/>
                      </a:cubicBezTo>
                      <a:cubicBezTo>
                        <a:pt x="101" y="427"/>
                        <a:pt x="101" y="427"/>
                        <a:pt x="101" y="427"/>
                      </a:cubicBezTo>
                      <a:cubicBezTo>
                        <a:pt x="70" y="475"/>
                        <a:pt x="70" y="475"/>
                        <a:pt x="70" y="475"/>
                      </a:cubicBezTo>
                      <a:cubicBezTo>
                        <a:pt x="113" y="514"/>
                        <a:pt x="113" y="514"/>
                        <a:pt x="113" y="514"/>
                      </a:cubicBezTo>
                      <a:cubicBezTo>
                        <a:pt x="160" y="480"/>
                        <a:pt x="160" y="480"/>
                        <a:pt x="160" y="480"/>
                      </a:cubicBezTo>
                      <a:cubicBezTo>
                        <a:pt x="160" y="480"/>
                        <a:pt x="160" y="480"/>
                        <a:pt x="160" y="480"/>
                      </a:cubicBezTo>
                      <a:cubicBezTo>
                        <a:pt x="171" y="486"/>
                        <a:pt x="182" y="492"/>
                        <a:pt x="193" y="497"/>
                      </a:cubicBezTo>
                      <a:cubicBezTo>
                        <a:pt x="192" y="499"/>
                        <a:pt x="192" y="499"/>
                        <a:pt x="192" y="499"/>
                      </a:cubicBezTo>
                      <a:cubicBezTo>
                        <a:pt x="188" y="556"/>
                        <a:pt x="188" y="556"/>
                        <a:pt x="188" y="556"/>
                      </a:cubicBezTo>
                      <a:cubicBezTo>
                        <a:pt x="244" y="570"/>
                        <a:pt x="244" y="570"/>
                        <a:pt x="244" y="570"/>
                      </a:cubicBezTo>
                      <a:cubicBezTo>
                        <a:pt x="269" y="517"/>
                        <a:pt x="269" y="517"/>
                        <a:pt x="269" y="517"/>
                      </a:cubicBezTo>
                      <a:cubicBezTo>
                        <a:pt x="274" y="516"/>
                        <a:pt x="274" y="516"/>
                        <a:pt x="274" y="516"/>
                      </a:cubicBezTo>
                      <a:cubicBezTo>
                        <a:pt x="286" y="517"/>
                        <a:pt x="296" y="517"/>
                        <a:pt x="315" y="514"/>
                      </a:cubicBezTo>
                      <a:cubicBezTo>
                        <a:pt x="315" y="517"/>
                        <a:pt x="315" y="517"/>
                        <a:pt x="315" y="517"/>
                      </a:cubicBezTo>
                      <a:cubicBezTo>
                        <a:pt x="329" y="563"/>
                        <a:pt x="329" y="563"/>
                        <a:pt x="329" y="563"/>
                      </a:cubicBezTo>
                      <a:cubicBezTo>
                        <a:pt x="385" y="549"/>
                        <a:pt x="385" y="549"/>
                        <a:pt x="385" y="549"/>
                      </a:cubicBezTo>
                      <a:cubicBezTo>
                        <a:pt x="382" y="494"/>
                        <a:pt x="382" y="494"/>
                        <a:pt x="382" y="494"/>
                      </a:cubicBezTo>
                      <a:cubicBezTo>
                        <a:pt x="383" y="495"/>
                        <a:pt x="383" y="495"/>
                        <a:pt x="383" y="495"/>
                      </a:cubicBezTo>
                      <a:cubicBezTo>
                        <a:pt x="398" y="488"/>
                        <a:pt x="412" y="481"/>
                        <a:pt x="425" y="472"/>
                      </a:cubicBezTo>
                      <a:cubicBezTo>
                        <a:pt x="426" y="473"/>
                        <a:pt x="426" y="473"/>
                        <a:pt x="426" y="473"/>
                      </a:cubicBezTo>
                      <a:cubicBezTo>
                        <a:pt x="473" y="505"/>
                        <a:pt x="473" y="505"/>
                        <a:pt x="473" y="505"/>
                      </a:cubicBezTo>
                      <a:cubicBezTo>
                        <a:pt x="514" y="463"/>
                        <a:pt x="514" y="463"/>
                        <a:pt x="514" y="463"/>
                      </a:cubicBezTo>
                      <a:cubicBezTo>
                        <a:pt x="480" y="416"/>
                        <a:pt x="480" y="416"/>
                        <a:pt x="480" y="416"/>
                      </a:cubicBezTo>
                      <a:cubicBezTo>
                        <a:pt x="480" y="415"/>
                        <a:pt x="480" y="415"/>
                        <a:pt x="480" y="415"/>
                      </a:cubicBezTo>
                      <a:cubicBezTo>
                        <a:pt x="490" y="400"/>
                        <a:pt x="499" y="383"/>
                        <a:pt x="506" y="366"/>
                      </a:cubicBezTo>
                      <a:cubicBezTo>
                        <a:pt x="508" y="366"/>
                        <a:pt x="508" y="366"/>
                        <a:pt x="508" y="366"/>
                      </a:cubicBezTo>
                      <a:cubicBezTo>
                        <a:pt x="564" y="367"/>
                        <a:pt x="564" y="367"/>
                        <a:pt x="564" y="367"/>
                      </a:cubicBezTo>
                      <a:cubicBezTo>
                        <a:pt x="575" y="309"/>
                        <a:pt x="575" y="309"/>
                        <a:pt x="575" y="309"/>
                      </a:cubicBezTo>
                      <a:cubicBezTo>
                        <a:pt x="520" y="288"/>
                        <a:pt x="520" y="288"/>
                        <a:pt x="520" y="288"/>
                      </a:cubicBezTo>
                      <a:close/>
                      <a:moveTo>
                        <a:pt x="336" y="472"/>
                      </a:moveTo>
                      <a:cubicBezTo>
                        <a:pt x="233" y="498"/>
                        <a:pt x="127" y="436"/>
                        <a:pt x="100" y="333"/>
                      </a:cubicBezTo>
                      <a:cubicBezTo>
                        <a:pt x="74" y="230"/>
                        <a:pt x="136" y="124"/>
                        <a:pt x="239" y="98"/>
                      </a:cubicBezTo>
                      <a:cubicBezTo>
                        <a:pt x="342" y="71"/>
                        <a:pt x="448" y="133"/>
                        <a:pt x="474" y="236"/>
                      </a:cubicBezTo>
                      <a:cubicBezTo>
                        <a:pt x="501" y="339"/>
                        <a:pt x="439" y="445"/>
                        <a:pt x="336" y="472"/>
                      </a:cubicBezTo>
                    </a:path>
                  </a:pathLst>
                </a:custGeom>
                <a:solidFill>
                  <a:srgbClr val="E4B36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14000"/>
                    </a:lnSpc>
                    <a:spcBef>
                      <a:spcPts val="10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645" name="Google Shape;645;p28"/>
              <p:cNvGrpSpPr/>
              <p:nvPr/>
            </p:nvGrpSpPr>
            <p:grpSpPr>
              <a:xfrm>
                <a:off x="6821488" y="3603625"/>
                <a:ext cx="1336675" cy="1341437"/>
                <a:chOff x="3671888" y="1063625"/>
                <a:chExt cx="1336675" cy="1341437"/>
              </a:xfrm>
            </p:grpSpPr>
            <p:sp>
              <p:nvSpPr>
                <p:cNvPr id="646" name="Google Shape;646;p28"/>
                <p:cNvSpPr/>
                <p:nvPr/>
              </p:nvSpPr>
              <p:spPr>
                <a:xfrm>
                  <a:off x="3890963" y="1284288"/>
                  <a:ext cx="896937" cy="895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" h="479" extrusionOk="0">
                      <a:moveTo>
                        <a:pt x="430" y="151"/>
                      </a:moveTo>
                      <a:cubicBezTo>
                        <a:pt x="381" y="46"/>
                        <a:pt x="256" y="0"/>
                        <a:pt x="151" y="49"/>
                      </a:cubicBezTo>
                      <a:cubicBezTo>
                        <a:pt x="46" y="98"/>
                        <a:pt x="0" y="223"/>
                        <a:pt x="49" y="329"/>
                      </a:cubicBezTo>
                      <a:cubicBezTo>
                        <a:pt x="98" y="434"/>
                        <a:pt x="223" y="479"/>
                        <a:pt x="328" y="430"/>
                      </a:cubicBezTo>
                      <a:cubicBezTo>
                        <a:pt x="434" y="381"/>
                        <a:pt x="479" y="256"/>
                        <a:pt x="430" y="151"/>
                      </a:cubicBezTo>
                    </a:path>
                  </a:pathLst>
                </a:custGeom>
                <a:solidFill>
                  <a:srgbClr val="EF646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14000"/>
                    </a:lnSpc>
                    <a:spcBef>
                      <a:spcPts val="10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47" name="Google Shape;647;p28"/>
                <p:cNvSpPr/>
                <p:nvPr/>
              </p:nvSpPr>
              <p:spPr>
                <a:xfrm>
                  <a:off x="3671888" y="1063625"/>
                  <a:ext cx="1336675" cy="134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" h="717" extrusionOk="0">
                      <a:moveTo>
                        <a:pt x="642" y="309"/>
                      </a:moveTo>
                      <a:cubicBezTo>
                        <a:pt x="640" y="294"/>
                        <a:pt x="636" y="279"/>
                        <a:pt x="631" y="264"/>
                      </a:cubicBezTo>
                      <a:cubicBezTo>
                        <a:pt x="633" y="263"/>
                        <a:pt x="633" y="263"/>
                        <a:pt x="633" y="263"/>
                      </a:cubicBezTo>
                      <a:cubicBezTo>
                        <a:pt x="688" y="220"/>
                        <a:pt x="688" y="220"/>
                        <a:pt x="688" y="220"/>
                      </a:cubicBezTo>
                      <a:cubicBezTo>
                        <a:pt x="653" y="156"/>
                        <a:pt x="653" y="156"/>
                        <a:pt x="653" y="156"/>
                      </a:cubicBezTo>
                      <a:cubicBezTo>
                        <a:pt x="584" y="178"/>
                        <a:pt x="584" y="178"/>
                        <a:pt x="584" y="178"/>
                      </a:cubicBezTo>
                      <a:cubicBezTo>
                        <a:pt x="574" y="166"/>
                        <a:pt x="564" y="154"/>
                        <a:pt x="552" y="144"/>
                      </a:cubicBezTo>
                      <a:cubicBezTo>
                        <a:pt x="553" y="143"/>
                        <a:pt x="553" y="143"/>
                        <a:pt x="553" y="143"/>
                      </a:cubicBezTo>
                      <a:cubicBezTo>
                        <a:pt x="580" y="78"/>
                        <a:pt x="580" y="78"/>
                        <a:pt x="580" y="78"/>
                      </a:cubicBezTo>
                      <a:cubicBezTo>
                        <a:pt x="519" y="39"/>
                        <a:pt x="519" y="39"/>
                        <a:pt x="519" y="39"/>
                      </a:cubicBezTo>
                      <a:cubicBezTo>
                        <a:pt x="469" y="91"/>
                        <a:pt x="469" y="91"/>
                        <a:pt x="469" y="91"/>
                      </a:cubicBezTo>
                      <a:cubicBezTo>
                        <a:pt x="455" y="85"/>
                        <a:pt x="440" y="80"/>
                        <a:pt x="425" y="76"/>
                      </a:cubicBezTo>
                      <a:cubicBezTo>
                        <a:pt x="425" y="75"/>
                        <a:pt x="425" y="75"/>
                        <a:pt x="425" y="75"/>
                      </a:cubicBezTo>
                      <a:cubicBezTo>
                        <a:pt x="417" y="5"/>
                        <a:pt x="417" y="5"/>
                        <a:pt x="417" y="5"/>
                      </a:cubicBezTo>
                      <a:cubicBezTo>
                        <a:pt x="345" y="0"/>
                        <a:pt x="345" y="0"/>
                        <a:pt x="345" y="0"/>
                      </a:cubicBezTo>
                      <a:cubicBezTo>
                        <a:pt x="326" y="70"/>
                        <a:pt x="326" y="70"/>
                        <a:pt x="326" y="70"/>
                      </a:cubicBezTo>
                      <a:cubicBezTo>
                        <a:pt x="311" y="71"/>
                        <a:pt x="302" y="71"/>
                        <a:pt x="280" y="79"/>
                      </a:cubicBezTo>
                      <a:cubicBezTo>
                        <a:pt x="279" y="77"/>
                        <a:pt x="279" y="77"/>
                        <a:pt x="279" y="77"/>
                      </a:cubicBezTo>
                      <a:cubicBezTo>
                        <a:pt x="241" y="21"/>
                        <a:pt x="241" y="21"/>
                        <a:pt x="241" y="21"/>
                      </a:cubicBezTo>
                      <a:cubicBezTo>
                        <a:pt x="175" y="51"/>
                        <a:pt x="175" y="51"/>
                        <a:pt x="175" y="51"/>
                      </a:cubicBezTo>
                      <a:cubicBezTo>
                        <a:pt x="192" y="120"/>
                        <a:pt x="192" y="120"/>
                        <a:pt x="192" y="120"/>
                      </a:cubicBezTo>
                      <a:cubicBezTo>
                        <a:pt x="175" y="132"/>
                        <a:pt x="159" y="145"/>
                        <a:pt x="145" y="160"/>
                      </a:cubicBezTo>
                      <a:cubicBezTo>
                        <a:pt x="144" y="159"/>
                        <a:pt x="144" y="159"/>
                        <a:pt x="144" y="159"/>
                      </a:cubicBezTo>
                      <a:cubicBezTo>
                        <a:pt x="79" y="131"/>
                        <a:pt x="79" y="131"/>
                        <a:pt x="79" y="131"/>
                      </a:cubicBezTo>
                      <a:cubicBezTo>
                        <a:pt x="40" y="191"/>
                        <a:pt x="40" y="191"/>
                        <a:pt x="40" y="191"/>
                      </a:cubicBezTo>
                      <a:cubicBezTo>
                        <a:pt x="91" y="242"/>
                        <a:pt x="91" y="242"/>
                        <a:pt x="91" y="242"/>
                      </a:cubicBezTo>
                      <a:cubicBezTo>
                        <a:pt x="82" y="263"/>
                        <a:pt x="75" y="286"/>
                        <a:pt x="71" y="309"/>
                      </a:cubicBezTo>
                      <a:cubicBezTo>
                        <a:pt x="69" y="309"/>
                        <a:pt x="69" y="309"/>
                        <a:pt x="69" y="309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94"/>
                        <a:pt x="0" y="394"/>
                        <a:pt x="0" y="394"/>
                      </a:cubicBezTo>
                      <a:cubicBezTo>
                        <a:pt x="71" y="408"/>
                        <a:pt x="71" y="408"/>
                        <a:pt x="71" y="408"/>
                      </a:cubicBezTo>
                      <a:cubicBezTo>
                        <a:pt x="71" y="408"/>
                        <a:pt x="71" y="408"/>
                        <a:pt x="71" y="408"/>
                      </a:cubicBezTo>
                      <a:cubicBezTo>
                        <a:pt x="74" y="423"/>
                        <a:pt x="77" y="438"/>
                        <a:pt x="82" y="453"/>
                      </a:cubicBezTo>
                      <a:cubicBezTo>
                        <a:pt x="81" y="454"/>
                        <a:pt x="81" y="454"/>
                        <a:pt x="81" y="454"/>
                      </a:cubicBezTo>
                      <a:cubicBezTo>
                        <a:pt x="26" y="498"/>
                        <a:pt x="26" y="498"/>
                        <a:pt x="26" y="498"/>
                      </a:cubicBezTo>
                      <a:cubicBezTo>
                        <a:pt x="61" y="561"/>
                        <a:pt x="61" y="561"/>
                        <a:pt x="61" y="561"/>
                      </a:cubicBezTo>
                      <a:cubicBezTo>
                        <a:pt x="130" y="539"/>
                        <a:pt x="130" y="539"/>
                        <a:pt x="130" y="539"/>
                      </a:cubicBezTo>
                      <a:cubicBezTo>
                        <a:pt x="130" y="539"/>
                        <a:pt x="130" y="539"/>
                        <a:pt x="130" y="539"/>
                      </a:cubicBezTo>
                      <a:cubicBezTo>
                        <a:pt x="140" y="551"/>
                        <a:pt x="150" y="563"/>
                        <a:pt x="162" y="573"/>
                      </a:cubicBezTo>
                      <a:cubicBezTo>
                        <a:pt x="161" y="575"/>
                        <a:pt x="161" y="575"/>
                        <a:pt x="161" y="575"/>
                      </a:cubicBezTo>
                      <a:cubicBezTo>
                        <a:pt x="133" y="640"/>
                        <a:pt x="133" y="640"/>
                        <a:pt x="133" y="640"/>
                      </a:cubicBezTo>
                      <a:cubicBezTo>
                        <a:pt x="194" y="678"/>
                        <a:pt x="194" y="678"/>
                        <a:pt x="194" y="678"/>
                      </a:cubicBezTo>
                      <a:cubicBezTo>
                        <a:pt x="245" y="626"/>
                        <a:pt x="245" y="626"/>
                        <a:pt x="245" y="626"/>
                      </a:cubicBezTo>
                      <a:cubicBezTo>
                        <a:pt x="245" y="625"/>
                        <a:pt x="245" y="625"/>
                        <a:pt x="245" y="625"/>
                      </a:cubicBezTo>
                      <a:cubicBezTo>
                        <a:pt x="259" y="631"/>
                        <a:pt x="274" y="636"/>
                        <a:pt x="289" y="640"/>
                      </a:cubicBezTo>
                      <a:cubicBezTo>
                        <a:pt x="289" y="642"/>
                        <a:pt x="289" y="642"/>
                        <a:pt x="289" y="642"/>
                      </a:cubicBezTo>
                      <a:cubicBezTo>
                        <a:pt x="296" y="712"/>
                        <a:pt x="296" y="712"/>
                        <a:pt x="296" y="712"/>
                      </a:cubicBezTo>
                      <a:cubicBezTo>
                        <a:pt x="368" y="717"/>
                        <a:pt x="368" y="717"/>
                        <a:pt x="368" y="717"/>
                      </a:cubicBezTo>
                      <a:cubicBezTo>
                        <a:pt x="387" y="647"/>
                        <a:pt x="387" y="647"/>
                        <a:pt x="387" y="647"/>
                      </a:cubicBezTo>
                      <a:cubicBezTo>
                        <a:pt x="392" y="644"/>
                        <a:pt x="392" y="644"/>
                        <a:pt x="392" y="644"/>
                      </a:cubicBezTo>
                      <a:cubicBezTo>
                        <a:pt x="407" y="642"/>
                        <a:pt x="419" y="641"/>
                        <a:pt x="442" y="633"/>
                      </a:cubicBezTo>
                      <a:cubicBezTo>
                        <a:pt x="443" y="636"/>
                        <a:pt x="443" y="636"/>
                        <a:pt x="443" y="636"/>
                      </a:cubicBezTo>
                      <a:cubicBezTo>
                        <a:pt x="470" y="690"/>
                        <a:pt x="470" y="690"/>
                        <a:pt x="470" y="690"/>
                      </a:cubicBezTo>
                      <a:cubicBezTo>
                        <a:pt x="536" y="659"/>
                        <a:pt x="536" y="659"/>
                        <a:pt x="536" y="659"/>
                      </a:cubicBezTo>
                      <a:cubicBezTo>
                        <a:pt x="520" y="593"/>
                        <a:pt x="520" y="593"/>
                        <a:pt x="520" y="593"/>
                      </a:cubicBezTo>
                      <a:cubicBezTo>
                        <a:pt x="521" y="594"/>
                        <a:pt x="521" y="594"/>
                        <a:pt x="521" y="594"/>
                      </a:cubicBezTo>
                      <a:cubicBezTo>
                        <a:pt x="537" y="582"/>
                        <a:pt x="553" y="570"/>
                        <a:pt x="567" y="556"/>
                      </a:cubicBezTo>
                      <a:cubicBezTo>
                        <a:pt x="569" y="558"/>
                        <a:pt x="569" y="558"/>
                        <a:pt x="569" y="558"/>
                      </a:cubicBezTo>
                      <a:cubicBezTo>
                        <a:pt x="634" y="586"/>
                        <a:pt x="634" y="586"/>
                        <a:pt x="634" y="586"/>
                      </a:cubicBezTo>
                      <a:cubicBezTo>
                        <a:pt x="674" y="526"/>
                        <a:pt x="674" y="526"/>
                        <a:pt x="674" y="526"/>
                      </a:cubicBezTo>
                      <a:cubicBezTo>
                        <a:pt x="622" y="475"/>
                        <a:pt x="622" y="475"/>
                        <a:pt x="622" y="475"/>
                      </a:cubicBezTo>
                      <a:cubicBezTo>
                        <a:pt x="622" y="475"/>
                        <a:pt x="622" y="475"/>
                        <a:pt x="622" y="475"/>
                      </a:cubicBezTo>
                      <a:cubicBezTo>
                        <a:pt x="631" y="453"/>
                        <a:pt x="638" y="431"/>
                        <a:pt x="642" y="408"/>
                      </a:cubicBezTo>
                      <a:cubicBezTo>
                        <a:pt x="644" y="408"/>
                        <a:pt x="644" y="408"/>
                        <a:pt x="644" y="408"/>
                      </a:cubicBezTo>
                      <a:cubicBezTo>
                        <a:pt x="714" y="396"/>
                        <a:pt x="714" y="396"/>
                        <a:pt x="714" y="396"/>
                      </a:cubicBezTo>
                      <a:cubicBezTo>
                        <a:pt x="714" y="323"/>
                        <a:pt x="714" y="323"/>
                        <a:pt x="714" y="323"/>
                      </a:cubicBezTo>
                      <a:cubicBezTo>
                        <a:pt x="643" y="309"/>
                        <a:pt x="643" y="309"/>
                        <a:pt x="643" y="309"/>
                      </a:cubicBezTo>
                      <a:lnTo>
                        <a:pt x="642" y="309"/>
                      </a:lnTo>
                      <a:close/>
                      <a:moveTo>
                        <a:pt x="458" y="576"/>
                      </a:moveTo>
                      <a:cubicBezTo>
                        <a:pt x="338" y="632"/>
                        <a:pt x="195" y="580"/>
                        <a:pt x="139" y="459"/>
                      </a:cubicBezTo>
                      <a:cubicBezTo>
                        <a:pt x="82" y="339"/>
                        <a:pt x="135" y="196"/>
                        <a:pt x="255" y="140"/>
                      </a:cubicBezTo>
                      <a:cubicBezTo>
                        <a:pt x="375" y="84"/>
                        <a:pt x="519" y="136"/>
                        <a:pt x="575" y="256"/>
                      </a:cubicBezTo>
                      <a:cubicBezTo>
                        <a:pt x="631" y="377"/>
                        <a:pt x="578" y="520"/>
                        <a:pt x="458" y="576"/>
                      </a:cubicBezTo>
                    </a:path>
                  </a:pathLst>
                </a:custGeom>
                <a:solidFill>
                  <a:srgbClr val="EF646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14000"/>
                    </a:lnSpc>
                    <a:spcBef>
                      <a:spcPts val="10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2200" b="0" i="0" u="none" strike="noStrike" cap="none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sp>
          <p:nvSpPr>
            <p:cNvPr id="648" name="Google Shape;648;p28"/>
            <p:cNvSpPr/>
            <p:nvPr/>
          </p:nvSpPr>
          <p:spPr>
            <a:xfrm>
              <a:off x="7731218" y="6293475"/>
              <a:ext cx="577737" cy="491072"/>
            </a:xfrm>
            <a:custGeom>
              <a:avLst/>
              <a:gdLst/>
              <a:ahLst/>
              <a:cxnLst/>
              <a:rect l="l" t="t" r="r" b="b"/>
              <a:pathLst>
                <a:path w="64" h="54" extrusionOk="0">
                  <a:moveTo>
                    <a:pt x="54" y="29"/>
                  </a:moveTo>
                  <a:cubicBezTo>
                    <a:pt x="54" y="30"/>
                    <a:pt x="54" y="30"/>
                    <a:pt x="54" y="31"/>
                  </a:cubicBezTo>
                  <a:cubicBezTo>
                    <a:pt x="54" y="43"/>
                    <a:pt x="54" y="43"/>
                    <a:pt x="54" y="43"/>
                  </a:cubicBezTo>
                  <a:cubicBezTo>
                    <a:pt x="54" y="46"/>
                    <a:pt x="53" y="48"/>
                    <a:pt x="51" y="51"/>
                  </a:cubicBezTo>
                  <a:cubicBezTo>
                    <a:pt x="49" y="53"/>
                    <a:pt x="46" y="54"/>
                    <a:pt x="43" y="5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8" y="54"/>
                    <a:pt x="6" y="53"/>
                    <a:pt x="4" y="51"/>
                  </a:cubicBezTo>
                  <a:cubicBezTo>
                    <a:pt x="1" y="48"/>
                    <a:pt x="0" y="46"/>
                    <a:pt x="0" y="4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8" y="0"/>
                    <a:pt x="11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5" y="0"/>
                    <a:pt x="46" y="0"/>
                    <a:pt x="48" y="1"/>
                  </a:cubicBezTo>
                  <a:cubicBezTo>
                    <a:pt x="48" y="1"/>
                    <a:pt x="48" y="1"/>
                    <a:pt x="48" y="2"/>
                  </a:cubicBezTo>
                  <a:cubicBezTo>
                    <a:pt x="49" y="2"/>
                    <a:pt x="48" y="2"/>
                    <a:pt x="48" y="3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46" y="5"/>
                    <a:pt x="45" y="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4" y="5"/>
                    <a:pt x="44" y="5"/>
                    <a:pt x="4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8" y="5"/>
                    <a:pt x="7" y="7"/>
                  </a:cubicBezTo>
                  <a:cubicBezTo>
                    <a:pt x="6" y="8"/>
                    <a:pt x="5" y="9"/>
                    <a:pt x="5" y="11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6" y="46"/>
                    <a:pt x="7" y="47"/>
                  </a:cubicBezTo>
                  <a:cubicBezTo>
                    <a:pt x="8" y="48"/>
                    <a:pt x="10" y="49"/>
                    <a:pt x="11" y="49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5" y="49"/>
                    <a:pt x="46" y="48"/>
                    <a:pt x="48" y="47"/>
                  </a:cubicBezTo>
                  <a:cubicBezTo>
                    <a:pt x="49" y="46"/>
                    <a:pt x="49" y="44"/>
                    <a:pt x="49" y="4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9" y="33"/>
                    <a:pt x="50" y="32"/>
                    <a:pt x="50" y="32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29"/>
                    <a:pt x="53" y="29"/>
                    <a:pt x="53" y="29"/>
                  </a:cubicBezTo>
                  <a:cubicBezTo>
                    <a:pt x="53" y="29"/>
                    <a:pt x="53" y="29"/>
                    <a:pt x="54" y="29"/>
                  </a:cubicBezTo>
                  <a:close/>
                  <a:moveTo>
                    <a:pt x="63" y="12"/>
                  </a:moveTo>
                  <a:cubicBezTo>
                    <a:pt x="32" y="43"/>
                    <a:pt x="32" y="43"/>
                    <a:pt x="32" y="43"/>
                  </a:cubicBezTo>
                  <a:cubicBezTo>
                    <a:pt x="31" y="44"/>
                    <a:pt x="31" y="44"/>
                    <a:pt x="30" y="44"/>
                  </a:cubicBezTo>
                  <a:cubicBezTo>
                    <a:pt x="29" y="44"/>
                    <a:pt x="28" y="44"/>
                    <a:pt x="28" y="43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6"/>
                    <a:pt x="10" y="25"/>
                    <a:pt x="10" y="24"/>
                  </a:cubicBezTo>
                  <a:cubicBezTo>
                    <a:pt x="10" y="24"/>
                    <a:pt x="11" y="23"/>
                    <a:pt x="11" y="2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7"/>
                    <a:pt x="17" y="17"/>
                    <a:pt x="18" y="17"/>
                  </a:cubicBezTo>
                  <a:cubicBezTo>
                    <a:pt x="18" y="17"/>
                    <a:pt x="19" y="17"/>
                    <a:pt x="20" y="1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5" y="3"/>
                    <a:pt x="56" y="2"/>
                    <a:pt x="57" y="2"/>
                  </a:cubicBezTo>
                  <a:cubicBezTo>
                    <a:pt x="58" y="2"/>
                    <a:pt x="58" y="3"/>
                    <a:pt x="59" y="3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8"/>
                    <a:pt x="64" y="9"/>
                    <a:pt x="64" y="10"/>
                  </a:cubicBezTo>
                  <a:cubicBezTo>
                    <a:pt x="64" y="10"/>
                    <a:pt x="64" y="11"/>
                    <a:pt x="63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7831052" y="4105678"/>
              <a:ext cx="359195" cy="305313"/>
            </a:xfrm>
            <a:custGeom>
              <a:avLst/>
              <a:gdLst/>
              <a:ahLst/>
              <a:cxnLst/>
              <a:rect l="l" t="t" r="r" b="b"/>
              <a:pathLst>
                <a:path w="64" h="54" extrusionOk="0">
                  <a:moveTo>
                    <a:pt x="54" y="29"/>
                  </a:moveTo>
                  <a:cubicBezTo>
                    <a:pt x="54" y="30"/>
                    <a:pt x="54" y="30"/>
                    <a:pt x="54" y="31"/>
                  </a:cubicBezTo>
                  <a:cubicBezTo>
                    <a:pt x="54" y="43"/>
                    <a:pt x="54" y="43"/>
                    <a:pt x="54" y="43"/>
                  </a:cubicBezTo>
                  <a:cubicBezTo>
                    <a:pt x="54" y="46"/>
                    <a:pt x="53" y="48"/>
                    <a:pt x="51" y="51"/>
                  </a:cubicBezTo>
                  <a:cubicBezTo>
                    <a:pt x="49" y="53"/>
                    <a:pt x="46" y="54"/>
                    <a:pt x="43" y="5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8" y="54"/>
                    <a:pt x="6" y="53"/>
                    <a:pt x="4" y="51"/>
                  </a:cubicBezTo>
                  <a:cubicBezTo>
                    <a:pt x="1" y="48"/>
                    <a:pt x="0" y="46"/>
                    <a:pt x="0" y="4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8" y="0"/>
                    <a:pt x="11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5" y="0"/>
                    <a:pt x="46" y="0"/>
                    <a:pt x="48" y="1"/>
                  </a:cubicBezTo>
                  <a:cubicBezTo>
                    <a:pt x="48" y="1"/>
                    <a:pt x="48" y="1"/>
                    <a:pt x="48" y="2"/>
                  </a:cubicBezTo>
                  <a:cubicBezTo>
                    <a:pt x="49" y="2"/>
                    <a:pt x="48" y="2"/>
                    <a:pt x="48" y="3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46" y="5"/>
                    <a:pt x="45" y="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4" y="5"/>
                    <a:pt x="44" y="5"/>
                    <a:pt x="4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8" y="5"/>
                    <a:pt x="7" y="7"/>
                  </a:cubicBezTo>
                  <a:cubicBezTo>
                    <a:pt x="6" y="8"/>
                    <a:pt x="5" y="9"/>
                    <a:pt x="5" y="11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6" y="46"/>
                    <a:pt x="7" y="47"/>
                  </a:cubicBezTo>
                  <a:cubicBezTo>
                    <a:pt x="8" y="48"/>
                    <a:pt x="10" y="49"/>
                    <a:pt x="11" y="49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5" y="49"/>
                    <a:pt x="46" y="48"/>
                    <a:pt x="48" y="47"/>
                  </a:cubicBezTo>
                  <a:cubicBezTo>
                    <a:pt x="49" y="46"/>
                    <a:pt x="49" y="44"/>
                    <a:pt x="49" y="4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9" y="33"/>
                    <a:pt x="50" y="32"/>
                    <a:pt x="50" y="32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29"/>
                    <a:pt x="53" y="29"/>
                    <a:pt x="53" y="29"/>
                  </a:cubicBezTo>
                  <a:cubicBezTo>
                    <a:pt x="53" y="29"/>
                    <a:pt x="53" y="29"/>
                    <a:pt x="54" y="29"/>
                  </a:cubicBezTo>
                  <a:close/>
                  <a:moveTo>
                    <a:pt x="63" y="12"/>
                  </a:moveTo>
                  <a:cubicBezTo>
                    <a:pt x="32" y="43"/>
                    <a:pt x="32" y="43"/>
                    <a:pt x="32" y="43"/>
                  </a:cubicBezTo>
                  <a:cubicBezTo>
                    <a:pt x="31" y="44"/>
                    <a:pt x="31" y="44"/>
                    <a:pt x="30" y="44"/>
                  </a:cubicBezTo>
                  <a:cubicBezTo>
                    <a:pt x="29" y="44"/>
                    <a:pt x="28" y="44"/>
                    <a:pt x="28" y="43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6"/>
                    <a:pt x="10" y="25"/>
                    <a:pt x="10" y="24"/>
                  </a:cubicBezTo>
                  <a:cubicBezTo>
                    <a:pt x="10" y="24"/>
                    <a:pt x="11" y="23"/>
                    <a:pt x="11" y="2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7"/>
                    <a:pt x="17" y="17"/>
                    <a:pt x="18" y="17"/>
                  </a:cubicBezTo>
                  <a:cubicBezTo>
                    <a:pt x="18" y="17"/>
                    <a:pt x="19" y="17"/>
                    <a:pt x="20" y="1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5" y="3"/>
                    <a:pt x="56" y="2"/>
                    <a:pt x="57" y="2"/>
                  </a:cubicBezTo>
                  <a:cubicBezTo>
                    <a:pt x="58" y="2"/>
                    <a:pt x="58" y="3"/>
                    <a:pt x="59" y="3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8"/>
                    <a:pt x="64" y="9"/>
                    <a:pt x="64" y="10"/>
                  </a:cubicBezTo>
                  <a:cubicBezTo>
                    <a:pt x="64" y="10"/>
                    <a:pt x="64" y="11"/>
                    <a:pt x="63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9223164" y="4947623"/>
              <a:ext cx="405012" cy="344257"/>
            </a:xfrm>
            <a:custGeom>
              <a:avLst/>
              <a:gdLst/>
              <a:ahLst/>
              <a:cxnLst/>
              <a:rect l="l" t="t" r="r" b="b"/>
              <a:pathLst>
                <a:path w="64" h="54" extrusionOk="0">
                  <a:moveTo>
                    <a:pt x="54" y="29"/>
                  </a:moveTo>
                  <a:cubicBezTo>
                    <a:pt x="54" y="30"/>
                    <a:pt x="54" y="30"/>
                    <a:pt x="54" y="31"/>
                  </a:cubicBezTo>
                  <a:cubicBezTo>
                    <a:pt x="54" y="43"/>
                    <a:pt x="54" y="43"/>
                    <a:pt x="54" y="43"/>
                  </a:cubicBezTo>
                  <a:cubicBezTo>
                    <a:pt x="54" y="46"/>
                    <a:pt x="53" y="48"/>
                    <a:pt x="51" y="51"/>
                  </a:cubicBezTo>
                  <a:cubicBezTo>
                    <a:pt x="49" y="53"/>
                    <a:pt x="46" y="54"/>
                    <a:pt x="43" y="5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8" y="54"/>
                    <a:pt x="6" y="53"/>
                    <a:pt x="4" y="51"/>
                  </a:cubicBezTo>
                  <a:cubicBezTo>
                    <a:pt x="1" y="48"/>
                    <a:pt x="0" y="46"/>
                    <a:pt x="0" y="4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8" y="0"/>
                    <a:pt x="11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5" y="0"/>
                    <a:pt x="46" y="0"/>
                    <a:pt x="48" y="1"/>
                  </a:cubicBezTo>
                  <a:cubicBezTo>
                    <a:pt x="48" y="1"/>
                    <a:pt x="48" y="1"/>
                    <a:pt x="48" y="2"/>
                  </a:cubicBezTo>
                  <a:cubicBezTo>
                    <a:pt x="49" y="2"/>
                    <a:pt x="48" y="2"/>
                    <a:pt x="48" y="3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46" y="5"/>
                    <a:pt x="45" y="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4" y="5"/>
                    <a:pt x="44" y="5"/>
                    <a:pt x="4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8" y="5"/>
                    <a:pt x="7" y="7"/>
                  </a:cubicBezTo>
                  <a:cubicBezTo>
                    <a:pt x="6" y="8"/>
                    <a:pt x="5" y="9"/>
                    <a:pt x="5" y="11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6" y="46"/>
                    <a:pt x="7" y="47"/>
                  </a:cubicBezTo>
                  <a:cubicBezTo>
                    <a:pt x="8" y="48"/>
                    <a:pt x="10" y="49"/>
                    <a:pt x="11" y="49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5" y="49"/>
                    <a:pt x="46" y="48"/>
                    <a:pt x="48" y="47"/>
                  </a:cubicBezTo>
                  <a:cubicBezTo>
                    <a:pt x="49" y="46"/>
                    <a:pt x="49" y="44"/>
                    <a:pt x="49" y="4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9" y="33"/>
                    <a:pt x="50" y="32"/>
                    <a:pt x="50" y="32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29"/>
                    <a:pt x="53" y="29"/>
                    <a:pt x="53" y="29"/>
                  </a:cubicBezTo>
                  <a:cubicBezTo>
                    <a:pt x="53" y="29"/>
                    <a:pt x="53" y="29"/>
                    <a:pt x="54" y="29"/>
                  </a:cubicBezTo>
                  <a:close/>
                  <a:moveTo>
                    <a:pt x="63" y="12"/>
                  </a:moveTo>
                  <a:cubicBezTo>
                    <a:pt x="32" y="43"/>
                    <a:pt x="32" y="43"/>
                    <a:pt x="32" y="43"/>
                  </a:cubicBezTo>
                  <a:cubicBezTo>
                    <a:pt x="31" y="44"/>
                    <a:pt x="31" y="44"/>
                    <a:pt x="30" y="44"/>
                  </a:cubicBezTo>
                  <a:cubicBezTo>
                    <a:pt x="29" y="44"/>
                    <a:pt x="28" y="44"/>
                    <a:pt x="28" y="43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6"/>
                    <a:pt x="10" y="25"/>
                    <a:pt x="10" y="24"/>
                  </a:cubicBezTo>
                  <a:cubicBezTo>
                    <a:pt x="10" y="24"/>
                    <a:pt x="11" y="23"/>
                    <a:pt x="11" y="2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7"/>
                    <a:pt x="17" y="17"/>
                    <a:pt x="18" y="17"/>
                  </a:cubicBezTo>
                  <a:cubicBezTo>
                    <a:pt x="18" y="17"/>
                    <a:pt x="19" y="17"/>
                    <a:pt x="20" y="1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5" y="3"/>
                    <a:pt x="56" y="2"/>
                    <a:pt x="57" y="2"/>
                  </a:cubicBezTo>
                  <a:cubicBezTo>
                    <a:pt x="58" y="2"/>
                    <a:pt x="58" y="3"/>
                    <a:pt x="59" y="3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8"/>
                    <a:pt x="64" y="9"/>
                    <a:pt x="64" y="10"/>
                  </a:cubicBezTo>
                  <a:cubicBezTo>
                    <a:pt x="64" y="10"/>
                    <a:pt x="64" y="11"/>
                    <a:pt x="63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51" name="Google Shape;651;p28"/>
          <p:cNvSpPr/>
          <p:nvPr/>
        </p:nvSpPr>
        <p:spPr>
          <a:xfrm>
            <a:off x="7376887" y="816324"/>
            <a:ext cx="1517784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B7AD1242-8200-D9AD-1418-51ED797BCCEC}"/>
              </a:ext>
            </a:extLst>
          </p:cNvPr>
          <p:cNvSpPr/>
          <p:nvPr/>
        </p:nvSpPr>
        <p:spPr>
          <a:xfrm>
            <a:off x="3664408" y="4825300"/>
            <a:ext cx="2896826" cy="143234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6" name="Google Shape;656;p29"/>
          <p:cNvSpPr/>
          <p:nvPr/>
        </p:nvSpPr>
        <p:spPr>
          <a:xfrm>
            <a:off x="8728334" y="4101317"/>
            <a:ext cx="5519057" cy="2117023"/>
          </a:xfrm>
          <a:prstGeom prst="roundRect">
            <a:avLst>
              <a:gd name="adj" fmla="val 16667"/>
            </a:avLst>
          </a:prstGeom>
          <a:solidFill>
            <a:srgbClr val="8CAB8F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7" name="Google Shape;657;p29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Among the widely used pre-trained embeddings are Google's Word2Vec, Stanford's GloVe, and Facebook's fastText embeddings, among others.</a:t>
            </a:r>
            <a:endParaRPr/>
          </a:p>
        </p:txBody>
      </p:sp>
      <p:sp>
        <p:nvSpPr>
          <p:cNvPr id="658" name="Google Shape;658;p2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Pre-trained word embeddings</a:t>
            </a:r>
            <a:endParaRPr/>
          </a:p>
        </p:txBody>
      </p:sp>
      <p:sp>
        <p:nvSpPr>
          <p:cNvPr id="660" name="Google Shape;660;p29"/>
          <p:cNvSpPr/>
          <p:nvPr/>
        </p:nvSpPr>
        <p:spPr>
          <a:xfrm rot="16200000">
            <a:off x="4948995" y="4416939"/>
            <a:ext cx="323738" cy="528595"/>
          </a:xfrm>
          <a:custGeom>
            <a:avLst/>
            <a:gdLst/>
            <a:ahLst/>
            <a:cxnLst/>
            <a:rect l="l" t="t" r="r" b="b"/>
            <a:pathLst>
              <a:path w="492897" h="791633" extrusionOk="0">
                <a:moveTo>
                  <a:pt x="0" y="158327"/>
                </a:moveTo>
                <a:lnTo>
                  <a:pt x="246449" y="158327"/>
                </a:lnTo>
                <a:lnTo>
                  <a:pt x="246449" y="0"/>
                </a:lnTo>
                <a:lnTo>
                  <a:pt x="492897" y="395817"/>
                </a:lnTo>
                <a:lnTo>
                  <a:pt x="246449" y="791633"/>
                </a:lnTo>
                <a:lnTo>
                  <a:pt x="246449" y="633306"/>
                </a:lnTo>
                <a:lnTo>
                  <a:pt x="0" y="633306"/>
                </a:lnTo>
                <a:lnTo>
                  <a:pt x="0" y="158327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0" tIns="158325" rIns="147850" bIns="1583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4380008" y="3012320"/>
            <a:ext cx="1446788" cy="1399915"/>
          </a:xfrm>
          <a:custGeom>
            <a:avLst/>
            <a:gdLst/>
            <a:ahLst/>
            <a:cxnLst/>
            <a:rect l="l" t="t" r="r" b="b"/>
            <a:pathLst>
              <a:path w="2328333" h="2328333" extrusionOk="0">
                <a:moveTo>
                  <a:pt x="0" y="1164167"/>
                </a:moveTo>
                <a:cubicBezTo>
                  <a:pt x="0" y="521215"/>
                  <a:pt x="521215" y="0"/>
                  <a:pt x="1164167" y="0"/>
                </a:cubicBezTo>
                <a:cubicBezTo>
                  <a:pt x="1807119" y="0"/>
                  <a:pt x="2328334" y="521215"/>
                  <a:pt x="2328334" y="1164167"/>
                </a:cubicBezTo>
                <a:cubicBezTo>
                  <a:pt x="2328334" y="1807119"/>
                  <a:pt x="1807119" y="2328334"/>
                  <a:pt x="1164167" y="2328334"/>
                </a:cubicBezTo>
                <a:cubicBezTo>
                  <a:pt x="521215" y="2328334"/>
                  <a:pt x="0" y="1807119"/>
                  <a:pt x="0" y="1164167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txBody>
          <a:bodyPr spcFirstLastPara="1" wrap="square" lIns="373975" tIns="373975" rIns="373975" bIns="3739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2" name="Google Shape;662;p29"/>
          <p:cNvSpPr/>
          <p:nvPr/>
        </p:nvSpPr>
        <p:spPr>
          <a:xfrm rot="3832714">
            <a:off x="5978726" y="5968949"/>
            <a:ext cx="352115" cy="519951"/>
          </a:xfrm>
          <a:custGeom>
            <a:avLst/>
            <a:gdLst/>
            <a:ahLst/>
            <a:cxnLst/>
            <a:rect l="l" t="t" r="r" b="b"/>
            <a:pathLst>
              <a:path w="492897" h="791633" extrusionOk="0">
                <a:moveTo>
                  <a:pt x="0" y="158327"/>
                </a:moveTo>
                <a:lnTo>
                  <a:pt x="246449" y="158327"/>
                </a:lnTo>
                <a:lnTo>
                  <a:pt x="246449" y="0"/>
                </a:lnTo>
                <a:lnTo>
                  <a:pt x="492897" y="395817"/>
                </a:lnTo>
                <a:lnTo>
                  <a:pt x="246449" y="791633"/>
                </a:lnTo>
                <a:lnTo>
                  <a:pt x="246449" y="633306"/>
                </a:lnTo>
                <a:lnTo>
                  <a:pt x="0" y="633306"/>
                </a:lnTo>
                <a:lnTo>
                  <a:pt x="0" y="158327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0" tIns="158325" rIns="147850" bIns="1583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6283460" y="6084112"/>
            <a:ext cx="1423190" cy="1399915"/>
          </a:xfrm>
          <a:custGeom>
            <a:avLst/>
            <a:gdLst/>
            <a:ahLst/>
            <a:cxnLst/>
            <a:rect l="l" t="t" r="r" b="b"/>
            <a:pathLst>
              <a:path w="2328333" h="2328333" extrusionOk="0">
                <a:moveTo>
                  <a:pt x="0" y="1164167"/>
                </a:moveTo>
                <a:cubicBezTo>
                  <a:pt x="0" y="521215"/>
                  <a:pt x="521215" y="0"/>
                  <a:pt x="1164167" y="0"/>
                </a:cubicBezTo>
                <a:cubicBezTo>
                  <a:pt x="1807119" y="0"/>
                  <a:pt x="2328334" y="521215"/>
                  <a:pt x="2328334" y="1164167"/>
                </a:cubicBezTo>
                <a:cubicBezTo>
                  <a:pt x="2328334" y="1807119"/>
                  <a:pt x="1807119" y="2328334"/>
                  <a:pt x="1164167" y="2328334"/>
                </a:cubicBezTo>
                <a:cubicBezTo>
                  <a:pt x="521215" y="2328334"/>
                  <a:pt x="0" y="1807119"/>
                  <a:pt x="0" y="1164167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txBody>
          <a:bodyPr spcFirstLastPara="1" wrap="square" lIns="373975" tIns="373975" rIns="373975" bIns="3739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29"/>
          <p:cNvSpPr/>
          <p:nvPr/>
        </p:nvSpPr>
        <p:spPr>
          <a:xfrm rot="17416377">
            <a:off x="4014976" y="5987429"/>
            <a:ext cx="329121" cy="519951"/>
          </a:xfrm>
          <a:custGeom>
            <a:avLst/>
            <a:gdLst/>
            <a:ahLst/>
            <a:cxnLst/>
            <a:rect l="l" t="t" r="r" b="b"/>
            <a:pathLst>
              <a:path w="492897" h="791633" extrusionOk="0">
                <a:moveTo>
                  <a:pt x="492896" y="633306"/>
                </a:moveTo>
                <a:lnTo>
                  <a:pt x="246448" y="633306"/>
                </a:lnTo>
                <a:lnTo>
                  <a:pt x="246448" y="791633"/>
                </a:lnTo>
                <a:lnTo>
                  <a:pt x="1" y="395816"/>
                </a:lnTo>
                <a:lnTo>
                  <a:pt x="246448" y="0"/>
                </a:lnTo>
                <a:lnTo>
                  <a:pt x="246448" y="158327"/>
                </a:lnTo>
                <a:lnTo>
                  <a:pt x="492896" y="158327"/>
                </a:lnTo>
                <a:lnTo>
                  <a:pt x="492896" y="633306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147850" tIns="158325" rIns="0" bIns="1583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2449330" y="6084112"/>
            <a:ext cx="1423190" cy="1399915"/>
          </a:xfrm>
          <a:custGeom>
            <a:avLst/>
            <a:gdLst/>
            <a:ahLst/>
            <a:cxnLst/>
            <a:rect l="l" t="t" r="r" b="b"/>
            <a:pathLst>
              <a:path w="2328333" h="2328333" extrusionOk="0">
                <a:moveTo>
                  <a:pt x="0" y="1164167"/>
                </a:moveTo>
                <a:cubicBezTo>
                  <a:pt x="0" y="521215"/>
                  <a:pt x="521215" y="0"/>
                  <a:pt x="1164167" y="0"/>
                </a:cubicBezTo>
                <a:cubicBezTo>
                  <a:pt x="1807119" y="0"/>
                  <a:pt x="2328334" y="521215"/>
                  <a:pt x="2328334" y="1164167"/>
                </a:cubicBezTo>
                <a:cubicBezTo>
                  <a:pt x="2328334" y="1807119"/>
                  <a:pt x="1807119" y="2328334"/>
                  <a:pt x="1164167" y="2328334"/>
                </a:cubicBezTo>
                <a:cubicBezTo>
                  <a:pt x="521215" y="2328334"/>
                  <a:pt x="0" y="1807119"/>
                  <a:pt x="0" y="1164167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txBody>
          <a:bodyPr spcFirstLastPara="1" wrap="square" lIns="373975" tIns="373975" rIns="373975" bIns="3739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66" name="Google Shape;666;p29" descr="What is Gensim? — gensim"/>
          <p:cNvPicPr preferRelativeResize="0"/>
          <p:nvPr/>
        </p:nvPicPr>
        <p:blipFill rotWithShape="1">
          <a:blip r:embed="rId3"/>
          <a:stretch/>
        </p:blipFill>
        <p:spPr>
          <a:xfrm>
            <a:off x="3662470" y="4979794"/>
            <a:ext cx="2809768" cy="1063119"/>
          </a:xfrm>
          <a:prstGeom prst="rect">
            <a:avLst/>
          </a:prstGeom>
        </p:spPr>
      </p:pic>
      <p:sp>
        <p:nvSpPr>
          <p:cNvPr id="667" name="Google Shape;667;p29"/>
          <p:cNvSpPr txBox="1"/>
          <p:nvPr/>
        </p:nvSpPr>
        <p:spPr>
          <a:xfrm>
            <a:off x="4326056" y="3502831"/>
            <a:ext cx="155469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Word2Vec</a:t>
            </a:r>
            <a:endParaRPr sz="22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8" name="Google Shape;668;p29"/>
          <p:cNvSpPr txBox="1"/>
          <p:nvPr/>
        </p:nvSpPr>
        <p:spPr>
          <a:xfrm>
            <a:off x="2459736" y="6618574"/>
            <a:ext cx="1402377" cy="3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Open Sans"/>
              <a:buNone/>
            </a:pP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FastText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9" name="Google Shape;669;p29"/>
          <p:cNvSpPr txBox="1"/>
          <p:nvPr/>
        </p:nvSpPr>
        <p:spPr>
          <a:xfrm>
            <a:off x="6217709" y="6591079"/>
            <a:ext cx="1554691" cy="3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GloVe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0" name="Google Shape;670;p29"/>
          <p:cNvSpPr txBox="1"/>
          <p:nvPr/>
        </p:nvSpPr>
        <p:spPr>
          <a:xfrm>
            <a:off x="9062327" y="4353582"/>
            <a:ext cx="4851071" cy="1612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The popular library </a:t>
            </a:r>
            <a:r>
              <a:rPr lang="en-US" sz="2200" b="1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Gensim</a:t>
            </a:r>
            <a:r>
              <a:rPr lang="en-US" sz="2200" b="0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supports various pre-trained word embedding  models and can be leveraged here.</a:t>
            </a:r>
            <a:endParaRPr/>
          </a:p>
        </p:txBody>
      </p:sp>
      <p:sp>
        <p:nvSpPr>
          <p:cNvPr id="671" name="Google Shape;671;p29"/>
          <p:cNvSpPr/>
          <p:nvPr/>
        </p:nvSpPr>
        <p:spPr>
          <a:xfrm>
            <a:off x="5515877" y="816324"/>
            <a:ext cx="5239804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0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Distributed Representations Beyond Words and Characters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1"/>
          <p:cNvSpPr/>
          <p:nvPr/>
        </p:nvSpPr>
        <p:spPr>
          <a:xfrm>
            <a:off x="3494314" y="3509799"/>
            <a:ext cx="9813472" cy="347800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93B9D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2" name="Google Shape;682;p31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Doc2Vec captures the semantic meaning of entire documents as continuous vector representations. It was introduced by researchers at Google in 2014.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3" name="Google Shape;683;p3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Doc2Vec</a:t>
            </a:r>
            <a:endParaRPr/>
          </a:p>
        </p:txBody>
      </p:sp>
      <p:sp>
        <p:nvSpPr>
          <p:cNvPr id="684" name="Google Shape;684;p31"/>
          <p:cNvSpPr/>
          <p:nvPr/>
        </p:nvSpPr>
        <p:spPr>
          <a:xfrm>
            <a:off x="7429252" y="816324"/>
            <a:ext cx="1440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85" name="Google Shape;685;p31"/>
          <p:cNvGrpSpPr/>
          <p:nvPr/>
        </p:nvGrpSpPr>
        <p:grpSpPr>
          <a:xfrm>
            <a:off x="4839498" y="4098452"/>
            <a:ext cx="7922188" cy="2414517"/>
            <a:chOff x="4839498" y="4098452"/>
            <a:chExt cx="7922188" cy="2414517"/>
          </a:xfrm>
        </p:grpSpPr>
        <p:sp>
          <p:nvSpPr>
            <p:cNvPr id="686" name="Google Shape;686;p31"/>
            <p:cNvSpPr txBox="1"/>
            <p:nvPr/>
          </p:nvSpPr>
          <p:spPr>
            <a:xfrm>
              <a:off x="4839498" y="4098452"/>
              <a:ext cx="7291542" cy="864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Doc2Vec </a:t>
              </a:r>
              <a:r>
                <a:rPr lang="en-US" sz="2200" b="0" i="0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shares a common architecture with the word2vec model.</a:t>
              </a:r>
              <a:endParaRPr dirty="0"/>
            </a:p>
          </p:txBody>
        </p:sp>
        <p:sp>
          <p:nvSpPr>
            <p:cNvPr id="687" name="Google Shape;687;p31"/>
            <p:cNvSpPr txBox="1"/>
            <p:nvPr/>
          </p:nvSpPr>
          <p:spPr>
            <a:xfrm>
              <a:off x="4839498" y="5286415"/>
              <a:ext cx="7922188" cy="1226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r>
                <a:rPr lang="en-US" sz="2200" b="0" i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longside word vectors, it additionally learns a </a:t>
              </a:r>
              <a:r>
                <a:rPr lang="en-US" sz="2200" b="1" i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paragraph vector</a:t>
              </a:r>
              <a:r>
                <a:rPr lang="en-US" sz="2200" b="0" i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to capture a representation for the entire text, considering words in context.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688" name="Google Shape;68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7971" y="4127500"/>
            <a:ext cx="431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7971" y="5286415"/>
            <a:ext cx="431800" cy="4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2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The distributed memory version of paragraph vector (PV-DM) functions as a memory, noting what's missing or representing the paragraph's topic.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5" name="Google Shape;695;p32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Doc2Vec: PV-DM </a:t>
            </a:r>
            <a:endParaRPr/>
          </a:p>
        </p:txBody>
      </p:sp>
      <p:sp>
        <p:nvSpPr>
          <p:cNvPr id="696" name="Google Shape;696;p32"/>
          <p:cNvSpPr/>
          <p:nvPr/>
        </p:nvSpPr>
        <p:spPr>
          <a:xfrm>
            <a:off x="6758105" y="816324"/>
            <a:ext cx="2772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98" name="Google Shape;698;p32"/>
          <p:cNvGrpSpPr/>
          <p:nvPr/>
        </p:nvGrpSpPr>
        <p:grpSpPr>
          <a:xfrm>
            <a:off x="3675140" y="3112200"/>
            <a:ext cx="8921682" cy="4093223"/>
            <a:chOff x="3675140" y="3112200"/>
            <a:chExt cx="8921682" cy="4093223"/>
          </a:xfrm>
        </p:grpSpPr>
        <p:sp>
          <p:nvSpPr>
            <p:cNvPr id="699" name="Google Shape;699;p32"/>
            <p:cNvSpPr txBox="1"/>
            <p:nvPr/>
          </p:nvSpPr>
          <p:spPr>
            <a:xfrm>
              <a:off x="7733201" y="6435982"/>
              <a:ext cx="1561936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Paragraph id</a:t>
              </a:r>
              <a:endParaRPr/>
            </a:p>
          </p:txBody>
        </p:sp>
        <p:sp>
          <p:nvSpPr>
            <p:cNvPr id="700" name="Google Shape;700;p32"/>
            <p:cNvSpPr/>
            <p:nvPr/>
          </p:nvSpPr>
          <p:spPr>
            <a:xfrm>
              <a:off x="9796582" y="3112200"/>
              <a:ext cx="1135397" cy="521472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ON</a:t>
              </a:r>
              <a:endParaRPr/>
            </a:p>
          </p:txBody>
        </p:sp>
        <p:pic>
          <p:nvPicPr>
            <p:cNvPr id="701" name="Google Shape;701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95528" y="4311293"/>
              <a:ext cx="937505" cy="180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2" name="Google Shape;702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1738" y="5142949"/>
              <a:ext cx="937505" cy="180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3" name="Google Shape;703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307598" y="5142949"/>
              <a:ext cx="937505" cy="180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483458" y="5142949"/>
              <a:ext cx="937505" cy="180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5" name="Google Shape;705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659317" y="5142949"/>
              <a:ext cx="937505" cy="180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6" name="Google Shape;706;p32"/>
            <p:cNvSpPr/>
            <p:nvPr/>
          </p:nvSpPr>
          <p:spPr>
            <a:xfrm>
              <a:off x="8279260" y="5746449"/>
              <a:ext cx="642461" cy="521472"/>
            </a:xfrm>
            <a:prstGeom prst="rect">
              <a:avLst/>
            </a:prstGeom>
            <a:solidFill>
              <a:srgbClr val="F7CAAC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</a:t>
              </a:r>
              <a:endParaRPr/>
            </a:p>
          </p:txBody>
        </p:sp>
        <p:sp>
          <p:nvSpPr>
            <p:cNvPr id="707" name="Google Shape;707;p32"/>
            <p:cNvSpPr/>
            <p:nvPr/>
          </p:nvSpPr>
          <p:spPr>
            <a:xfrm>
              <a:off x="9455120" y="5746449"/>
              <a:ext cx="642461" cy="521472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endParaRPr/>
            </a:p>
          </p:txBody>
        </p:sp>
        <p:sp>
          <p:nvSpPr>
            <p:cNvPr id="708" name="Google Shape;708;p32"/>
            <p:cNvSpPr/>
            <p:nvPr/>
          </p:nvSpPr>
          <p:spPr>
            <a:xfrm>
              <a:off x="10630980" y="5746449"/>
              <a:ext cx="642461" cy="521472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endParaRPr/>
            </a:p>
          </p:txBody>
        </p:sp>
        <p:sp>
          <p:nvSpPr>
            <p:cNvPr id="709" name="Google Shape;709;p32"/>
            <p:cNvSpPr/>
            <p:nvPr/>
          </p:nvSpPr>
          <p:spPr>
            <a:xfrm>
              <a:off x="11806839" y="5746449"/>
              <a:ext cx="642461" cy="521472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W</a:t>
              </a:r>
              <a:endParaRPr/>
            </a:p>
          </p:txBody>
        </p:sp>
        <p:cxnSp>
          <p:nvCxnSpPr>
            <p:cNvPr id="710" name="Google Shape;710;p32"/>
            <p:cNvCxnSpPr/>
            <p:nvPr/>
          </p:nvCxnSpPr>
          <p:spPr>
            <a:xfrm rot="10800000">
              <a:off x="8597879" y="5324337"/>
              <a:ext cx="5222" cy="3600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1" name="Google Shape;711;p32"/>
            <p:cNvCxnSpPr/>
            <p:nvPr/>
          </p:nvCxnSpPr>
          <p:spPr>
            <a:xfrm rot="10800000">
              <a:off x="9773739" y="5324337"/>
              <a:ext cx="5222" cy="3600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2" name="Google Shape;712;p32"/>
            <p:cNvCxnSpPr/>
            <p:nvPr/>
          </p:nvCxnSpPr>
          <p:spPr>
            <a:xfrm rot="10800000">
              <a:off x="10949599" y="5324337"/>
              <a:ext cx="5222" cy="3600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3" name="Google Shape;713;p32"/>
            <p:cNvCxnSpPr/>
            <p:nvPr/>
          </p:nvCxnSpPr>
          <p:spPr>
            <a:xfrm rot="10800000">
              <a:off x="12125458" y="5324337"/>
              <a:ext cx="5222" cy="3600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4" name="Google Shape;714;p32"/>
            <p:cNvCxnSpPr/>
            <p:nvPr/>
          </p:nvCxnSpPr>
          <p:spPr>
            <a:xfrm rot="10800000">
              <a:off x="10340839" y="3671918"/>
              <a:ext cx="8410" cy="579784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5" name="Google Shape;715;p32"/>
            <p:cNvCxnSpPr>
              <a:stCxn id="702" idx="0"/>
            </p:cNvCxnSpPr>
            <p:nvPr/>
          </p:nvCxnSpPr>
          <p:spPr>
            <a:xfrm rot="10800000" flipH="1">
              <a:off x="8600491" y="4491349"/>
              <a:ext cx="1196100" cy="6516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6" name="Google Shape;716;p32"/>
            <p:cNvCxnSpPr/>
            <p:nvPr/>
          </p:nvCxnSpPr>
          <p:spPr>
            <a:xfrm rot="10800000" flipH="1">
              <a:off x="9895528" y="4618658"/>
              <a:ext cx="349575" cy="433554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7" name="Google Shape;717;p32"/>
            <p:cNvCxnSpPr/>
            <p:nvPr/>
          </p:nvCxnSpPr>
          <p:spPr>
            <a:xfrm rot="10800000">
              <a:off x="10483458" y="4649231"/>
              <a:ext cx="403801" cy="4320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8" name="Google Shape;718;p32"/>
            <p:cNvCxnSpPr/>
            <p:nvPr/>
          </p:nvCxnSpPr>
          <p:spPr>
            <a:xfrm rot="10800000">
              <a:off x="10887259" y="4538152"/>
              <a:ext cx="1116314" cy="542685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19" name="Google Shape;719;p32"/>
            <p:cNvSpPr txBox="1"/>
            <p:nvPr/>
          </p:nvSpPr>
          <p:spPr>
            <a:xfrm>
              <a:off x="9407536" y="6469088"/>
              <a:ext cx="778092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the</a:t>
              </a:r>
              <a:endParaRPr/>
            </a:p>
          </p:txBody>
        </p:sp>
        <p:sp>
          <p:nvSpPr>
            <p:cNvPr id="720" name="Google Shape;720;p32"/>
            <p:cNvSpPr txBox="1"/>
            <p:nvPr/>
          </p:nvSpPr>
          <p:spPr>
            <a:xfrm>
              <a:off x="10630980" y="6469088"/>
              <a:ext cx="778092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cat</a:t>
              </a:r>
              <a:endParaRPr/>
            </a:p>
          </p:txBody>
        </p:sp>
        <p:sp>
          <p:nvSpPr>
            <p:cNvPr id="721" name="Google Shape;721;p32"/>
            <p:cNvSpPr txBox="1"/>
            <p:nvPr/>
          </p:nvSpPr>
          <p:spPr>
            <a:xfrm>
              <a:off x="11736412" y="6469088"/>
              <a:ext cx="778092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sat</a:t>
              </a:r>
              <a:endParaRPr/>
            </a:p>
          </p:txBody>
        </p:sp>
        <p:sp>
          <p:nvSpPr>
            <p:cNvPr id="722" name="Google Shape;722;p32"/>
            <p:cNvSpPr/>
            <p:nvPr/>
          </p:nvSpPr>
          <p:spPr>
            <a:xfrm>
              <a:off x="3675140" y="5810202"/>
              <a:ext cx="2985541" cy="45771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Paragraph matrix</a:t>
              </a:r>
              <a:endParaRPr/>
            </a:p>
          </p:txBody>
        </p:sp>
        <p:sp>
          <p:nvSpPr>
            <p:cNvPr id="723" name="Google Shape;723;p32"/>
            <p:cNvSpPr/>
            <p:nvPr/>
          </p:nvSpPr>
          <p:spPr>
            <a:xfrm>
              <a:off x="3675140" y="4473302"/>
              <a:ext cx="2985541" cy="45771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Average/concatenate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24" name="Google Shape;724;p32"/>
            <p:cNvSpPr/>
            <p:nvPr/>
          </p:nvSpPr>
          <p:spPr>
            <a:xfrm>
              <a:off x="3675140" y="3208168"/>
              <a:ext cx="2985541" cy="45771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Classifier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725" name="Google Shape;725;p32"/>
            <p:cNvCxnSpPr/>
            <p:nvPr/>
          </p:nvCxnSpPr>
          <p:spPr>
            <a:xfrm>
              <a:off x="6932809" y="6039061"/>
              <a:ext cx="967812" cy="0"/>
            </a:xfrm>
            <a:prstGeom prst="straightConnector1">
              <a:avLst/>
            </a:prstGeom>
            <a:noFill/>
            <a:ln w="571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" name="Text_Box">
            <a:extLst>
              <a:ext uri="{FF2B5EF4-FFF2-40B4-BE49-F238E27FC236}">
                <a16:creationId xmlns:a16="http://schemas.microsoft.com/office/drawing/2014/main" id="{5388F7A6-0F80-3082-6831-AEBA26136977}"/>
              </a:ext>
            </a:extLst>
          </p:cNvPr>
          <p:cNvSpPr/>
          <p:nvPr/>
        </p:nvSpPr>
        <p:spPr>
          <a:xfrm>
            <a:off x="1038225" y="8420100"/>
            <a:ext cx="14185900" cy="3810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>
                <a:solidFill>
                  <a:srgbClr val="404040"/>
                </a:solidFill>
                <a:latin typeface="Open Sans" panose="020B0606030504020204" pitchFamily="34" charset="0"/>
              </a:rPr>
              <a:t>Source: Distributed representations of sentences and documents Quoc V. Le, Tomas </a:t>
            </a:r>
            <a:r>
              <a:rPr lang="en-IN" i="1" dirty="0" err="1">
                <a:solidFill>
                  <a:srgbClr val="404040"/>
                </a:solidFill>
                <a:latin typeface="Open Sans" panose="020B0606030504020204" pitchFamily="34" charset="0"/>
              </a:rPr>
              <a:t>Mikolov</a:t>
            </a:r>
            <a:r>
              <a:rPr lang="en-IN" i="1" dirty="0">
                <a:solidFill>
                  <a:srgbClr val="404040"/>
                </a:solidFill>
                <a:latin typeface="Open Sans" panose="020B0606030504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3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i="0">
                <a:latin typeface="Open Sans"/>
                <a:ea typeface="Open Sans"/>
                <a:cs typeface="Open Sans"/>
                <a:sym typeface="Open Sans"/>
              </a:rPr>
              <a:t>The distributed bag of words version of paragraph vector (PV-DBOW) predicts words within a paragraph based solely on the paragraph content, without taking word order into account.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1" name="Google Shape;731;p3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Doc2Vec: </a:t>
            </a:r>
            <a:r>
              <a:rPr lang="en-US" i="0">
                <a:latin typeface="Open Sans"/>
                <a:ea typeface="Open Sans"/>
                <a:cs typeface="Open Sans"/>
                <a:sym typeface="Open Sans"/>
              </a:rPr>
              <a:t>PV-DBOW</a:t>
            </a:r>
            <a:r>
              <a:rPr lang="en-US"/>
              <a:t> </a:t>
            </a:r>
            <a:endParaRPr/>
          </a:p>
        </p:txBody>
      </p:sp>
      <p:grpSp>
        <p:nvGrpSpPr>
          <p:cNvPr id="733" name="Google Shape;733;p33"/>
          <p:cNvGrpSpPr/>
          <p:nvPr/>
        </p:nvGrpSpPr>
        <p:grpSpPr>
          <a:xfrm>
            <a:off x="4294564" y="3412125"/>
            <a:ext cx="7676144" cy="3827115"/>
            <a:chOff x="5142459" y="3406639"/>
            <a:chExt cx="7676144" cy="3827115"/>
          </a:xfrm>
        </p:grpSpPr>
        <p:sp>
          <p:nvSpPr>
            <p:cNvPr id="734" name="Google Shape;734;p33"/>
            <p:cNvSpPr/>
            <p:nvPr/>
          </p:nvSpPr>
          <p:spPr>
            <a:xfrm>
              <a:off x="8578730" y="3406639"/>
              <a:ext cx="875000" cy="521472"/>
            </a:xfrm>
            <a:prstGeom prst="rect">
              <a:avLst/>
            </a:prstGeom>
            <a:noFill/>
            <a:ln w="190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the</a:t>
              </a:r>
              <a:endParaRPr/>
            </a:p>
          </p:txBody>
        </p:sp>
        <p:sp>
          <p:nvSpPr>
            <p:cNvPr id="735" name="Google Shape;735;p33"/>
            <p:cNvSpPr/>
            <p:nvPr/>
          </p:nvSpPr>
          <p:spPr>
            <a:xfrm>
              <a:off x="9700354" y="3406639"/>
              <a:ext cx="875000" cy="521472"/>
            </a:xfrm>
            <a:prstGeom prst="rect">
              <a:avLst/>
            </a:prstGeom>
            <a:noFill/>
            <a:ln w="190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cat</a:t>
              </a:r>
              <a:endParaRPr/>
            </a:p>
          </p:txBody>
        </p:sp>
        <p:sp>
          <p:nvSpPr>
            <p:cNvPr id="736" name="Google Shape;736;p33"/>
            <p:cNvSpPr/>
            <p:nvPr/>
          </p:nvSpPr>
          <p:spPr>
            <a:xfrm>
              <a:off x="11943603" y="3406639"/>
              <a:ext cx="875000" cy="521472"/>
            </a:xfrm>
            <a:prstGeom prst="rect">
              <a:avLst/>
            </a:prstGeom>
            <a:noFill/>
            <a:ln w="190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on</a:t>
              </a:r>
              <a:endParaRPr/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10821978" y="3406639"/>
              <a:ext cx="875000" cy="521472"/>
            </a:xfrm>
            <a:prstGeom prst="rect">
              <a:avLst/>
            </a:prstGeom>
            <a:noFill/>
            <a:ln w="190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sat</a:t>
              </a:r>
              <a:endParaRPr/>
            </a:p>
          </p:txBody>
        </p:sp>
        <p:pic>
          <p:nvPicPr>
            <p:cNvPr id="738" name="Google Shape;738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94786" y="5035889"/>
              <a:ext cx="1224453" cy="23509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39" name="Google Shape;739;p33"/>
            <p:cNvCxnSpPr/>
            <p:nvPr/>
          </p:nvCxnSpPr>
          <p:spPr>
            <a:xfrm rot="10800000">
              <a:off x="9310255" y="4067175"/>
              <a:ext cx="884531" cy="899379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40" name="Google Shape;740;p33"/>
            <p:cNvCxnSpPr/>
            <p:nvPr/>
          </p:nvCxnSpPr>
          <p:spPr>
            <a:xfrm rot="10800000">
              <a:off x="10231305" y="4083143"/>
              <a:ext cx="412116" cy="899379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41" name="Google Shape;741;p33"/>
            <p:cNvCxnSpPr/>
            <p:nvPr/>
          </p:nvCxnSpPr>
          <p:spPr>
            <a:xfrm rot="10800000" flipH="1">
              <a:off x="10970604" y="4067175"/>
              <a:ext cx="352933" cy="899379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42" name="Google Shape;742;p33"/>
            <p:cNvCxnSpPr/>
            <p:nvPr/>
          </p:nvCxnSpPr>
          <p:spPr>
            <a:xfrm rot="10800000" flipH="1">
              <a:off x="11361028" y="4080661"/>
              <a:ext cx="742303" cy="901861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43" name="Google Shape;743;p33"/>
            <p:cNvSpPr/>
            <p:nvPr/>
          </p:nvSpPr>
          <p:spPr>
            <a:xfrm>
              <a:off x="10504609" y="5829564"/>
              <a:ext cx="642461" cy="521472"/>
            </a:xfrm>
            <a:prstGeom prst="rect">
              <a:avLst/>
            </a:prstGeom>
            <a:solidFill>
              <a:srgbClr val="F7CAAC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</a:t>
              </a:r>
              <a:endParaRPr/>
            </a:p>
          </p:txBody>
        </p:sp>
        <p:cxnSp>
          <p:nvCxnSpPr>
            <p:cNvPr id="744" name="Google Shape;744;p33"/>
            <p:cNvCxnSpPr/>
            <p:nvPr/>
          </p:nvCxnSpPr>
          <p:spPr>
            <a:xfrm rot="10800000">
              <a:off x="10807012" y="5270984"/>
              <a:ext cx="0" cy="495655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45" name="Google Shape;745;p33"/>
            <p:cNvSpPr txBox="1"/>
            <p:nvPr/>
          </p:nvSpPr>
          <p:spPr>
            <a:xfrm>
              <a:off x="9905053" y="6464313"/>
              <a:ext cx="1833849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Paragraph id</a:t>
              </a:r>
              <a:endParaRPr/>
            </a:p>
          </p:txBody>
        </p:sp>
        <p:sp>
          <p:nvSpPr>
            <p:cNvPr id="746" name="Google Shape;746;p33"/>
            <p:cNvSpPr/>
            <p:nvPr/>
          </p:nvSpPr>
          <p:spPr>
            <a:xfrm>
              <a:off x="5142459" y="5936511"/>
              <a:ext cx="2985541" cy="45771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Paragraph matrix</a:t>
              </a:r>
              <a:endParaRPr/>
            </a:p>
          </p:txBody>
        </p:sp>
        <p:cxnSp>
          <p:nvCxnSpPr>
            <p:cNvPr id="747" name="Google Shape;747;p33"/>
            <p:cNvCxnSpPr/>
            <p:nvPr/>
          </p:nvCxnSpPr>
          <p:spPr>
            <a:xfrm>
              <a:off x="8400128" y="6165370"/>
              <a:ext cx="967812" cy="0"/>
            </a:xfrm>
            <a:prstGeom prst="straightConnector1">
              <a:avLst/>
            </a:prstGeom>
            <a:noFill/>
            <a:ln w="571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48" name="Google Shape;748;p33"/>
            <p:cNvSpPr/>
            <p:nvPr/>
          </p:nvSpPr>
          <p:spPr>
            <a:xfrm>
              <a:off x="5155432" y="3454075"/>
              <a:ext cx="2985541" cy="457719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1F4B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Classifier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49" name="Google Shape;749;p33"/>
          <p:cNvSpPr/>
          <p:nvPr/>
        </p:nvSpPr>
        <p:spPr>
          <a:xfrm>
            <a:off x="6467045" y="816324"/>
            <a:ext cx="335412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_Box">
            <a:extLst>
              <a:ext uri="{FF2B5EF4-FFF2-40B4-BE49-F238E27FC236}">
                <a16:creationId xmlns:a16="http://schemas.microsoft.com/office/drawing/2014/main" id="{D63C21ED-E209-763D-B5F2-4CFDB181353A}"/>
              </a:ext>
            </a:extLst>
          </p:cNvPr>
          <p:cNvSpPr/>
          <p:nvPr/>
        </p:nvSpPr>
        <p:spPr>
          <a:xfrm>
            <a:off x="1038225" y="8420100"/>
            <a:ext cx="14185900" cy="3810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i="1" dirty="0">
                <a:solidFill>
                  <a:srgbClr val="404040"/>
                </a:solidFill>
                <a:latin typeface="Open Sans" panose="020B0606030504020204" pitchFamily="34" charset="0"/>
              </a:rPr>
              <a:t>Source: Distributed representations of sentences and documents Quoc V. Le, Tomas </a:t>
            </a:r>
            <a:r>
              <a:rPr lang="en-IN" i="1" dirty="0" err="1">
                <a:solidFill>
                  <a:srgbClr val="404040"/>
                </a:solidFill>
                <a:latin typeface="Open Sans" panose="020B0606030504020204" pitchFamily="34" charset="0"/>
              </a:rPr>
              <a:t>Mikolov</a:t>
            </a:r>
            <a:r>
              <a:rPr lang="en-IN" i="1" dirty="0">
                <a:solidFill>
                  <a:srgbClr val="404040"/>
                </a:solidFill>
                <a:latin typeface="Open Sans" panose="020B0606030504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4"/>
          <p:cNvSpPr txBox="1">
            <a:spLocks noGrp="1"/>
          </p:cNvSpPr>
          <p:nvPr>
            <p:ph type="body" idx="1"/>
          </p:nvPr>
        </p:nvSpPr>
        <p:spPr>
          <a:xfrm>
            <a:off x="1332875" y="196790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Basic vectorization approaches have several limitations hence are not very efficient.</a:t>
            </a:r>
            <a:endParaRPr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5" name="Google Shape;755;p34"/>
          <p:cNvSpPr txBox="1">
            <a:spLocks noGrp="1"/>
          </p:cNvSpPr>
          <p:nvPr>
            <p:ph type="body" idx="2"/>
          </p:nvPr>
        </p:nvSpPr>
        <p:spPr>
          <a:xfrm>
            <a:off x="1331058" y="3147240"/>
            <a:ext cx="9946541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Distributed representation leverage neural network architectures to generate compact, low-dimensional representations for words and texts.</a:t>
            </a:r>
            <a:endParaRPr dirty="0"/>
          </a:p>
        </p:txBody>
      </p:sp>
      <p:sp>
        <p:nvSpPr>
          <p:cNvPr id="756" name="Google Shape;756;p34"/>
          <p:cNvSpPr txBox="1">
            <a:spLocks noGrp="1"/>
          </p:cNvSpPr>
          <p:nvPr>
            <p:ph type="body" idx="3"/>
          </p:nvPr>
        </p:nvSpPr>
        <p:spPr>
          <a:xfrm>
            <a:off x="1331059" y="4314553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Few of the popular methods for generating word embeddings include Wrod2Vec, </a:t>
            </a:r>
            <a:r>
              <a:rPr lang="en-US"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FastText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lang="en-US"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GloVe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..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7" name="Google Shape;757;p34"/>
          <p:cNvSpPr txBox="1">
            <a:spLocks noGrp="1"/>
          </p:cNvSpPr>
          <p:nvPr>
            <p:ph type="body" idx="4"/>
          </p:nvPr>
        </p:nvSpPr>
        <p:spPr>
          <a:xfrm>
            <a:off x="1331059" y="5498817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popular library </a:t>
            </a:r>
            <a:r>
              <a:rPr lang="en-US" sz="2200" b="1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Gensim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supports various pre-trained word embedding  models and can be leveraged here.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58" name="Google Shape;758;p34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2063499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34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5565318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34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4384875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34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3213740"/>
            <a:ext cx="396244" cy="3879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A474BE-4FC1-F2DA-99EE-7410217F84DA}"/>
              </a:ext>
            </a:extLst>
          </p:cNvPr>
          <p:cNvSpPr>
            <a:spLocks/>
          </p:cNvSpPr>
          <p:nvPr/>
        </p:nvSpPr>
        <p:spPr>
          <a:xfrm>
            <a:off x="2967652" y="642551"/>
            <a:ext cx="2283970" cy="1495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3BF716C-8577-1F34-62D6-68E5BB4009D4}"/>
              </a:ext>
            </a:extLst>
          </p:cNvPr>
          <p:cNvSpPr>
            <a:spLocks/>
          </p:cNvSpPr>
          <p:nvPr/>
        </p:nvSpPr>
        <p:spPr>
          <a:xfrm>
            <a:off x="1332872" y="2663094"/>
            <a:ext cx="594000" cy="59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69F2D03-E8C4-27CF-6E07-E44A0E7F4BFC}"/>
              </a:ext>
            </a:extLst>
          </p:cNvPr>
          <p:cNvSpPr>
            <a:spLocks/>
          </p:cNvSpPr>
          <p:nvPr/>
        </p:nvSpPr>
        <p:spPr>
          <a:xfrm>
            <a:off x="1571413" y="3844889"/>
            <a:ext cx="594000" cy="59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621C426D-A1B4-D46B-A171-629474EFF816}"/>
              </a:ext>
            </a:extLst>
          </p:cNvPr>
          <p:cNvSpPr>
            <a:spLocks/>
          </p:cNvSpPr>
          <p:nvPr/>
        </p:nvSpPr>
        <p:spPr>
          <a:xfrm>
            <a:off x="1332872" y="5029153"/>
            <a:ext cx="594000" cy="59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F0C3897B-0139-AA8A-A85B-97EE6AA1D489}"/>
              </a:ext>
            </a:extLst>
          </p:cNvPr>
          <p:cNvSpPr>
            <a:spLocks/>
          </p:cNvSpPr>
          <p:nvPr/>
        </p:nvSpPr>
        <p:spPr>
          <a:xfrm>
            <a:off x="1629872" y="6705835"/>
            <a:ext cx="594000" cy="59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6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dirty="0"/>
              <a:t>Bag-of-words</a:t>
            </a:r>
            <a:endParaRPr dirty="0"/>
          </a:p>
        </p:txBody>
      </p:sp>
      <p:sp>
        <p:nvSpPr>
          <p:cNvPr id="771" name="Google Shape;771;p36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Word2Vec</a:t>
            </a:r>
            <a:endParaRPr/>
          </a:p>
        </p:txBody>
      </p:sp>
      <p:sp>
        <p:nvSpPr>
          <p:cNvPr id="772" name="Google Shape;772;p36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One-hot-encoding</a:t>
            </a:r>
            <a:endParaRPr/>
          </a:p>
        </p:txBody>
      </p:sp>
      <p:sp>
        <p:nvSpPr>
          <p:cNvPr id="773" name="Google Shape;773;p36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TF-IDF</a:t>
            </a:r>
            <a:endParaRPr/>
          </a:p>
        </p:txBody>
      </p:sp>
      <p:sp>
        <p:nvSpPr>
          <p:cNvPr id="774" name="Google Shape;774;p36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/>
              <a:t>Which popular word embedding model is known for its ability to capture distributed representations efficiently?</a:t>
            </a:r>
            <a:endParaRPr/>
          </a:p>
        </p:txBody>
      </p:sp>
      <p:sp>
        <p:nvSpPr>
          <p:cNvPr id="775" name="Google Shape;775;p36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7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</a:pPr>
            <a:r>
              <a:rPr lang="en-US"/>
              <a:t>B</a:t>
            </a:r>
            <a:endParaRPr/>
          </a:p>
        </p:txBody>
      </p:sp>
      <p:sp>
        <p:nvSpPr>
          <p:cNvPr id="781" name="Google Shape;781;p37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dirty="0"/>
              <a:t>Word2Vec</a:t>
            </a:r>
            <a:r>
              <a:rPr lang="en-US" i="0" dirty="0"/>
              <a:t> represents words as dense vectors in a continuous vector space, allowing it to capture semantic relationships and similarities between words based on their context.</a:t>
            </a:r>
            <a:endParaRPr dirty="0"/>
          </a:p>
        </p:txBody>
      </p:sp>
      <p:sp>
        <p:nvSpPr>
          <p:cNvPr id="782" name="Google Shape;782;p37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/>
              <a:t>Which popular word embedding model is known for its ability to capture distributed representations efficiently?</a:t>
            </a:r>
            <a:endParaRPr/>
          </a:p>
        </p:txBody>
      </p:sp>
      <p:sp>
        <p:nvSpPr>
          <p:cNvPr id="783" name="Google Shape;783;p37"/>
          <p:cNvSpPr txBox="1">
            <a:spLocks noGrp="1"/>
          </p:cNvSpPr>
          <p:nvPr>
            <p:ph type="body" idx="8"/>
          </p:nvPr>
        </p:nvSpPr>
        <p:spPr>
          <a:xfrm>
            <a:off x="156210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84" name="Google Shape;784;p37"/>
          <p:cNvSpPr txBox="1"/>
          <p:nvPr/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Bag-of-words</a:t>
            </a:r>
            <a:endParaRPr sz="20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5" name="Google Shape;785;p37"/>
          <p:cNvSpPr txBox="1"/>
          <p:nvPr/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Word2Vec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6" name="Google Shape;786;p37"/>
          <p:cNvSpPr txBox="1"/>
          <p:nvPr/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One-hot-encoding</a:t>
            </a:r>
            <a:endParaRPr/>
          </a:p>
        </p:txBody>
      </p:sp>
      <p:sp>
        <p:nvSpPr>
          <p:cNvPr id="787" name="Google Shape;787;p37"/>
          <p:cNvSpPr txBox="1">
            <a:spLocks noGrp="1"/>
          </p:cNvSpPr>
          <p:nvPr>
            <p:ph type="body" idx="3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TF-IDF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0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/>
              <a:t>How does GloVe model the relationships between words in vector space?</a:t>
            </a:r>
            <a:r>
              <a:rPr lang="en-US" b="0" i="0">
                <a:solidFill>
                  <a:srgbClr val="374151"/>
                </a:solidFill>
              </a:rPr>
              <a:t> </a:t>
            </a:r>
            <a:endParaRPr/>
          </a:p>
        </p:txBody>
      </p:sp>
      <p:sp>
        <p:nvSpPr>
          <p:cNvPr id="815" name="Google Shape;815;p40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dirty="0"/>
              <a:t>2</a:t>
            </a:r>
            <a:endParaRPr dirty="0"/>
          </a:p>
        </p:txBody>
      </p:sp>
      <p:sp>
        <p:nvSpPr>
          <p:cNvPr id="816" name="Google Shape;816;p40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None/>
            </a:pPr>
            <a:r>
              <a:rPr lang="en-US" b="0" i="0" dirty="0">
                <a:solidFill>
                  <a:srgbClr val="374151"/>
                </a:solidFill>
              </a:rPr>
              <a:t>By </a:t>
            </a:r>
            <a:r>
              <a:rPr lang="en-US" dirty="0">
                <a:solidFill>
                  <a:srgbClr val="374151"/>
                </a:solidFill>
              </a:rPr>
              <a:t>c</a:t>
            </a:r>
            <a:r>
              <a:rPr lang="en-US" b="0" i="0" dirty="0">
                <a:solidFill>
                  <a:srgbClr val="374151"/>
                </a:solidFill>
              </a:rPr>
              <a:t>apturing word frequency</a:t>
            </a:r>
            <a:endParaRPr dirty="0"/>
          </a:p>
        </p:txBody>
      </p:sp>
      <p:sp>
        <p:nvSpPr>
          <p:cNvPr id="817" name="Google Shape;817;p40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None/>
            </a:pPr>
            <a:r>
              <a:rPr lang="en-US" b="0" i="0" dirty="0">
                <a:solidFill>
                  <a:srgbClr val="374151"/>
                </a:solidFill>
              </a:rPr>
              <a:t>By </a:t>
            </a:r>
            <a:r>
              <a:rPr lang="en-US" dirty="0">
                <a:solidFill>
                  <a:srgbClr val="374151"/>
                </a:solidFill>
              </a:rPr>
              <a:t>u</a:t>
            </a:r>
            <a:r>
              <a:rPr lang="en-US" b="0" i="0" dirty="0">
                <a:solidFill>
                  <a:srgbClr val="374151"/>
                </a:solidFill>
              </a:rPr>
              <a:t>tilizing recurrent neural networks (RNN)</a:t>
            </a:r>
            <a:endParaRPr dirty="0"/>
          </a:p>
        </p:txBody>
      </p:sp>
      <p:sp>
        <p:nvSpPr>
          <p:cNvPr id="818" name="Google Shape;818;p40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None/>
            </a:pPr>
            <a:r>
              <a:rPr lang="en-US" b="0" i="0" dirty="0">
                <a:solidFill>
                  <a:srgbClr val="374151"/>
                </a:solidFill>
              </a:rPr>
              <a:t>By </a:t>
            </a:r>
            <a:r>
              <a:rPr lang="en-US" dirty="0">
                <a:solidFill>
                  <a:srgbClr val="374151"/>
                </a:solidFill>
              </a:rPr>
              <a:t>a</a:t>
            </a:r>
            <a:r>
              <a:rPr lang="en-US" b="0" i="0" dirty="0">
                <a:solidFill>
                  <a:srgbClr val="374151"/>
                </a:solidFill>
              </a:rPr>
              <a:t>nalyzing word order</a:t>
            </a:r>
            <a:endParaRPr dirty="0"/>
          </a:p>
        </p:txBody>
      </p:sp>
      <p:sp>
        <p:nvSpPr>
          <p:cNvPr id="819" name="Google Shape;819;p40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None/>
            </a:pPr>
            <a:r>
              <a:rPr lang="en-US" b="0" i="0" dirty="0">
                <a:solidFill>
                  <a:srgbClr val="374151"/>
                </a:solidFill>
              </a:rPr>
              <a:t>Based on global word co-occurrence statistics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1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</a:pPr>
            <a:r>
              <a:rPr lang="en-US"/>
              <a:t> D</a:t>
            </a:r>
            <a:endParaRPr/>
          </a:p>
        </p:txBody>
      </p:sp>
      <p:sp>
        <p:nvSpPr>
          <p:cNvPr id="825" name="Google Shape;825;p41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543032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i="0" dirty="0" err="1"/>
              <a:t>GloVe</a:t>
            </a:r>
            <a:r>
              <a:rPr lang="en-US" i="0" dirty="0"/>
              <a:t> models the relationships between words in vector space by capturing global word co-occurrence statistics.</a:t>
            </a:r>
            <a:endParaRPr dirty="0"/>
          </a:p>
        </p:txBody>
      </p:sp>
      <p:sp>
        <p:nvSpPr>
          <p:cNvPr id="826" name="Google Shape;826;p41"/>
          <p:cNvSpPr txBox="1">
            <a:spLocks noGrp="1"/>
          </p:cNvSpPr>
          <p:nvPr>
            <p:ph type="body" idx="3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 dirty="0"/>
              <a:t>By </a:t>
            </a:r>
            <a:r>
              <a:rPr lang="en-US" dirty="0"/>
              <a:t>c</a:t>
            </a:r>
            <a:r>
              <a:rPr lang="en-US" b="0" i="0" dirty="0"/>
              <a:t>apturing word frequency</a:t>
            </a:r>
            <a:endParaRPr dirty="0"/>
          </a:p>
        </p:txBody>
      </p:sp>
      <p:sp>
        <p:nvSpPr>
          <p:cNvPr id="827" name="Google Shape;827;p41"/>
          <p:cNvSpPr txBox="1">
            <a:spLocks noGrp="1"/>
          </p:cNvSpPr>
          <p:nvPr>
            <p:ph type="body" idx="4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 dirty="0"/>
              <a:t>By </a:t>
            </a:r>
            <a:r>
              <a:rPr lang="en-US" dirty="0"/>
              <a:t>u</a:t>
            </a:r>
            <a:r>
              <a:rPr lang="en-US" b="0" i="0" dirty="0"/>
              <a:t>tilizing recurrent neural networks (RNN)</a:t>
            </a:r>
            <a:endParaRPr dirty="0"/>
          </a:p>
        </p:txBody>
      </p:sp>
      <p:sp>
        <p:nvSpPr>
          <p:cNvPr id="828" name="Google Shape;828;p41"/>
          <p:cNvSpPr txBox="1">
            <a:spLocks noGrp="1"/>
          </p:cNvSpPr>
          <p:nvPr>
            <p:ph type="body" idx="5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 dirty="0"/>
              <a:t>By </a:t>
            </a:r>
            <a:r>
              <a:rPr lang="en-US" dirty="0"/>
              <a:t>a</a:t>
            </a:r>
            <a:r>
              <a:rPr lang="en-US" b="0" i="0" dirty="0"/>
              <a:t>nalyzing word order</a:t>
            </a:r>
            <a:endParaRPr dirty="0"/>
          </a:p>
        </p:txBody>
      </p:sp>
      <p:sp>
        <p:nvSpPr>
          <p:cNvPr id="829" name="Google Shape;829;p41"/>
          <p:cNvSpPr txBox="1">
            <a:spLocks noGrp="1"/>
          </p:cNvSpPr>
          <p:nvPr>
            <p:ph type="body" idx="6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Based on global word co-occurrence statistics</a:t>
            </a:r>
            <a:endParaRPr/>
          </a:p>
        </p:txBody>
      </p:sp>
      <p:sp>
        <p:nvSpPr>
          <p:cNvPr id="830" name="Google Shape;830;p41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/>
              <a:t>How does GloVe model the relationships between words in vector space?</a:t>
            </a:r>
            <a:r>
              <a:rPr lang="en-US" b="0" i="0"/>
              <a:t> </a:t>
            </a:r>
            <a:endParaRPr/>
          </a:p>
        </p:txBody>
      </p:sp>
      <p:sp>
        <p:nvSpPr>
          <p:cNvPr id="831" name="Google Shape;831;p41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2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3_LV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1585</Words>
  <Application>Microsoft Office PowerPoint</Application>
  <PresentationFormat>Custom</PresentationFormat>
  <Paragraphs>251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Open Sans</vt:lpstr>
      <vt:lpstr>Arial</vt:lpstr>
      <vt:lpstr>Calibri</vt:lpstr>
      <vt:lpstr>Courier New</vt:lpstr>
      <vt:lpstr>2023_LVC</vt:lpstr>
      <vt:lpstr>PowerPoint Presentation</vt:lpstr>
      <vt:lpstr>PowerPoint Presentation</vt:lpstr>
      <vt:lpstr>PowerPoint Presentation</vt:lpstr>
      <vt:lpstr>PowerPoint Presentation</vt:lpstr>
      <vt:lpstr>Drawbacks of Basic Vectorization Approaches </vt:lpstr>
      <vt:lpstr>Drawbacks of Basic Vectorization Approaches </vt:lpstr>
      <vt:lpstr>Drawbacks of Basic Vectorization Approaches </vt:lpstr>
      <vt:lpstr>PowerPoint Presentation</vt:lpstr>
      <vt:lpstr>Distributed Representations</vt:lpstr>
      <vt:lpstr>Word Embeddings</vt:lpstr>
      <vt:lpstr>PowerPoint Presentation</vt:lpstr>
      <vt:lpstr>Word2Vec</vt:lpstr>
      <vt:lpstr>Word2Vec: Variants</vt:lpstr>
      <vt:lpstr>Continuous Bag-of-Words (CBoWs)</vt:lpstr>
      <vt:lpstr>CBoWs: Context Size</vt:lpstr>
      <vt:lpstr>PowerPoint Presentation</vt:lpstr>
      <vt:lpstr>Continuous Bag-of-Words (CBoWs)</vt:lpstr>
      <vt:lpstr>Skip-Gram Model</vt:lpstr>
      <vt:lpstr>Word2Vec: Pros</vt:lpstr>
      <vt:lpstr>Word2Vec: Cons</vt:lpstr>
      <vt:lpstr>Word2Vec: Cons</vt:lpstr>
      <vt:lpstr>PowerPoint Presentation</vt:lpstr>
      <vt:lpstr>Global Vectors for Word Representation (GloVe)</vt:lpstr>
      <vt:lpstr>GloVe</vt:lpstr>
      <vt:lpstr>GloVe</vt:lpstr>
      <vt:lpstr>PowerPoint Presentation</vt:lpstr>
      <vt:lpstr>FastText</vt:lpstr>
      <vt:lpstr>FastText</vt:lpstr>
      <vt:lpstr>Pre-trained word embeddings</vt:lpstr>
      <vt:lpstr>PowerPoint Presentation</vt:lpstr>
      <vt:lpstr>Doc2Vec</vt:lpstr>
      <vt:lpstr>Doc2Vec: PV-DM </vt:lpstr>
      <vt:lpstr>Doc2Vec: PV-DBOW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Vikas Singh</cp:lastModifiedBy>
  <cp:revision>3</cp:revision>
  <dcterms:created xsi:type="dcterms:W3CDTF">2023-05-19T12:36:11Z</dcterms:created>
  <dcterms:modified xsi:type="dcterms:W3CDTF">2023-12-29T10:22:46Z</dcterms:modified>
</cp:coreProperties>
</file>