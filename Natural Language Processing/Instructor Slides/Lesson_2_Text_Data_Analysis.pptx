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6256000" cy="9144000"/>
  <p:notesSz cx="6858000" cy="9144000"/>
  <p:embeddedFontLst>
    <p:embeddedFont>
      <p:font typeface="Calibri" panose="020F0502020204030204" pitchFamily="34" charset="0"/>
      <p:regular r:id="rId58"/>
      <p:bold r:id="rId59"/>
      <p:italic r:id="rId60"/>
      <p:boldItalic r:id="rId61"/>
    </p:embeddedFont>
    <p:embeddedFont>
      <p:font typeface="Open Sans" panose="020B0606030504020204" pitchFamily="3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/b5eeegniRUnZHBKn7ystQ==" hashData="rDudN7AecylGmZ4hK9DfOHpm3pphEy+P8V0uy27tyTVgFDfnz8U9hDklLHPdPyX/M8N8RUAqwNM0ltx1W1gmzQ=="/>
  <p:extLst>
    <p:ext uri="{EFAFB233-063F-42B5-8137-9DF3F51BA10A}">
      <p15:sldGuideLst xmlns:p15="http://schemas.microsoft.com/office/powerpoint/2012/main">
        <p15:guide id="1" pos="8136">
          <p15:clr>
            <a:srgbClr val="A4A3A4"/>
          </p15:clr>
        </p15:guide>
        <p15:guide id="2" orient="horz" pos="4581">
          <p15:clr>
            <a:srgbClr val="A4A3A4"/>
          </p15:clr>
        </p15:guide>
        <p15:guide id="3" pos="6708">
          <p15:clr>
            <a:srgbClr val="A4A3A4"/>
          </p15:clr>
        </p15:guide>
        <p15:guide id="4" pos="8454">
          <p15:clr>
            <a:srgbClr val="A4A3A4"/>
          </p15:clr>
        </p15:guide>
        <p15:guide id="5" pos="4417">
          <p15:clr>
            <a:srgbClr val="A4A3A4"/>
          </p15:clr>
        </p15:guide>
        <p15:guide id="6" pos="3510">
          <p15:clr>
            <a:srgbClr val="A4A3A4"/>
          </p15:clr>
        </p15:guide>
        <p15:guide id="7" orient="horz" pos="3833">
          <p15:clr>
            <a:srgbClr val="A4A3A4"/>
          </p15:clr>
        </p15:guide>
        <p15:guide id="8" orient="horz" pos="106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hO2gfFqP6MYrEiBqF5HEn6WXrf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FA1"/>
    <a:srgbClr val="49B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1AB3F-8540-419E-A7B8-E59782D8A7AD}" v="1" dt="2023-12-29T08:57:17.084"/>
  </p1510:revLst>
</p1510:revInfo>
</file>

<file path=ppt/tableStyles.xml><?xml version="1.0" encoding="utf-8"?>
<a:tblStyleLst xmlns:a="http://schemas.openxmlformats.org/drawingml/2006/main" def="{6814D297-90EE-4DFA-B4EC-A226CEF9400F}">
  <a:tblStyle styleId="{6814D297-90EE-4DFA-B4EC-A226CEF9400F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8136"/>
        <p:guide orient="horz" pos="4581"/>
        <p:guide pos="6708"/>
        <p:guide pos="8454"/>
        <p:guide pos="4417"/>
        <p:guide pos="3510"/>
        <p:guide orient="horz" pos="3833"/>
        <p:guide orient="horz" pos="106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Singh" userId="41e88e25-583f-4ea6-978b-2322b3c60e9f" providerId="ADAL" clId="{B541AB3F-8540-419E-A7B8-E59782D8A7AD}"/>
    <pc:docChg chg="custSel addSld delSld modSld modMainMaster">
      <pc:chgData name="Vikas Singh" userId="41e88e25-583f-4ea6-978b-2322b3c60e9f" providerId="ADAL" clId="{B541AB3F-8540-419E-A7B8-E59782D8A7AD}" dt="2023-12-29T08:57:17.395" v="9" actId="27636"/>
      <pc:docMkLst>
        <pc:docMk/>
      </pc:docMkLst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3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4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5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6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7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8"/>
        </pc:sldMkLst>
      </pc:sldChg>
      <pc:sldChg chg="add del">
        <pc:chgData name="Vikas Singh" userId="41e88e25-583f-4ea6-978b-2322b3c60e9f" providerId="ADAL" clId="{B541AB3F-8540-419E-A7B8-E59782D8A7AD}" dt="2023-12-29T08:57:16.917" v="1"/>
        <pc:sldMkLst>
          <pc:docMk/>
          <pc:sldMk cId="0" sldId="309"/>
        </pc:sldMkLst>
      </pc:sldChg>
      <pc:sldMasterChg chg="delSldLayout modSldLayout">
        <pc:chgData name="Vikas Singh" userId="41e88e25-583f-4ea6-978b-2322b3c60e9f" providerId="ADAL" clId="{B541AB3F-8540-419E-A7B8-E59782D8A7AD}" dt="2023-12-29T08:57:17.395" v="9" actId="27636"/>
        <pc:sldMasterMkLst>
          <pc:docMk/>
          <pc:sldMasterMk cId="0" sldId="2147483648"/>
        </pc:sldMasterMkLst>
        <pc:sldLayoutChg chg="del">
          <pc:chgData name="Vikas Singh" userId="41e88e25-583f-4ea6-978b-2322b3c60e9f" providerId="ADAL" clId="{B541AB3F-8540-419E-A7B8-E59782D8A7AD}" dt="2023-12-29T08:57:14.336" v="0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Vikas Singh" userId="41e88e25-583f-4ea6-978b-2322b3c60e9f" providerId="ADAL" clId="{B541AB3F-8540-419E-A7B8-E59782D8A7AD}" dt="2023-12-29T08:57:14.336" v="0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Vikas Singh" userId="41e88e25-583f-4ea6-978b-2322b3c60e9f" providerId="ADAL" clId="{B541AB3F-8540-419E-A7B8-E59782D8A7AD}" dt="2023-12-29T08:57:14.336" v="0" actId="47"/>
          <pc:sldLayoutMkLst>
            <pc:docMk/>
            <pc:sldMasterMk cId="0" sldId="2147483648"/>
            <pc:sldLayoutMk cId="0" sldId="2147483657"/>
          </pc:sldLayoutMkLst>
        </pc:sldLayoutChg>
        <pc:sldLayoutChg chg="modSp mod">
          <pc:chgData name="Vikas Singh" userId="41e88e25-583f-4ea6-978b-2322b3c60e9f" providerId="ADAL" clId="{B541AB3F-8540-419E-A7B8-E59782D8A7AD}" dt="2023-12-29T08:57:17.384" v="5" actId="27636"/>
          <pc:sldLayoutMkLst>
            <pc:docMk/>
            <pc:sldMasterMk cId="0" sldId="2147483648"/>
            <pc:sldLayoutMk cId="1638207056" sldId="2147483681"/>
          </pc:sldLayoutMkLst>
          <pc:spChg chg="mod">
            <ac:chgData name="Vikas Singh" userId="41e88e25-583f-4ea6-978b-2322b3c60e9f" providerId="ADAL" clId="{B541AB3F-8540-419E-A7B8-E59782D8A7AD}" dt="2023-12-29T08:57:17.375" v="2" actId="27636"/>
            <ac:spMkLst>
              <pc:docMk/>
              <pc:sldMasterMk cId="0" sldId="2147483648"/>
              <pc:sldLayoutMk cId="1638207056" sldId="2147483681"/>
              <ac:spMk id="53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84" v="5" actId="27636"/>
            <ac:spMkLst>
              <pc:docMk/>
              <pc:sldMasterMk cId="0" sldId="2147483648"/>
              <pc:sldLayoutMk cId="1638207056" sldId="2147483681"/>
              <ac:spMk id="55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81" v="4" actId="27636"/>
            <ac:spMkLst>
              <pc:docMk/>
              <pc:sldMasterMk cId="0" sldId="2147483648"/>
              <pc:sldLayoutMk cId="1638207056" sldId="2147483681"/>
              <ac:spMk id="57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79" v="3" actId="27636"/>
            <ac:spMkLst>
              <pc:docMk/>
              <pc:sldMasterMk cId="0" sldId="2147483648"/>
              <pc:sldLayoutMk cId="1638207056" sldId="2147483681"/>
              <ac:spMk id="59" creationId="{00000000-0000-0000-0000-000000000000}"/>
            </ac:spMkLst>
          </pc:spChg>
        </pc:sldLayoutChg>
        <pc:sldLayoutChg chg="modSp mod">
          <pc:chgData name="Vikas Singh" userId="41e88e25-583f-4ea6-978b-2322b3c60e9f" providerId="ADAL" clId="{B541AB3F-8540-419E-A7B8-E59782D8A7AD}" dt="2023-12-29T08:57:17.395" v="9" actId="27636"/>
          <pc:sldLayoutMkLst>
            <pc:docMk/>
            <pc:sldMasterMk cId="0" sldId="2147483648"/>
            <pc:sldLayoutMk cId="36023246" sldId="2147483682"/>
          </pc:sldLayoutMkLst>
          <pc:spChg chg="mod">
            <ac:chgData name="Vikas Singh" userId="41e88e25-583f-4ea6-978b-2322b3c60e9f" providerId="ADAL" clId="{B541AB3F-8540-419E-A7B8-E59782D8A7AD}" dt="2023-12-29T08:57:17.392" v="7" actId="27636"/>
            <ac:spMkLst>
              <pc:docMk/>
              <pc:sldMasterMk cId="0" sldId="2147483648"/>
              <pc:sldLayoutMk cId="36023246" sldId="2147483682"/>
              <ac:spMk id="73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94" v="8" actId="27636"/>
            <ac:spMkLst>
              <pc:docMk/>
              <pc:sldMasterMk cId="0" sldId="2147483648"/>
              <pc:sldLayoutMk cId="36023246" sldId="2147483682"/>
              <ac:spMk id="74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90" v="6" actId="27636"/>
            <ac:spMkLst>
              <pc:docMk/>
              <pc:sldMasterMk cId="0" sldId="2147483648"/>
              <pc:sldLayoutMk cId="36023246" sldId="2147483682"/>
              <ac:spMk id="75" creationId="{00000000-0000-0000-0000-000000000000}"/>
            </ac:spMkLst>
          </pc:spChg>
          <pc:spChg chg="mod">
            <ac:chgData name="Vikas Singh" userId="41e88e25-583f-4ea6-978b-2322b3c60e9f" providerId="ADAL" clId="{B541AB3F-8540-419E-A7B8-E59782D8A7AD}" dt="2023-12-29T08:57:17.395" v="9" actId="27636"/>
            <ac:spMkLst>
              <pc:docMk/>
              <pc:sldMasterMk cId="0" sldId="2147483648"/>
              <pc:sldLayoutMk cId="36023246" sldId="2147483682"/>
              <ac:spMk id="7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working with such data, extracting and converting the text from PDF files becomes crucial for analysis, search, and other text-related tasks. Various tools and libraries can be employed to perform PDF to text conversion, enabling efficient handling of the textual content stored in PDF documents.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 b="0" i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2200" b="0" i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7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8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9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9"/>
          <p:cNvSpPr/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9"/>
          <p:cNvSpPr/>
          <p:nvPr/>
        </p:nvSpPr>
        <p:spPr>
          <a:xfrm>
            <a:off x="2967652" y="837660"/>
            <a:ext cx="439150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59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9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9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9"/>
          <p:cNvSpPr txBox="1">
            <a:spLocks noGrp="1"/>
          </p:cNvSpPr>
          <p:nvPr>
            <p:ph type="body" idx="4"/>
          </p:nvPr>
        </p:nvSpPr>
        <p:spPr>
          <a:xfrm>
            <a:off x="1332873" y="5195833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0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1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61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913238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>
  <p:cSld name="Key Takeaway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2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2"/>
          <p:cNvSpPr/>
          <p:nvPr/>
        </p:nvSpPr>
        <p:spPr>
          <a:xfrm>
            <a:off x="3559993" y="837660"/>
            <a:ext cx="337748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62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body" idx="2"/>
          </p:nvPr>
        </p:nvSpPr>
        <p:spPr>
          <a:xfrm>
            <a:off x="1332356" y="275555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body" idx="3"/>
          </p:nvPr>
        </p:nvSpPr>
        <p:spPr>
          <a:xfrm>
            <a:off x="1331837" y="356791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body" idx="4"/>
          </p:nvPr>
        </p:nvSpPr>
        <p:spPr>
          <a:xfrm>
            <a:off x="1332873" y="439263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6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6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7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7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8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8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8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9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69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6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0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70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Content_Slide">
  <p:cSld name="Bullet_Content_Slid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1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71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897196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1"/>
          <p:cNvSpPr txBox="1">
            <a:spLocks noGrp="1"/>
          </p:cNvSpPr>
          <p:nvPr>
            <p:ph type="body" idx="2"/>
          </p:nvPr>
        </p:nvSpPr>
        <p:spPr>
          <a:xfrm>
            <a:off x="1285825" y="2612636"/>
            <a:ext cx="13697000" cy="551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7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2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5" name="Google Shape;115;p72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72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72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72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72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72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72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72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123" name="Google Shape;123;p72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72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125" name="Google Shape;125;p72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72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127" name="Google Shape;127;p72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2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29" name="Google Shape;129;p72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72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72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3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3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73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4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4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74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5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75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6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6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77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78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9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0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80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1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2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3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83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84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5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85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6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86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7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3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3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54116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4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" name="Google Shape;51;p64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64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64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56" name="Google Shape;56;p64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4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58" name="Google Shape;58;p64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4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60" name="Google Shape;60;p64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64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4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82070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5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" name="Google Shape;66;p65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65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65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65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5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65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65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65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74" name="Google Shape;74;p65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75" name="Google Shape;75;p65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76" name="Google Shape;76;p65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77" name="Google Shape;77;p65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65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65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2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6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Natural Language Processing and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Speech Recognition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Text Data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body" idx="1"/>
          </p:nvPr>
        </p:nvSpPr>
        <p:spPr>
          <a:xfrm>
            <a:off x="1332875" y="281970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Understand the NLP pipeline for text processing and classification</a:t>
            </a:r>
            <a:endParaRPr dirty="0"/>
          </a:p>
        </p:txBody>
      </p:sp>
      <p:sp>
        <p:nvSpPr>
          <p:cNvPr id="207" name="Google Shape;207;p3"/>
          <p:cNvSpPr txBox="1">
            <a:spLocks noGrp="1"/>
          </p:cNvSpPr>
          <p:nvPr>
            <p:ph type="body" idx="2"/>
          </p:nvPr>
        </p:nvSpPr>
        <p:spPr>
          <a:xfrm>
            <a:off x="1332356" y="361971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Discuss different methodologies for data acquisition</a:t>
            </a:r>
            <a:endParaRPr dirty="0"/>
          </a:p>
        </p:txBody>
      </p:sp>
      <p:sp>
        <p:nvSpPr>
          <p:cNvPr id="208" name="Google Shape;208;p3"/>
          <p:cNvSpPr txBox="1">
            <a:spLocks noGrp="1"/>
          </p:cNvSpPr>
          <p:nvPr>
            <p:ph type="body" idx="3"/>
          </p:nvPr>
        </p:nvSpPr>
        <p:spPr>
          <a:xfrm>
            <a:off x="1331837" y="4407854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Implement text cleaning and text pre-processing steps</a:t>
            </a:r>
            <a:endParaRPr dirty="0"/>
          </a:p>
        </p:txBody>
      </p:sp>
      <p:sp>
        <p:nvSpPr>
          <p:cNvPr id="209" name="Google Shape;209;p3"/>
          <p:cNvSpPr txBox="1">
            <a:spLocks noGrp="1"/>
          </p:cNvSpPr>
          <p:nvPr>
            <p:ph type="body" idx="4"/>
          </p:nvPr>
        </p:nvSpPr>
        <p:spPr>
          <a:xfrm>
            <a:off x="1332873" y="5183641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Learn to extract features from text data</a:t>
            </a:r>
            <a:endParaRPr dirty="0"/>
          </a:p>
        </p:txBody>
      </p:sp>
      <p:pic>
        <p:nvPicPr>
          <p:cNvPr id="210" name="Google Shape;210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282082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523981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443348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362715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6046143"/>
            <a:ext cx="396244" cy="38793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"/>
          <p:cNvSpPr txBox="1"/>
          <p:nvPr/>
        </p:nvSpPr>
        <p:spPr>
          <a:xfrm>
            <a:off x="1332873" y="6000360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Implement sentiment analysis and classification in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NLP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NLP Pipeline</a:t>
            </a:r>
            <a:endParaRPr/>
          </a:p>
        </p:txBody>
      </p:sp>
      <p:sp>
        <p:nvSpPr>
          <p:cNvPr id="226" name="Google Shape;226;p5"/>
          <p:cNvSpPr txBox="1">
            <a:spLocks noGrp="1"/>
          </p:cNvSpPr>
          <p:nvPr>
            <p:ph type="body" idx="2"/>
          </p:nvPr>
        </p:nvSpPr>
        <p:spPr>
          <a:xfrm>
            <a:off x="1330487" y="1332311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22860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An NLP pipeline is a sequence of processing steps that are applied to a text document to extract useful information and insights.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965895" y="816324"/>
            <a:ext cx="232865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5"/>
          <p:cNvSpPr/>
          <p:nvPr/>
        </p:nvSpPr>
        <p:spPr>
          <a:xfrm flipH="1">
            <a:off x="2329827" y="4939147"/>
            <a:ext cx="1625469" cy="455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acquisition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5"/>
          <p:cNvSpPr/>
          <p:nvPr/>
        </p:nvSpPr>
        <p:spPr>
          <a:xfrm flipH="1">
            <a:off x="5381615" y="7713670"/>
            <a:ext cx="2270344" cy="991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pre-processing</a:t>
            </a:r>
            <a:endParaRPr dirty="0"/>
          </a:p>
        </p:txBody>
      </p:sp>
      <p:sp>
        <p:nvSpPr>
          <p:cNvPr id="230" name="Google Shape;230;p5"/>
          <p:cNvSpPr/>
          <p:nvPr/>
        </p:nvSpPr>
        <p:spPr>
          <a:xfrm flipH="1">
            <a:off x="8227869" y="6346020"/>
            <a:ext cx="2133361" cy="1124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engineering</a:t>
            </a:r>
            <a:endParaRPr sz="2200" dirty="0"/>
          </a:p>
        </p:txBody>
      </p:sp>
      <p:sp>
        <p:nvSpPr>
          <p:cNvPr id="231" name="Google Shape;231;p5"/>
          <p:cNvSpPr/>
          <p:nvPr/>
        </p:nvSpPr>
        <p:spPr>
          <a:xfrm flipH="1">
            <a:off x="6407345" y="4811222"/>
            <a:ext cx="1762021" cy="46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Model building</a:t>
            </a:r>
            <a:endParaRPr dirty="0"/>
          </a:p>
        </p:txBody>
      </p:sp>
      <p:sp>
        <p:nvSpPr>
          <p:cNvPr id="232" name="Google Shape;232;p5"/>
          <p:cNvSpPr/>
          <p:nvPr/>
        </p:nvSpPr>
        <p:spPr>
          <a:xfrm flipH="1">
            <a:off x="7896893" y="2773261"/>
            <a:ext cx="1620902" cy="61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Evaluation</a:t>
            </a:r>
            <a:endParaRPr sz="2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5"/>
          <p:cNvSpPr/>
          <p:nvPr/>
        </p:nvSpPr>
        <p:spPr>
          <a:xfrm flipH="1">
            <a:off x="9797418" y="2236087"/>
            <a:ext cx="1793500" cy="39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 sz="2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5"/>
          <p:cNvSpPr/>
          <p:nvPr/>
        </p:nvSpPr>
        <p:spPr>
          <a:xfrm flipH="1">
            <a:off x="12622949" y="3452334"/>
            <a:ext cx="1656632" cy="38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Monitoring</a:t>
            </a:r>
            <a:endParaRPr sz="2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5"/>
          <p:cNvSpPr/>
          <p:nvPr/>
        </p:nvSpPr>
        <p:spPr>
          <a:xfrm flipH="1">
            <a:off x="13244426" y="4826470"/>
            <a:ext cx="1656630" cy="37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generation</a:t>
            </a:r>
            <a:endParaRPr sz="2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5"/>
          <p:cNvSpPr/>
          <p:nvPr/>
        </p:nvSpPr>
        <p:spPr>
          <a:xfrm flipH="1">
            <a:off x="12086059" y="3692144"/>
            <a:ext cx="1053465" cy="1908265"/>
          </a:xfrm>
          <a:custGeom>
            <a:avLst/>
            <a:gdLst/>
            <a:ahLst/>
            <a:cxnLst/>
            <a:rect l="l" t="t" r="r" b="b"/>
            <a:pathLst>
              <a:path w="1147651" h="2078876" extrusionOk="0">
                <a:moveTo>
                  <a:pt x="543380" y="1160226"/>
                </a:moveTo>
                <a:cubicBezTo>
                  <a:pt x="630745" y="741274"/>
                  <a:pt x="837243" y="356738"/>
                  <a:pt x="1147651" y="46992"/>
                </a:cubicBezTo>
                <a:lnTo>
                  <a:pt x="1100660" y="0"/>
                </a:lnTo>
                <a:cubicBezTo>
                  <a:pt x="890191" y="209807"/>
                  <a:pt x="725390" y="454030"/>
                  <a:pt x="610227" y="726051"/>
                </a:cubicBezTo>
                <a:cubicBezTo>
                  <a:pt x="551323" y="864379"/>
                  <a:pt x="506979" y="1007339"/>
                  <a:pt x="477195" y="1152946"/>
                </a:cubicBezTo>
                <a:cubicBezTo>
                  <a:pt x="472562" y="1152946"/>
                  <a:pt x="467929" y="1152284"/>
                  <a:pt x="463296" y="1152284"/>
                </a:cubicBezTo>
                <a:cubicBezTo>
                  <a:pt x="207160" y="1152284"/>
                  <a:pt x="0" y="1359444"/>
                  <a:pt x="0" y="1615581"/>
                </a:cubicBezTo>
                <a:cubicBezTo>
                  <a:pt x="0" y="1871717"/>
                  <a:pt x="207160" y="2078877"/>
                  <a:pt x="463296" y="2078877"/>
                </a:cubicBezTo>
                <a:cubicBezTo>
                  <a:pt x="719433" y="2078877"/>
                  <a:pt x="926593" y="1871717"/>
                  <a:pt x="926593" y="1615581"/>
                </a:cubicBezTo>
                <a:cubicBezTo>
                  <a:pt x="927255" y="1387903"/>
                  <a:pt x="761130" y="1197952"/>
                  <a:pt x="543380" y="1160226"/>
                </a:cubicBezTo>
                <a:close/>
              </a:path>
            </a:pathLst>
          </a:custGeom>
          <a:solidFill>
            <a:srgbClr val="27AA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5"/>
          <p:cNvSpPr/>
          <p:nvPr/>
        </p:nvSpPr>
        <p:spPr>
          <a:xfrm flipH="1">
            <a:off x="12349122" y="4811222"/>
            <a:ext cx="729041" cy="729041"/>
          </a:xfrm>
          <a:custGeom>
            <a:avLst/>
            <a:gdLst/>
            <a:ahLst/>
            <a:cxnLst/>
            <a:rect l="l" t="t" r="r" b="b"/>
            <a:pathLst>
              <a:path w="794222" h="794222" extrusionOk="0">
                <a:moveTo>
                  <a:pt x="397111" y="794222"/>
                </a:moveTo>
                <a:cubicBezTo>
                  <a:pt x="616184" y="794222"/>
                  <a:pt x="794222" y="616184"/>
                  <a:pt x="794222" y="397111"/>
                </a:cubicBezTo>
                <a:cubicBezTo>
                  <a:pt x="794222" y="178038"/>
                  <a:pt x="616184" y="0"/>
                  <a:pt x="397111" y="0"/>
                </a:cubicBezTo>
                <a:cubicBezTo>
                  <a:pt x="178038" y="0"/>
                  <a:pt x="0" y="178038"/>
                  <a:pt x="0" y="397111"/>
                </a:cubicBezTo>
                <a:cubicBezTo>
                  <a:pt x="0" y="616846"/>
                  <a:pt x="177376" y="794222"/>
                  <a:pt x="397111" y="7942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5"/>
          <p:cNvSpPr/>
          <p:nvPr/>
        </p:nvSpPr>
        <p:spPr>
          <a:xfrm flipH="1">
            <a:off x="10648024" y="3079749"/>
            <a:ext cx="1885788" cy="1060755"/>
          </a:xfrm>
          <a:custGeom>
            <a:avLst/>
            <a:gdLst/>
            <a:ahLst/>
            <a:cxnLst/>
            <a:rect l="l" t="t" r="r" b="b"/>
            <a:pathLst>
              <a:path w="2054388" h="1155593" extrusionOk="0">
                <a:moveTo>
                  <a:pt x="2054388" y="0"/>
                </a:moveTo>
                <a:cubicBezTo>
                  <a:pt x="1601682" y="0"/>
                  <a:pt x="1169492" y="131047"/>
                  <a:pt x="800179" y="374608"/>
                </a:cubicBezTo>
                <a:cubicBezTo>
                  <a:pt x="715462" y="285258"/>
                  <a:pt x="595667" y="229001"/>
                  <a:pt x="463296" y="229001"/>
                </a:cubicBezTo>
                <a:cubicBezTo>
                  <a:pt x="207160" y="229001"/>
                  <a:pt x="0" y="436160"/>
                  <a:pt x="0" y="692297"/>
                </a:cubicBezTo>
                <a:cubicBezTo>
                  <a:pt x="0" y="948434"/>
                  <a:pt x="207160" y="1155593"/>
                  <a:pt x="463296" y="1155593"/>
                </a:cubicBezTo>
                <a:cubicBezTo>
                  <a:pt x="719433" y="1155593"/>
                  <a:pt x="926593" y="948434"/>
                  <a:pt x="926593" y="692297"/>
                </a:cubicBezTo>
                <a:cubicBezTo>
                  <a:pt x="926593" y="593019"/>
                  <a:pt x="895486" y="501684"/>
                  <a:pt x="842538" y="426233"/>
                </a:cubicBezTo>
                <a:cubicBezTo>
                  <a:pt x="1199938" y="191937"/>
                  <a:pt x="1617566" y="66185"/>
                  <a:pt x="2054388" y="66185"/>
                </a:cubicBezTo>
                <a:lnTo>
                  <a:pt x="2054388" y="0"/>
                </a:lnTo>
                <a:close/>
              </a:path>
            </a:pathLst>
          </a:custGeom>
          <a:solidFill>
            <a:srgbClr val="FBB0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9" name="Google Shape;239;p5"/>
          <p:cNvGrpSpPr/>
          <p:nvPr/>
        </p:nvGrpSpPr>
        <p:grpSpPr>
          <a:xfrm flipH="1">
            <a:off x="11744017" y="3350709"/>
            <a:ext cx="729042" cy="729041"/>
            <a:chOff x="3903399" y="2992821"/>
            <a:chExt cx="794222" cy="794222"/>
          </a:xfrm>
        </p:grpSpPr>
        <p:sp>
          <p:nvSpPr>
            <p:cNvPr id="240" name="Google Shape;240;p5"/>
            <p:cNvSpPr/>
            <p:nvPr/>
          </p:nvSpPr>
          <p:spPr>
            <a:xfrm>
              <a:off x="3903399" y="2992821"/>
              <a:ext cx="794222" cy="794222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7376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930533" y="3019957"/>
              <a:ext cx="739952" cy="739950"/>
            </a:xfrm>
            <a:custGeom>
              <a:avLst/>
              <a:gdLst/>
              <a:ahLst/>
              <a:cxnLst/>
              <a:rect l="l" t="t" r="r" b="b"/>
              <a:pathLst>
                <a:path w="739952" h="739950" extrusionOk="0">
                  <a:moveTo>
                    <a:pt x="369977" y="739950"/>
                  </a:moveTo>
                  <a:cubicBezTo>
                    <a:pt x="574489" y="739950"/>
                    <a:pt x="739952" y="574487"/>
                    <a:pt x="739952" y="369975"/>
                  </a:cubicBezTo>
                  <a:cubicBezTo>
                    <a:pt x="739952" y="165463"/>
                    <a:pt x="574489" y="0"/>
                    <a:pt x="369977" y="0"/>
                  </a:cubicBezTo>
                  <a:cubicBezTo>
                    <a:pt x="165465" y="0"/>
                    <a:pt x="2" y="165463"/>
                    <a:pt x="2" y="369975"/>
                  </a:cubicBezTo>
                  <a:cubicBezTo>
                    <a:pt x="-660" y="574487"/>
                    <a:pt x="165465" y="739950"/>
                    <a:pt x="369977" y="739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2" name="Google Shape;242;p5"/>
          <p:cNvSpPr/>
          <p:nvPr/>
        </p:nvSpPr>
        <p:spPr>
          <a:xfrm flipH="1">
            <a:off x="9166246" y="2684853"/>
            <a:ext cx="1907052" cy="1051642"/>
          </a:xfrm>
          <a:custGeom>
            <a:avLst/>
            <a:gdLst/>
            <a:ahLst/>
            <a:cxnLst/>
            <a:rect l="l" t="t" r="r" b="b"/>
            <a:pathLst>
              <a:path w="2077553" h="1145665" extrusionOk="0">
                <a:moveTo>
                  <a:pt x="2077553" y="1099336"/>
                </a:moveTo>
                <a:cubicBezTo>
                  <a:pt x="1757879" y="779662"/>
                  <a:pt x="1359444" y="565883"/>
                  <a:pt x="925931" y="477195"/>
                </a:cubicBezTo>
                <a:cubicBezTo>
                  <a:pt x="925931" y="472562"/>
                  <a:pt x="926593" y="467929"/>
                  <a:pt x="926593" y="463296"/>
                </a:cubicBezTo>
                <a:cubicBezTo>
                  <a:pt x="926593" y="207160"/>
                  <a:pt x="719433" y="0"/>
                  <a:pt x="463296" y="0"/>
                </a:cubicBezTo>
                <a:cubicBezTo>
                  <a:pt x="207160" y="0"/>
                  <a:pt x="0" y="207160"/>
                  <a:pt x="0" y="463296"/>
                </a:cubicBezTo>
                <a:cubicBezTo>
                  <a:pt x="0" y="719433"/>
                  <a:pt x="207160" y="926593"/>
                  <a:pt x="463296" y="926593"/>
                </a:cubicBezTo>
                <a:cubicBezTo>
                  <a:pt x="691635" y="926593"/>
                  <a:pt x="881587" y="761130"/>
                  <a:pt x="919312" y="543380"/>
                </a:cubicBezTo>
                <a:cubicBezTo>
                  <a:pt x="1337603" y="630083"/>
                  <a:pt x="1721477" y="836581"/>
                  <a:pt x="2030562" y="1145666"/>
                </a:cubicBezTo>
                <a:lnTo>
                  <a:pt x="2077553" y="1099336"/>
                </a:ln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43" name="Google Shape;243;p5"/>
          <p:cNvGrpSpPr/>
          <p:nvPr/>
        </p:nvGrpSpPr>
        <p:grpSpPr>
          <a:xfrm flipH="1">
            <a:off x="10283503" y="2745606"/>
            <a:ext cx="729042" cy="729041"/>
            <a:chOff x="5494491" y="2333617"/>
            <a:chExt cx="794222" cy="794222"/>
          </a:xfrm>
        </p:grpSpPr>
        <p:sp>
          <p:nvSpPr>
            <p:cNvPr id="244" name="Google Shape;244;p5"/>
            <p:cNvSpPr/>
            <p:nvPr/>
          </p:nvSpPr>
          <p:spPr>
            <a:xfrm>
              <a:off x="5494491" y="2333617"/>
              <a:ext cx="794222" cy="794222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7376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5521627" y="2360753"/>
              <a:ext cx="739950" cy="739950"/>
            </a:xfrm>
            <a:custGeom>
              <a:avLst/>
              <a:gdLst/>
              <a:ahLst/>
              <a:cxnLst/>
              <a:rect l="l" t="t" r="r" b="b"/>
              <a:pathLst>
                <a:path w="739950" h="739950" extrusionOk="0">
                  <a:moveTo>
                    <a:pt x="369975" y="739951"/>
                  </a:moveTo>
                  <a:cubicBezTo>
                    <a:pt x="574487" y="739951"/>
                    <a:pt x="739950" y="574488"/>
                    <a:pt x="739950" y="369975"/>
                  </a:cubicBezTo>
                  <a:cubicBezTo>
                    <a:pt x="739950" y="165463"/>
                    <a:pt x="574487" y="0"/>
                    <a:pt x="369975" y="0"/>
                  </a:cubicBezTo>
                  <a:cubicBezTo>
                    <a:pt x="165463" y="0"/>
                    <a:pt x="0" y="165463"/>
                    <a:pt x="0" y="369975"/>
                  </a:cubicBezTo>
                  <a:cubicBezTo>
                    <a:pt x="0" y="574488"/>
                    <a:pt x="165463" y="739951"/>
                    <a:pt x="369975" y="7399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6" name="Google Shape;246;p5"/>
          <p:cNvSpPr/>
          <p:nvPr/>
        </p:nvSpPr>
        <p:spPr>
          <a:xfrm flipH="1">
            <a:off x="8552029" y="3289957"/>
            <a:ext cx="1060755" cy="1885787"/>
          </a:xfrm>
          <a:custGeom>
            <a:avLst/>
            <a:gdLst/>
            <a:ahLst/>
            <a:cxnLst/>
            <a:rect l="l" t="t" r="r" b="b"/>
            <a:pathLst>
              <a:path w="1155593" h="2054388" extrusionOk="0">
                <a:moveTo>
                  <a:pt x="1155593" y="2054388"/>
                </a:moveTo>
                <a:cubicBezTo>
                  <a:pt x="1155593" y="1601682"/>
                  <a:pt x="1024547" y="1169492"/>
                  <a:pt x="780985" y="800179"/>
                </a:cubicBezTo>
                <a:cubicBezTo>
                  <a:pt x="870335" y="715462"/>
                  <a:pt x="926593" y="595667"/>
                  <a:pt x="926593" y="463296"/>
                </a:cubicBezTo>
                <a:cubicBezTo>
                  <a:pt x="926593" y="207160"/>
                  <a:pt x="719433" y="0"/>
                  <a:pt x="463296" y="0"/>
                </a:cubicBezTo>
                <a:cubicBezTo>
                  <a:pt x="207160" y="0"/>
                  <a:pt x="0" y="207160"/>
                  <a:pt x="0" y="463296"/>
                </a:cubicBezTo>
                <a:cubicBezTo>
                  <a:pt x="0" y="719433"/>
                  <a:pt x="207160" y="926593"/>
                  <a:pt x="463296" y="926593"/>
                </a:cubicBezTo>
                <a:cubicBezTo>
                  <a:pt x="562574" y="926593"/>
                  <a:pt x="653910" y="895486"/>
                  <a:pt x="729361" y="842538"/>
                </a:cubicBezTo>
                <a:cubicBezTo>
                  <a:pt x="963656" y="1199938"/>
                  <a:pt x="1089408" y="1617566"/>
                  <a:pt x="1089408" y="2054388"/>
                </a:cubicBezTo>
                <a:lnTo>
                  <a:pt x="1155593" y="2054388"/>
                </a:lnTo>
                <a:close/>
              </a:path>
            </a:pathLst>
          </a:custGeom>
          <a:solidFill>
            <a:srgbClr val="7A64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5"/>
          <p:cNvSpPr/>
          <p:nvPr/>
        </p:nvSpPr>
        <p:spPr>
          <a:xfrm flipH="1">
            <a:off x="8822989" y="3350710"/>
            <a:ext cx="729041" cy="729041"/>
          </a:xfrm>
          <a:custGeom>
            <a:avLst/>
            <a:gdLst/>
            <a:ahLst/>
            <a:cxnLst/>
            <a:rect l="l" t="t" r="r" b="b"/>
            <a:pathLst>
              <a:path w="794222" h="794222" extrusionOk="0">
                <a:moveTo>
                  <a:pt x="397111" y="794222"/>
                </a:moveTo>
                <a:cubicBezTo>
                  <a:pt x="616184" y="794222"/>
                  <a:pt x="794222" y="616184"/>
                  <a:pt x="794222" y="397111"/>
                </a:cubicBezTo>
                <a:cubicBezTo>
                  <a:pt x="794222" y="178038"/>
                  <a:pt x="616184" y="0"/>
                  <a:pt x="397111" y="0"/>
                </a:cubicBezTo>
                <a:cubicBezTo>
                  <a:pt x="178038" y="0"/>
                  <a:pt x="0" y="178038"/>
                  <a:pt x="0" y="397111"/>
                </a:cubicBezTo>
                <a:cubicBezTo>
                  <a:pt x="0" y="616846"/>
                  <a:pt x="177376" y="794222"/>
                  <a:pt x="397111" y="7942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5"/>
          <p:cNvSpPr/>
          <p:nvPr/>
        </p:nvSpPr>
        <p:spPr>
          <a:xfrm flipH="1">
            <a:off x="8847898" y="3375619"/>
            <a:ext cx="679223" cy="679223"/>
          </a:xfrm>
          <a:custGeom>
            <a:avLst/>
            <a:gdLst/>
            <a:ahLst/>
            <a:cxnLst/>
            <a:rect l="l" t="t" r="r" b="b"/>
            <a:pathLst>
              <a:path w="739950" h="739950" extrusionOk="0">
                <a:moveTo>
                  <a:pt x="369975" y="739950"/>
                </a:moveTo>
                <a:cubicBezTo>
                  <a:pt x="574488" y="739950"/>
                  <a:pt x="739951" y="574487"/>
                  <a:pt x="739951" y="369975"/>
                </a:cubicBezTo>
                <a:cubicBezTo>
                  <a:pt x="739951" y="165463"/>
                  <a:pt x="574488" y="0"/>
                  <a:pt x="369975" y="0"/>
                </a:cubicBezTo>
                <a:cubicBezTo>
                  <a:pt x="165463" y="0"/>
                  <a:pt x="0" y="165463"/>
                  <a:pt x="0" y="369975"/>
                </a:cubicBezTo>
                <a:cubicBezTo>
                  <a:pt x="0" y="574487"/>
                  <a:pt x="165463" y="739950"/>
                  <a:pt x="369975" y="7399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5"/>
          <p:cNvSpPr/>
          <p:nvPr/>
        </p:nvSpPr>
        <p:spPr>
          <a:xfrm flipH="1">
            <a:off x="7956038" y="4750470"/>
            <a:ext cx="1051035" cy="1907051"/>
          </a:xfrm>
          <a:custGeom>
            <a:avLst/>
            <a:gdLst/>
            <a:ahLst/>
            <a:cxnLst/>
            <a:rect l="l" t="t" r="r" b="b"/>
            <a:pathLst>
              <a:path w="1145003" h="2077553" extrusionOk="0">
                <a:moveTo>
                  <a:pt x="1145004" y="2031224"/>
                </a:moveTo>
                <a:cubicBezTo>
                  <a:pt x="835919" y="1722139"/>
                  <a:pt x="629421" y="1338265"/>
                  <a:pt x="542719" y="919974"/>
                </a:cubicBezTo>
                <a:cubicBezTo>
                  <a:pt x="760468" y="882249"/>
                  <a:pt x="926593" y="692297"/>
                  <a:pt x="926593" y="463296"/>
                </a:cubicBezTo>
                <a:cubicBezTo>
                  <a:pt x="926593" y="207160"/>
                  <a:pt x="719433" y="0"/>
                  <a:pt x="463296" y="0"/>
                </a:cubicBezTo>
                <a:cubicBezTo>
                  <a:pt x="207160" y="0"/>
                  <a:pt x="0" y="207160"/>
                  <a:pt x="0" y="463296"/>
                </a:cubicBezTo>
                <a:cubicBezTo>
                  <a:pt x="0" y="719433"/>
                  <a:pt x="207160" y="926593"/>
                  <a:pt x="463296" y="926593"/>
                </a:cubicBezTo>
                <a:cubicBezTo>
                  <a:pt x="467929" y="926593"/>
                  <a:pt x="471900" y="926593"/>
                  <a:pt x="476533" y="925931"/>
                </a:cubicBezTo>
                <a:cubicBezTo>
                  <a:pt x="565221" y="1359444"/>
                  <a:pt x="778338" y="1757879"/>
                  <a:pt x="1098674" y="2077553"/>
                </a:cubicBezTo>
                <a:lnTo>
                  <a:pt x="1145004" y="2031224"/>
                </a:lnTo>
                <a:close/>
              </a:path>
            </a:pathLst>
          </a:custGeom>
          <a:solidFill>
            <a:srgbClr val="00A1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0" name="Google Shape;250;p5"/>
          <p:cNvGrpSpPr/>
          <p:nvPr/>
        </p:nvGrpSpPr>
        <p:grpSpPr>
          <a:xfrm flipH="1">
            <a:off x="8217885" y="4811223"/>
            <a:ext cx="729042" cy="729041"/>
            <a:chOff x="7744787" y="4583913"/>
            <a:chExt cx="794222" cy="794222"/>
          </a:xfrm>
        </p:grpSpPr>
        <p:sp>
          <p:nvSpPr>
            <p:cNvPr id="251" name="Google Shape;251;p5"/>
            <p:cNvSpPr/>
            <p:nvPr/>
          </p:nvSpPr>
          <p:spPr>
            <a:xfrm>
              <a:off x="7744787" y="4583913"/>
              <a:ext cx="794222" cy="794222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8038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7771923" y="4611049"/>
              <a:ext cx="739950" cy="739950"/>
            </a:xfrm>
            <a:custGeom>
              <a:avLst/>
              <a:gdLst/>
              <a:ahLst/>
              <a:cxnLst/>
              <a:rect l="l" t="t" r="r" b="b"/>
              <a:pathLst>
                <a:path w="739950" h="739950" extrusionOk="0">
                  <a:moveTo>
                    <a:pt x="369975" y="739950"/>
                  </a:moveTo>
                  <a:cubicBezTo>
                    <a:pt x="574487" y="739950"/>
                    <a:pt x="739950" y="574487"/>
                    <a:pt x="739950" y="369975"/>
                  </a:cubicBezTo>
                  <a:cubicBezTo>
                    <a:pt x="739950" y="165463"/>
                    <a:pt x="574487" y="0"/>
                    <a:pt x="369975" y="0"/>
                  </a:cubicBezTo>
                  <a:cubicBezTo>
                    <a:pt x="165463" y="0"/>
                    <a:pt x="0" y="165463"/>
                    <a:pt x="0" y="369975"/>
                  </a:cubicBezTo>
                  <a:cubicBezTo>
                    <a:pt x="0" y="574487"/>
                    <a:pt x="166125" y="739950"/>
                    <a:pt x="369975" y="739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3" name="Google Shape;253;p5"/>
          <p:cNvSpPr/>
          <p:nvPr/>
        </p:nvSpPr>
        <p:spPr>
          <a:xfrm flipH="1">
            <a:off x="6516787" y="6210983"/>
            <a:ext cx="1885788" cy="1060755"/>
          </a:xfrm>
          <a:custGeom>
            <a:avLst/>
            <a:gdLst/>
            <a:ahLst/>
            <a:cxnLst/>
            <a:rect l="l" t="t" r="r" b="b"/>
            <a:pathLst>
              <a:path w="2054388" h="1155593" extrusionOk="0">
                <a:moveTo>
                  <a:pt x="2054388" y="1089408"/>
                </a:moveTo>
                <a:cubicBezTo>
                  <a:pt x="1617566" y="1089408"/>
                  <a:pt x="1199276" y="963656"/>
                  <a:pt x="842537" y="729361"/>
                </a:cubicBezTo>
                <a:cubicBezTo>
                  <a:pt x="895486" y="653910"/>
                  <a:pt x="926593" y="562574"/>
                  <a:pt x="926593" y="463296"/>
                </a:cubicBezTo>
                <a:cubicBezTo>
                  <a:pt x="926593" y="207160"/>
                  <a:pt x="719433" y="0"/>
                  <a:pt x="463296" y="0"/>
                </a:cubicBezTo>
                <a:cubicBezTo>
                  <a:pt x="207160" y="0"/>
                  <a:pt x="0" y="207160"/>
                  <a:pt x="0" y="463296"/>
                </a:cubicBezTo>
                <a:cubicBezTo>
                  <a:pt x="0" y="719433"/>
                  <a:pt x="207160" y="926593"/>
                  <a:pt x="463296" y="926593"/>
                </a:cubicBezTo>
                <a:cubicBezTo>
                  <a:pt x="596328" y="926593"/>
                  <a:pt x="716124" y="870335"/>
                  <a:pt x="800179" y="780985"/>
                </a:cubicBezTo>
                <a:cubicBezTo>
                  <a:pt x="1169492" y="1024547"/>
                  <a:pt x="1601681" y="1155593"/>
                  <a:pt x="2054388" y="1155593"/>
                </a:cubicBezTo>
                <a:lnTo>
                  <a:pt x="2054388" y="1089408"/>
                </a:lnTo>
                <a:close/>
              </a:path>
            </a:pathLst>
          </a:custGeom>
          <a:solidFill>
            <a:srgbClr val="F265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4" name="Google Shape;254;p5"/>
          <p:cNvGrpSpPr/>
          <p:nvPr/>
        </p:nvGrpSpPr>
        <p:grpSpPr>
          <a:xfrm flipH="1">
            <a:off x="7612780" y="6271736"/>
            <a:ext cx="729042" cy="729041"/>
            <a:chOff x="8403992" y="6175005"/>
            <a:chExt cx="794222" cy="794222"/>
          </a:xfrm>
        </p:grpSpPr>
        <p:sp>
          <p:nvSpPr>
            <p:cNvPr id="255" name="Google Shape;255;p5"/>
            <p:cNvSpPr/>
            <p:nvPr/>
          </p:nvSpPr>
          <p:spPr>
            <a:xfrm>
              <a:off x="8403992" y="6175005"/>
              <a:ext cx="794222" cy="794222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7376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8431126" y="6202803"/>
              <a:ext cx="739952" cy="739950"/>
            </a:xfrm>
            <a:custGeom>
              <a:avLst/>
              <a:gdLst/>
              <a:ahLst/>
              <a:cxnLst/>
              <a:rect l="l" t="t" r="r" b="b"/>
              <a:pathLst>
                <a:path w="739952" h="739950" extrusionOk="0">
                  <a:moveTo>
                    <a:pt x="369977" y="739950"/>
                  </a:moveTo>
                  <a:cubicBezTo>
                    <a:pt x="574489" y="739950"/>
                    <a:pt x="739952" y="574487"/>
                    <a:pt x="739952" y="369975"/>
                  </a:cubicBezTo>
                  <a:cubicBezTo>
                    <a:pt x="739952" y="165463"/>
                    <a:pt x="574489" y="0"/>
                    <a:pt x="369977" y="0"/>
                  </a:cubicBezTo>
                  <a:cubicBezTo>
                    <a:pt x="165465" y="0"/>
                    <a:pt x="2" y="165463"/>
                    <a:pt x="2" y="369975"/>
                  </a:cubicBezTo>
                  <a:cubicBezTo>
                    <a:pt x="-660" y="573825"/>
                    <a:pt x="165465" y="739950"/>
                    <a:pt x="369977" y="739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7" name="Google Shape;257;p5"/>
          <p:cNvSpPr/>
          <p:nvPr/>
        </p:nvSpPr>
        <p:spPr>
          <a:xfrm flipH="1">
            <a:off x="5035010" y="6614994"/>
            <a:ext cx="1907052" cy="1051642"/>
          </a:xfrm>
          <a:custGeom>
            <a:avLst/>
            <a:gdLst/>
            <a:ahLst/>
            <a:cxnLst/>
            <a:rect l="l" t="t" r="r" b="b"/>
            <a:pathLst>
              <a:path w="2077553" h="1145665" extrusionOk="0">
                <a:moveTo>
                  <a:pt x="2077553" y="46991"/>
                </a:moveTo>
                <a:lnTo>
                  <a:pt x="2030562" y="0"/>
                </a:lnTo>
                <a:cubicBezTo>
                  <a:pt x="1721477" y="309085"/>
                  <a:pt x="1336941" y="515582"/>
                  <a:pt x="919313" y="602285"/>
                </a:cubicBezTo>
                <a:cubicBezTo>
                  <a:pt x="881587" y="384536"/>
                  <a:pt x="691635" y="219073"/>
                  <a:pt x="463296" y="219073"/>
                </a:cubicBezTo>
                <a:cubicBezTo>
                  <a:pt x="207160" y="219073"/>
                  <a:pt x="0" y="426232"/>
                  <a:pt x="0" y="682369"/>
                </a:cubicBezTo>
                <a:cubicBezTo>
                  <a:pt x="0" y="938506"/>
                  <a:pt x="207160" y="1145666"/>
                  <a:pt x="463296" y="1145666"/>
                </a:cubicBezTo>
                <a:cubicBezTo>
                  <a:pt x="719434" y="1145666"/>
                  <a:pt x="926593" y="938506"/>
                  <a:pt x="926593" y="682369"/>
                </a:cubicBezTo>
                <a:cubicBezTo>
                  <a:pt x="926593" y="677736"/>
                  <a:pt x="926593" y="673104"/>
                  <a:pt x="925931" y="668470"/>
                </a:cubicBezTo>
                <a:cubicBezTo>
                  <a:pt x="1359444" y="579782"/>
                  <a:pt x="1757879" y="366666"/>
                  <a:pt x="2077553" y="46991"/>
                </a:cubicBezTo>
                <a:close/>
              </a:path>
            </a:pathLst>
          </a:custGeom>
          <a:solidFill>
            <a:srgbClr val="A97C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58" name="Google Shape;258;p5"/>
          <p:cNvGrpSpPr/>
          <p:nvPr/>
        </p:nvGrpSpPr>
        <p:grpSpPr>
          <a:xfrm>
            <a:off x="6152266" y="6876841"/>
            <a:ext cx="729042" cy="729041"/>
            <a:chOff x="6152266" y="6876841"/>
            <a:chExt cx="729042" cy="729041"/>
          </a:xfrm>
        </p:grpSpPr>
        <p:sp>
          <p:nvSpPr>
            <p:cNvPr id="259" name="Google Shape;259;p5"/>
            <p:cNvSpPr/>
            <p:nvPr/>
          </p:nvSpPr>
          <p:spPr>
            <a:xfrm flipH="1">
              <a:off x="6152266" y="6876841"/>
              <a:ext cx="729042" cy="729041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7377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0" name="Google Shape;260;p5"/>
            <p:cNvSpPr/>
            <p:nvPr/>
          </p:nvSpPr>
          <p:spPr>
            <a:xfrm flipH="1">
              <a:off x="6177176" y="6901750"/>
              <a:ext cx="679224" cy="679223"/>
            </a:xfrm>
            <a:custGeom>
              <a:avLst/>
              <a:gdLst/>
              <a:ahLst/>
              <a:cxnLst/>
              <a:rect l="l" t="t" r="r" b="b"/>
              <a:pathLst>
                <a:path w="739950" h="739950" extrusionOk="0">
                  <a:moveTo>
                    <a:pt x="369975" y="739950"/>
                  </a:moveTo>
                  <a:cubicBezTo>
                    <a:pt x="574488" y="739950"/>
                    <a:pt x="739951" y="574487"/>
                    <a:pt x="739951" y="369975"/>
                  </a:cubicBezTo>
                  <a:cubicBezTo>
                    <a:pt x="739951" y="165463"/>
                    <a:pt x="574488" y="0"/>
                    <a:pt x="369975" y="0"/>
                  </a:cubicBezTo>
                  <a:cubicBezTo>
                    <a:pt x="165463" y="0"/>
                    <a:pt x="0" y="165463"/>
                    <a:pt x="0" y="369975"/>
                  </a:cubicBezTo>
                  <a:cubicBezTo>
                    <a:pt x="0" y="574487"/>
                    <a:pt x="165463" y="739950"/>
                    <a:pt x="369975" y="739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1" name="Google Shape;261;p5"/>
          <p:cNvSpPr/>
          <p:nvPr/>
        </p:nvSpPr>
        <p:spPr>
          <a:xfrm flipH="1">
            <a:off x="4420792" y="5175744"/>
            <a:ext cx="1060755" cy="1885787"/>
          </a:xfrm>
          <a:custGeom>
            <a:avLst/>
            <a:gdLst/>
            <a:ahLst/>
            <a:cxnLst/>
            <a:rect l="l" t="t" r="r" b="b"/>
            <a:pathLst>
              <a:path w="1155593" h="2054388" extrusionOk="0">
                <a:moveTo>
                  <a:pt x="780985" y="1254209"/>
                </a:moveTo>
                <a:cubicBezTo>
                  <a:pt x="1024547" y="884896"/>
                  <a:pt x="1155593" y="452707"/>
                  <a:pt x="1155593" y="0"/>
                </a:cubicBezTo>
                <a:lnTo>
                  <a:pt x="1089408" y="0"/>
                </a:lnTo>
                <a:cubicBezTo>
                  <a:pt x="1089408" y="436822"/>
                  <a:pt x="963656" y="855113"/>
                  <a:pt x="729361" y="1211851"/>
                </a:cubicBezTo>
                <a:cubicBezTo>
                  <a:pt x="653910" y="1158903"/>
                  <a:pt x="562574" y="1127796"/>
                  <a:pt x="463296" y="1127796"/>
                </a:cubicBezTo>
                <a:cubicBezTo>
                  <a:pt x="207160" y="1127796"/>
                  <a:pt x="0" y="1334955"/>
                  <a:pt x="0" y="1591092"/>
                </a:cubicBezTo>
                <a:cubicBezTo>
                  <a:pt x="0" y="1847229"/>
                  <a:pt x="207160" y="2054389"/>
                  <a:pt x="463296" y="2054389"/>
                </a:cubicBezTo>
                <a:cubicBezTo>
                  <a:pt x="719433" y="2054389"/>
                  <a:pt x="926593" y="1847229"/>
                  <a:pt x="926593" y="1591092"/>
                </a:cubicBezTo>
                <a:cubicBezTo>
                  <a:pt x="926593" y="1458722"/>
                  <a:pt x="870335" y="1338926"/>
                  <a:pt x="780985" y="1254209"/>
                </a:cubicBezTo>
                <a:close/>
              </a:path>
            </a:pathLst>
          </a:custGeom>
          <a:solidFill>
            <a:srgbClr val="1C49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2" name="Google Shape;262;p5"/>
          <p:cNvGrpSpPr/>
          <p:nvPr/>
        </p:nvGrpSpPr>
        <p:grpSpPr>
          <a:xfrm>
            <a:off x="4691752" y="6271737"/>
            <a:ext cx="729041" cy="729041"/>
            <a:chOff x="4691752" y="6271737"/>
            <a:chExt cx="729041" cy="729041"/>
          </a:xfrm>
        </p:grpSpPr>
        <p:sp>
          <p:nvSpPr>
            <p:cNvPr id="263" name="Google Shape;263;p5"/>
            <p:cNvSpPr/>
            <p:nvPr/>
          </p:nvSpPr>
          <p:spPr>
            <a:xfrm flipH="1">
              <a:off x="4691752" y="6271737"/>
              <a:ext cx="729041" cy="729041"/>
            </a:xfrm>
            <a:custGeom>
              <a:avLst/>
              <a:gdLst/>
              <a:ahLst/>
              <a:cxnLst/>
              <a:rect l="l" t="t" r="r" b="b"/>
              <a:pathLst>
                <a:path w="794222" h="794222" extrusionOk="0">
                  <a:moveTo>
                    <a:pt x="397111" y="794222"/>
                  </a:moveTo>
                  <a:cubicBezTo>
                    <a:pt x="616184" y="794222"/>
                    <a:pt x="794222" y="616184"/>
                    <a:pt x="794222" y="397111"/>
                  </a:cubicBezTo>
                  <a:cubicBezTo>
                    <a:pt x="794222" y="178038"/>
                    <a:pt x="616184" y="0"/>
                    <a:pt x="397111" y="0"/>
                  </a:cubicBezTo>
                  <a:cubicBezTo>
                    <a:pt x="178038" y="0"/>
                    <a:pt x="0" y="178038"/>
                    <a:pt x="0" y="397111"/>
                  </a:cubicBezTo>
                  <a:cubicBezTo>
                    <a:pt x="0" y="616846"/>
                    <a:pt x="177377" y="794222"/>
                    <a:pt x="397111" y="7942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5"/>
            <p:cNvSpPr/>
            <p:nvPr/>
          </p:nvSpPr>
          <p:spPr>
            <a:xfrm flipH="1">
              <a:off x="4716661" y="6297254"/>
              <a:ext cx="679223" cy="679223"/>
            </a:xfrm>
            <a:custGeom>
              <a:avLst/>
              <a:gdLst/>
              <a:ahLst/>
              <a:cxnLst/>
              <a:rect l="l" t="t" r="r" b="b"/>
              <a:pathLst>
                <a:path w="739950" h="739950" extrusionOk="0">
                  <a:moveTo>
                    <a:pt x="369975" y="739950"/>
                  </a:moveTo>
                  <a:cubicBezTo>
                    <a:pt x="574488" y="739950"/>
                    <a:pt x="739951" y="574487"/>
                    <a:pt x="739951" y="369975"/>
                  </a:cubicBezTo>
                  <a:cubicBezTo>
                    <a:pt x="739951" y="165463"/>
                    <a:pt x="574488" y="0"/>
                    <a:pt x="369975" y="0"/>
                  </a:cubicBezTo>
                  <a:cubicBezTo>
                    <a:pt x="165463" y="0"/>
                    <a:pt x="0" y="165463"/>
                    <a:pt x="0" y="369975"/>
                  </a:cubicBezTo>
                  <a:cubicBezTo>
                    <a:pt x="0" y="573825"/>
                    <a:pt x="165463" y="739950"/>
                    <a:pt x="369975" y="7399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5" name="Google Shape;265;p5"/>
          <p:cNvSpPr/>
          <p:nvPr/>
        </p:nvSpPr>
        <p:spPr>
          <a:xfrm flipH="1">
            <a:off x="4025287" y="4752293"/>
            <a:ext cx="850548" cy="850548"/>
          </a:xfrm>
          <a:custGeom>
            <a:avLst/>
            <a:gdLst/>
            <a:ahLst/>
            <a:cxnLst/>
            <a:rect l="l" t="t" r="r" b="b"/>
            <a:pathLst>
              <a:path w="926592" h="926592" extrusionOk="0">
                <a:moveTo>
                  <a:pt x="926592" y="463296"/>
                </a:moveTo>
                <a:cubicBezTo>
                  <a:pt x="926592" y="719168"/>
                  <a:pt x="719167" y="926593"/>
                  <a:pt x="463296" y="926593"/>
                </a:cubicBezTo>
                <a:cubicBezTo>
                  <a:pt x="207425" y="926593"/>
                  <a:pt x="0" y="719168"/>
                  <a:pt x="0" y="463296"/>
                </a:cubicBezTo>
                <a:cubicBezTo>
                  <a:pt x="0" y="207425"/>
                  <a:pt x="207425" y="0"/>
                  <a:pt x="463296" y="0"/>
                </a:cubicBezTo>
                <a:cubicBezTo>
                  <a:pt x="719167" y="0"/>
                  <a:pt x="926592" y="207425"/>
                  <a:pt x="926592" y="463296"/>
                </a:cubicBezTo>
                <a:close/>
              </a:path>
            </a:pathLst>
          </a:custGeom>
          <a:solidFill>
            <a:srgbClr val="ED1C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5"/>
          <p:cNvSpPr/>
          <p:nvPr/>
        </p:nvSpPr>
        <p:spPr>
          <a:xfrm flipH="1">
            <a:off x="4086040" y="4813046"/>
            <a:ext cx="729041" cy="729041"/>
          </a:xfrm>
          <a:custGeom>
            <a:avLst/>
            <a:gdLst/>
            <a:ahLst/>
            <a:cxnLst/>
            <a:rect l="l" t="t" r="r" b="b"/>
            <a:pathLst>
              <a:path w="794222" h="794222" extrusionOk="0">
                <a:moveTo>
                  <a:pt x="397111" y="794222"/>
                </a:moveTo>
                <a:cubicBezTo>
                  <a:pt x="616185" y="794222"/>
                  <a:pt x="794222" y="616184"/>
                  <a:pt x="794222" y="397111"/>
                </a:cubicBezTo>
                <a:cubicBezTo>
                  <a:pt x="794222" y="178038"/>
                  <a:pt x="616185" y="0"/>
                  <a:pt x="397111" y="0"/>
                </a:cubicBezTo>
                <a:cubicBezTo>
                  <a:pt x="178038" y="0"/>
                  <a:pt x="0" y="178038"/>
                  <a:pt x="0" y="397111"/>
                </a:cubicBezTo>
                <a:cubicBezTo>
                  <a:pt x="0" y="616184"/>
                  <a:pt x="178038" y="794222"/>
                  <a:pt x="397111" y="7942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2970069" y="6701112"/>
            <a:ext cx="157496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cleaning</a:t>
            </a:r>
            <a:endParaRPr dirty="0"/>
          </a:p>
        </p:txBody>
      </p:sp>
      <p:pic>
        <p:nvPicPr>
          <p:cNvPr id="268" name="Google Shape;268;p5" descr="Databa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942" y="4973367"/>
            <a:ext cx="509236" cy="42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1851" y="6425713"/>
            <a:ext cx="509236" cy="421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7808" y="7035512"/>
            <a:ext cx="425507" cy="425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5" descr="A black and white image of a computer screen with gear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8759" y="6410692"/>
            <a:ext cx="494035" cy="451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9337" y="4935979"/>
            <a:ext cx="450000" cy="4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70808" y="3521797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25493" y="2863749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" descr="A black background with a black square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917122" y="3521553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" descr="A computer graphics with a chip and a flower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497642" y="4959742"/>
            <a:ext cx="4320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Data Acquisition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 data acquisition involves the systematic collection of textual information from various sources.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 data can be acquired using the following ways: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10000" y="816324"/>
            <a:ext cx="543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88" name="Google Shape;288;p7"/>
          <p:cNvGrpSpPr/>
          <p:nvPr/>
        </p:nvGrpSpPr>
        <p:grpSpPr>
          <a:xfrm>
            <a:off x="2436445" y="3012320"/>
            <a:ext cx="11383110" cy="4706906"/>
            <a:chOff x="2104290" y="2652107"/>
            <a:chExt cx="12125610" cy="5067119"/>
          </a:xfrm>
        </p:grpSpPr>
        <p:grpSp>
          <p:nvGrpSpPr>
            <p:cNvPr id="289" name="Google Shape;289;p7"/>
            <p:cNvGrpSpPr/>
            <p:nvPr/>
          </p:nvGrpSpPr>
          <p:grpSpPr>
            <a:xfrm>
              <a:off x="5802086" y="3148014"/>
              <a:ext cx="4827814" cy="4483153"/>
              <a:chOff x="5477383" y="3060222"/>
              <a:chExt cx="4500055" cy="4288961"/>
            </a:xfrm>
          </p:grpSpPr>
          <p:sp>
            <p:nvSpPr>
              <p:cNvPr id="290" name="Google Shape;290;p7"/>
              <p:cNvSpPr/>
              <p:nvPr/>
            </p:nvSpPr>
            <p:spPr>
              <a:xfrm>
                <a:off x="6312145" y="3060222"/>
                <a:ext cx="2283609" cy="1669529"/>
              </a:xfrm>
              <a:custGeom>
                <a:avLst/>
                <a:gdLst/>
                <a:ahLst/>
                <a:cxnLst/>
                <a:rect l="l" t="t" r="r" b="b"/>
                <a:pathLst>
                  <a:path w="369" h="270" extrusionOk="0">
                    <a:moveTo>
                      <a:pt x="285" y="215"/>
                    </a:moveTo>
                    <a:lnTo>
                      <a:pt x="228" y="173"/>
                    </a:lnTo>
                    <a:lnTo>
                      <a:pt x="95" y="270"/>
                    </a:lnTo>
                    <a:lnTo>
                      <a:pt x="95" y="270"/>
                    </a:lnTo>
                    <a:lnTo>
                      <a:pt x="92" y="182"/>
                    </a:lnTo>
                    <a:lnTo>
                      <a:pt x="92" y="176"/>
                    </a:lnTo>
                    <a:lnTo>
                      <a:pt x="86" y="175"/>
                    </a:lnTo>
                    <a:lnTo>
                      <a:pt x="0" y="160"/>
                    </a:lnTo>
                    <a:lnTo>
                      <a:pt x="0" y="160"/>
                    </a:lnTo>
                    <a:lnTo>
                      <a:pt x="44" y="128"/>
                    </a:lnTo>
                    <a:lnTo>
                      <a:pt x="210" y="8"/>
                    </a:lnTo>
                    <a:cubicBezTo>
                      <a:pt x="221" y="0"/>
                      <a:pt x="235" y="0"/>
                      <a:pt x="246" y="8"/>
                    </a:cubicBezTo>
                    <a:lnTo>
                      <a:pt x="353" y="86"/>
                    </a:lnTo>
                    <a:lnTo>
                      <a:pt x="369" y="182"/>
                    </a:lnTo>
                    <a:lnTo>
                      <a:pt x="285" y="215"/>
                    </a:lnTo>
                  </a:path>
                </a:pathLst>
              </a:custGeom>
              <a:solidFill>
                <a:srgbClr val="D9E6F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5477383" y="4134863"/>
                <a:ext cx="1352897" cy="2158878"/>
              </a:xfrm>
              <a:custGeom>
                <a:avLst/>
                <a:gdLst/>
                <a:ahLst/>
                <a:cxnLst/>
                <a:rect l="l" t="t" r="r" b="b"/>
                <a:pathLst>
                  <a:path w="219" h="350" extrusionOk="0">
                    <a:moveTo>
                      <a:pt x="81" y="350"/>
                    </a:moveTo>
                    <a:lnTo>
                      <a:pt x="67" y="305"/>
                    </a:lnTo>
                    <a:lnTo>
                      <a:pt x="4" y="110"/>
                    </a:lnTo>
                    <a:cubicBezTo>
                      <a:pt x="0" y="97"/>
                      <a:pt x="4" y="84"/>
                      <a:pt x="15" y="76"/>
                    </a:cubicBezTo>
                    <a:lnTo>
                      <a:pt x="119" y="0"/>
                    </a:lnTo>
                    <a:lnTo>
                      <a:pt x="213" y="16"/>
                    </a:lnTo>
                    <a:lnTo>
                      <a:pt x="216" y="107"/>
                    </a:lnTo>
                    <a:lnTo>
                      <a:pt x="166" y="144"/>
                    </a:lnTo>
                    <a:lnTo>
                      <a:pt x="219" y="306"/>
                    </a:lnTo>
                    <a:lnTo>
                      <a:pt x="219" y="306"/>
                    </a:lnTo>
                    <a:lnTo>
                      <a:pt x="138" y="275"/>
                    </a:lnTo>
                    <a:lnTo>
                      <a:pt x="132" y="272"/>
                    </a:lnTo>
                    <a:lnTo>
                      <a:pt x="129" y="277"/>
                    </a:lnTo>
                    <a:lnTo>
                      <a:pt x="81" y="350"/>
                    </a:lnTo>
                  </a:path>
                </a:pathLst>
              </a:custGeom>
              <a:solidFill>
                <a:srgbClr val="B2CEB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6014702" y="5929124"/>
                <a:ext cx="1976570" cy="1420059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30" extrusionOk="0">
                    <a:moveTo>
                      <a:pt x="320" y="230"/>
                    </a:moveTo>
                    <a:lnTo>
                      <a:pt x="72" y="230"/>
                    </a:lnTo>
                    <a:cubicBezTo>
                      <a:pt x="59" y="230"/>
                      <a:pt x="47" y="221"/>
                      <a:pt x="43" y="208"/>
                    </a:cubicBezTo>
                    <a:lnTo>
                      <a:pt x="0" y="77"/>
                    </a:lnTo>
                    <a:lnTo>
                      <a:pt x="51" y="0"/>
                    </a:lnTo>
                    <a:lnTo>
                      <a:pt x="138" y="34"/>
                    </a:lnTo>
                    <a:lnTo>
                      <a:pt x="155" y="85"/>
                    </a:lnTo>
                    <a:lnTo>
                      <a:pt x="320" y="85"/>
                    </a:lnTo>
                    <a:lnTo>
                      <a:pt x="320" y="85"/>
                    </a:lnTo>
                    <a:lnTo>
                      <a:pt x="265" y="150"/>
                    </a:lnTo>
                    <a:lnTo>
                      <a:pt x="261" y="154"/>
                    </a:lnTo>
                    <a:lnTo>
                      <a:pt x="265" y="159"/>
                    </a:lnTo>
                    <a:lnTo>
                      <a:pt x="320" y="230"/>
                    </a:lnTo>
                  </a:path>
                </a:pathLst>
              </a:custGeom>
              <a:solidFill>
                <a:srgbClr val="F4B081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7751393" y="5545324"/>
                <a:ext cx="1871027" cy="1803859"/>
              </a:xfrm>
              <a:custGeom>
                <a:avLst/>
                <a:gdLst/>
                <a:ahLst/>
                <a:cxnLst/>
                <a:rect l="l" t="t" r="r" b="b"/>
                <a:pathLst>
                  <a:path w="303" h="292" extrusionOk="0">
                    <a:moveTo>
                      <a:pt x="303" y="43"/>
                    </a:moveTo>
                    <a:lnTo>
                      <a:pt x="303" y="43"/>
                    </a:lnTo>
                    <a:lnTo>
                      <a:pt x="293" y="76"/>
                    </a:lnTo>
                    <a:lnTo>
                      <a:pt x="230" y="270"/>
                    </a:lnTo>
                    <a:cubicBezTo>
                      <a:pt x="226" y="283"/>
                      <a:pt x="214" y="292"/>
                      <a:pt x="201" y="292"/>
                    </a:cubicBezTo>
                    <a:lnTo>
                      <a:pt x="58" y="292"/>
                    </a:lnTo>
                    <a:lnTo>
                      <a:pt x="0" y="217"/>
                    </a:lnTo>
                    <a:lnTo>
                      <a:pt x="58" y="147"/>
                    </a:lnTo>
                    <a:lnTo>
                      <a:pt x="118" y="147"/>
                    </a:lnTo>
                    <a:lnTo>
                      <a:pt x="166" y="0"/>
                    </a:lnTo>
                    <a:lnTo>
                      <a:pt x="213" y="72"/>
                    </a:lnTo>
                    <a:lnTo>
                      <a:pt x="217" y="77"/>
                    </a:lnTo>
                    <a:lnTo>
                      <a:pt x="222" y="75"/>
                    </a:lnTo>
                    <a:lnTo>
                      <a:pt x="303" y="43"/>
                    </a:lnTo>
                  </a:path>
                </a:pathLst>
              </a:custGeom>
              <a:solidFill>
                <a:srgbClr val="FFDA9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8163981" y="3674302"/>
                <a:ext cx="1813457" cy="2235638"/>
              </a:xfrm>
              <a:custGeom>
                <a:avLst/>
                <a:gdLst/>
                <a:ahLst/>
                <a:cxnLst/>
                <a:rect l="l" t="t" r="r" b="b"/>
                <a:pathLst>
                  <a:path w="292" h="362" extrusionOk="0">
                    <a:moveTo>
                      <a:pt x="71" y="0"/>
                    </a:moveTo>
                    <a:lnTo>
                      <a:pt x="111" y="29"/>
                    </a:lnTo>
                    <a:lnTo>
                      <a:pt x="277" y="150"/>
                    </a:lnTo>
                    <a:cubicBezTo>
                      <a:pt x="288" y="158"/>
                      <a:pt x="292" y="171"/>
                      <a:pt x="288" y="184"/>
                    </a:cubicBezTo>
                    <a:lnTo>
                      <a:pt x="241" y="328"/>
                    </a:lnTo>
                    <a:lnTo>
                      <a:pt x="155" y="362"/>
                    </a:lnTo>
                    <a:lnTo>
                      <a:pt x="104" y="285"/>
                    </a:lnTo>
                    <a:lnTo>
                      <a:pt x="125" y="218"/>
                    </a:lnTo>
                    <a:lnTo>
                      <a:pt x="0" y="126"/>
                    </a:lnTo>
                    <a:lnTo>
                      <a:pt x="0" y="126"/>
                    </a:lnTo>
                    <a:lnTo>
                      <a:pt x="80" y="95"/>
                    </a:lnTo>
                    <a:lnTo>
                      <a:pt x="86" y="93"/>
                    </a:lnTo>
                    <a:lnTo>
                      <a:pt x="85" y="87"/>
                    </a:lnTo>
                    <a:lnTo>
                      <a:pt x="71" y="0"/>
                    </a:lnTo>
                    <a:lnTo>
                      <a:pt x="71" y="0"/>
                    </a:lnTo>
                  </a:path>
                </a:pathLst>
              </a:custGeom>
              <a:solidFill>
                <a:srgbClr val="00C6E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ctr" rtl="0">
                  <a:lnSpc>
                    <a:spcPct val="114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Open Sans"/>
                  <a:buNone/>
                </a:pPr>
                <a:endParaRPr sz="2200" b="0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95" name="Google Shape;295;p7"/>
            <p:cNvSpPr txBox="1"/>
            <p:nvPr/>
          </p:nvSpPr>
          <p:spPr>
            <a:xfrm>
              <a:off x="2104290" y="4359639"/>
              <a:ext cx="3599999" cy="1320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Application programming interfaces (APIs)</a:t>
              </a:r>
              <a:endParaRPr dirty="0"/>
            </a:p>
          </p:txBody>
        </p:sp>
        <p:sp>
          <p:nvSpPr>
            <p:cNvPr id="296" name="Google Shape;296;p7"/>
            <p:cNvSpPr txBox="1"/>
            <p:nvPr/>
          </p:nvSpPr>
          <p:spPr>
            <a:xfrm>
              <a:off x="9327646" y="7264550"/>
              <a:ext cx="3599999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Image to text</a:t>
              </a:r>
              <a:endParaRPr/>
            </a:p>
          </p:txBody>
        </p:sp>
        <p:sp>
          <p:nvSpPr>
            <p:cNvPr id="297" name="Google Shape;297;p7"/>
            <p:cNvSpPr txBox="1"/>
            <p:nvPr/>
          </p:nvSpPr>
          <p:spPr>
            <a:xfrm>
              <a:off x="3513359" y="7264550"/>
              <a:ext cx="3599999" cy="454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PDF to text</a:t>
              </a:r>
              <a:endParaRPr/>
            </a:p>
          </p:txBody>
        </p:sp>
        <p:sp>
          <p:nvSpPr>
            <p:cNvPr id="298" name="Google Shape;298;p7"/>
            <p:cNvSpPr txBox="1"/>
            <p:nvPr/>
          </p:nvSpPr>
          <p:spPr>
            <a:xfrm>
              <a:off x="10629900" y="4614317"/>
              <a:ext cx="36000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augmentation</a:t>
              </a:r>
              <a:endParaRPr/>
            </a:p>
          </p:txBody>
        </p:sp>
        <p:sp>
          <p:nvSpPr>
            <p:cNvPr id="299" name="Google Shape;299;p7"/>
            <p:cNvSpPr txBox="1"/>
            <p:nvPr/>
          </p:nvSpPr>
          <p:spPr>
            <a:xfrm>
              <a:off x="6401734" y="2652107"/>
              <a:ext cx="3599999" cy="5148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Web scrapping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7193433" y="4495268"/>
              <a:ext cx="2016603" cy="2031285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lt1"/>
            </a:solidFill>
            <a:ln w="28575" cap="flat" cmpd="sng">
              <a:solidFill>
                <a:srgbClr val="2F5496"/>
              </a:solidFill>
              <a:prstDash val="solid"/>
              <a:miter lim="800000"/>
              <a:headEnd type="none" w="sm" len="sm"/>
              <a:tailEnd type="none" w="sm" len="sm"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1" name="Google Shape;301;p7"/>
            <p:cNvSpPr txBox="1"/>
            <p:nvPr/>
          </p:nvSpPr>
          <p:spPr>
            <a:xfrm>
              <a:off x="7281751" y="5178762"/>
              <a:ext cx="1877133" cy="828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Text data acquisition</a:t>
              </a:r>
              <a:endParaRPr/>
            </a:p>
          </p:txBody>
        </p:sp>
      </p:grpSp>
      <p:sp>
        <p:nvSpPr>
          <p:cNvPr id="302" name="Google Shape;302;p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NLP Pipeline: Data Acquisition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Web scraping involves extracting text data from websites. In python, web scraping is facilitated through libraries like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BeautifulSoup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, Scrapy, etc.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384800" y="816324"/>
            <a:ext cx="549084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7303685" y="7329418"/>
            <a:ext cx="110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1" i="1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Note</a:t>
            </a:r>
            <a:endParaRPr sz="2200" b="1" i="1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343550" y="7014467"/>
            <a:ext cx="11905850" cy="102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58AF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8"/>
          <p:cNvGrpSpPr/>
          <p:nvPr/>
        </p:nvGrpSpPr>
        <p:grpSpPr>
          <a:xfrm>
            <a:off x="2655369" y="6727392"/>
            <a:ext cx="573875" cy="573875"/>
            <a:chOff x="2432750" y="3001150"/>
            <a:chExt cx="748500" cy="748500"/>
          </a:xfrm>
        </p:grpSpPr>
        <p:sp>
          <p:nvSpPr>
            <p:cNvPr id="312" name="Google Shape;312;p8"/>
            <p:cNvSpPr/>
            <p:nvPr/>
          </p:nvSpPr>
          <p:spPr>
            <a:xfrm>
              <a:off x="2432750" y="3001150"/>
              <a:ext cx="748500" cy="748500"/>
            </a:xfrm>
            <a:prstGeom prst="ellipse">
              <a:avLst/>
            </a:prstGeom>
            <a:solidFill>
              <a:srgbClr val="44AA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09797" y="3094375"/>
              <a:ext cx="394400" cy="56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4" name="Google Shape;314;p8"/>
          <p:cNvSpPr txBox="1"/>
          <p:nvPr/>
        </p:nvSpPr>
        <p:spPr>
          <a:xfrm>
            <a:off x="2993100" y="7301267"/>
            <a:ext cx="109176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 mindful of ethical considerations and ensure compliance with legal regulations.</a:t>
            </a:r>
            <a:endParaRPr/>
          </a:p>
        </p:txBody>
      </p:sp>
      <p:sp>
        <p:nvSpPr>
          <p:cNvPr id="316" name="Google Shape;316;p8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Data Acquisition: Web Scraping</a:t>
            </a:r>
            <a:endParaRPr/>
          </a:p>
        </p:txBody>
      </p:sp>
      <p:pic>
        <p:nvPicPr>
          <p:cNvPr id="3" name="Picture 2" descr="A cartoon character looking at a magnifying glass&#10;&#10;Description automatically generated">
            <a:extLst>
              <a:ext uri="{FF2B5EF4-FFF2-40B4-BE49-F238E27FC236}">
                <a16:creationId xmlns:a16="http://schemas.microsoft.com/office/drawing/2014/main" id="{B3EFF803-B1C4-6E13-C17C-97A77B3FA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588" y="3510556"/>
            <a:ext cx="8733536" cy="232655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583AF4B-A0D6-BDB3-E60F-3F8C5CE48E58}"/>
              </a:ext>
            </a:extLst>
          </p:cNvPr>
          <p:cNvSpPr/>
          <p:nvPr/>
        </p:nvSpPr>
        <p:spPr>
          <a:xfrm>
            <a:off x="6059424" y="4673834"/>
            <a:ext cx="646176" cy="40651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0CA362C-BBF1-A3BE-D764-8D88E593449B}"/>
              </a:ext>
            </a:extLst>
          </p:cNvPr>
          <p:cNvSpPr/>
          <p:nvPr/>
        </p:nvSpPr>
        <p:spPr>
          <a:xfrm>
            <a:off x="9906000" y="4638226"/>
            <a:ext cx="646176" cy="40651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Google Shape;307;p8">
            <a:extLst>
              <a:ext uri="{FF2B5EF4-FFF2-40B4-BE49-F238E27FC236}">
                <a16:creationId xmlns:a16="http://schemas.microsoft.com/office/drawing/2014/main" id="{DE1F3E33-36DC-D7F6-E9A4-B09493EFCC16}"/>
              </a:ext>
            </a:extLst>
          </p:cNvPr>
          <p:cNvSpPr txBox="1">
            <a:spLocks/>
          </p:cNvSpPr>
          <p:nvPr/>
        </p:nvSpPr>
        <p:spPr>
          <a:xfrm>
            <a:off x="3541063" y="5895092"/>
            <a:ext cx="2611961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1000"/>
              </a:spcBef>
            </a:pPr>
            <a:r>
              <a:rPr lang="en-US" dirty="0"/>
              <a:t>HTML WEBSITES</a:t>
            </a:r>
          </a:p>
        </p:txBody>
      </p:sp>
      <p:sp>
        <p:nvSpPr>
          <p:cNvPr id="7" name="Google Shape;307;p8">
            <a:extLst>
              <a:ext uri="{FF2B5EF4-FFF2-40B4-BE49-F238E27FC236}">
                <a16:creationId xmlns:a16="http://schemas.microsoft.com/office/drawing/2014/main" id="{622C89D5-5A43-A4BE-5B95-04DAF3A57148}"/>
              </a:ext>
            </a:extLst>
          </p:cNvPr>
          <p:cNvSpPr txBox="1">
            <a:spLocks/>
          </p:cNvSpPr>
          <p:nvPr/>
        </p:nvSpPr>
        <p:spPr>
          <a:xfrm>
            <a:off x="7303685" y="5895128"/>
            <a:ext cx="2611961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1000"/>
              </a:spcBef>
            </a:pPr>
            <a:r>
              <a:rPr lang="en-US" dirty="0"/>
              <a:t>WEB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SCRAPING</a:t>
            </a:r>
          </a:p>
        </p:txBody>
      </p:sp>
      <p:sp>
        <p:nvSpPr>
          <p:cNvPr id="8" name="Google Shape;307;p8">
            <a:extLst>
              <a:ext uri="{FF2B5EF4-FFF2-40B4-BE49-F238E27FC236}">
                <a16:creationId xmlns:a16="http://schemas.microsoft.com/office/drawing/2014/main" id="{EC399613-4B92-20BE-FBFE-720568E6AC19}"/>
              </a:ext>
            </a:extLst>
          </p:cNvPr>
          <p:cNvSpPr txBox="1">
            <a:spLocks/>
          </p:cNvSpPr>
          <p:nvPr/>
        </p:nvSpPr>
        <p:spPr>
          <a:xfrm>
            <a:off x="10648950" y="5900572"/>
            <a:ext cx="2611961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10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Acquisition: Application Programming Interfaces (APIs)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7677150" y="3277017"/>
            <a:ext cx="7143750" cy="396200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06B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9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Application programming interfaces (APIs) play a crucial role in text data acquisition, providing structured access to information from various sources. </a:t>
            </a:r>
            <a:endParaRPr/>
          </a:p>
        </p:txBody>
      </p:sp>
      <p:pic>
        <p:nvPicPr>
          <p:cNvPr id="324" name="Google Shape;324;p9" descr="A person standing next to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5833" y="3214172"/>
            <a:ext cx="5150604" cy="396200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8673666" y="5583016"/>
            <a:ext cx="5780300" cy="122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Online services like </a:t>
            </a: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Twitter and Google Maps 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offer such APIs for retrieval textual information from these platforms.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8673666" y="3927013"/>
            <a:ext cx="5630163" cy="1226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APIs enable developers to programmatically retrieve textual information from various sources. 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780170" y="816324"/>
            <a:ext cx="1070010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8" name="Google Shape;32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99" y="5640687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00" y="4042355"/>
            <a:ext cx="346217" cy="3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Acquisition: Image to Text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2368550" y="6934200"/>
            <a:ext cx="12033250" cy="9037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28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10"/>
          <p:cNvSpPr txBox="1">
            <a:spLocks noGrp="1"/>
          </p:cNvSpPr>
          <p:nvPr>
            <p:ph type="body" idx="2"/>
          </p:nvPr>
        </p:nvSpPr>
        <p:spPr>
          <a:xfrm>
            <a:off x="2525549" y="1646945"/>
            <a:ext cx="11214964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b="0" i="0" dirty="0">
                <a:latin typeface="Open Sans"/>
                <a:ea typeface="Open Sans"/>
                <a:cs typeface="Open Sans"/>
                <a:sym typeface="Open Sans"/>
              </a:rPr>
              <a:t>Computer vision and </a:t>
            </a:r>
            <a:r>
              <a:rPr lang="en-US" sz="2200" b="0" i="0" dirty="0">
                <a:latin typeface="Open Sans"/>
                <a:ea typeface="Open Sans"/>
                <a:cs typeface="Open Sans"/>
                <a:sym typeface="Open Sans"/>
              </a:rPr>
              <a:t>optical character recognition (OCR) are used to extract text content present in images. 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2536825" y="7158750"/>
            <a:ext cx="11696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Tesseract library of python utilizes OCR technology to convert images into textual data.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384800" y="816324"/>
            <a:ext cx="549084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39" name="Google Shape;339;p10"/>
          <p:cNvGrpSpPr/>
          <p:nvPr/>
        </p:nvGrpSpPr>
        <p:grpSpPr>
          <a:xfrm>
            <a:off x="4632925" y="2741032"/>
            <a:ext cx="1080000" cy="3090803"/>
            <a:chOff x="4642661" y="3471804"/>
            <a:chExt cx="1080000" cy="3090803"/>
          </a:xfrm>
        </p:grpSpPr>
        <p:pic>
          <p:nvPicPr>
            <p:cNvPr id="340" name="Google Shape;340;p10" descr="Printer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25461" y="3471804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0" descr="Images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25461" y="5648207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10" descr="Pdf - Free files and folders icon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42661" y="4477205"/>
              <a:ext cx="1080000" cy="108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10"/>
          <p:cNvSpPr/>
          <p:nvPr/>
        </p:nvSpPr>
        <p:spPr>
          <a:xfrm>
            <a:off x="5913082" y="3003617"/>
            <a:ext cx="415637" cy="256563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4" name="Google Shape;344;p10"/>
          <p:cNvGrpSpPr/>
          <p:nvPr/>
        </p:nvGrpSpPr>
        <p:grpSpPr>
          <a:xfrm>
            <a:off x="10487899" y="3229781"/>
            <a:ext cx="1496787" cy="1980000"/>
            <a:chOff x="10589406" y="4180695"/>
            <a:chExt cx="1496787" cy="1980000"/>
          </a:xfrm>
        </p:grpSpPr>
        <p:sp>
          <p:nvSpPr>
            <p:cNvPr id="345" name="Google Shape;345;p10"/>
            <p:cNvSpPr/>
            <p:nvPr/>
          </p:nvSpPr>
          <p:spPr>
            <a:xfrm>
              <a:off x="10589406" y="4180695"/>
              <a:ext cx="1496787" cy="1980000"/>
            </a:xfrm>
            <a:custGeom>
              <a:avLst/>
              <a:gdLst/>
              <a:ahLst/>
              <a:cxnLst/>
              <a:rect l="l" t="t" r="r" b="b"/>
              <a:pathLst>
                <a:path w="1496787" h="1931338" extrusionOk="0">
                  <a:moveTo>
                    <a:pt x="144850" y="1786488"/>
                  </a:moveTo>
                  <a:lnTo>
                    <a:pt x="144850" y="144850"/>
                  </a:lnTo>
                  <a:lnTo>
                    <a:pt x="748394" y="144850"/>
                  </a:lnTo>
                  <a:lnTo>
                    <a:pt x="748394" y="651827"/>
                  </a:lnTo>
                  <a:lnTo>
                    <a:pt x="1351937" y="651827"/>
                  </a:lnTo>
                  <a:lnTo>
                    <a:pt x="1351937" y="1786488"/>
                  </a:lnTo>
                  <a:lnTo>
                    <a:pt x="144850" y="1786488"/>
                  </a:lnTo>
                  <a:close/>
                  <a:moveTo>
                    <a:pt x="893244" y="205205"/>
                  </a:moveTo>
                  <a:lnTo>
                    <a:pt x="1195016" y="506976"/>
                  </a:lnTo>
                  <a:lnTo>
                    <a:pt x="893244" y="506976"/>
                  </a:lnTo>
                  <a:lnTo>
                    <a:pt x="893244" y="205205"/>
                  </a:lnTo>
                  <a:close/>
                  <a:moveTo>
                    <a:pt x="893244" y="0"/>
                  </a:moveTo>
                  <a:lnTo>
                    <a:pt x="0" y="0"/>
                  </a:lnTo>
                  <a:lnTo>
                    <a:pt x="0" y="1931338"/>
                  </a:lnTo>
                  <a:lnTo>
                    <a:pt x="1496787" y="1931338"/>
                  </a:lnTo>
                  <a:lnTo>
                    <a:pt x="1496787" y="531118"/>
                  </a:lnTo>
                  <a:lnTo>
                    <a:pt x="8932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10879107" y="5073939"/>
              <a:ext cx="917385" cy="96566"/>
            </a:xfrm>
            <a:custGeom>
              <a:avLst/>
              <a:gdLst/>
              <a:ahLst/>
              <a:cxnLst/>
              <a:rect l="l" t="t" r="r" b="b"/>
              <a:pathLst>
                <a:path w="917385" h="96566" extrusionOk="0">
                  <a:moveTo>
                    <a:pt x="0" y="0"/>
                  </a:moveTo>
                  <a:lnTo>
                    <a:pt x="917386" y="0"/>
                  </a:lnTo>
                  <a:lnTo>
                    <a:pt x="917386" y="96567"/>
                  </a:lnTo>
                  <a:lnTo>
                    <a:pt x="0" y="965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10879107" y="4880805"/>
              <a:ext cx="313842" cy="96566"/>
            </a:xfrm>
            <a:custGeom>
              <a:avLst/>
              <a:gdLst/>
              <a:ahLst/>
              <a:cxnLst/>
              <a:rect l="l" t="t" r="r" b="b"/>
              <a:pathLst>
                <a:path w="313842" h="96566" extrusionOk="0">
                  <a:moveTo>
                    <a:pt x="0" y="0"/>
                  </a:moveTo>
                  <a:lnTo>
                    <a:pt x="313842" y="0"/>
                  </a:lnTo>
                  <a:lnTo>
                    <a:pt x="313842" y="96567"/>
                  </a:lnTo>
                  <a:lnTo>
                    <a:pt x="0" y="965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10879107" y="5267073"/>
              <a:ext cx="917385" cy="96566"/>
            </a:xfrm>
            <a:custGeom>
              <a:avLst/>
              <a:gdLst/>
              <a:ahLst/>
              <a:cxnLst/>
              <a:rect l="l" t="t" r="r" b="b"/>
              <a:pathLst>
                <a:path w="917385" h="96566" extrusionOk="0">
                  <a:moveTo>
                    <a:pt x="0" y="0"/>
                  </a:moveTo>
                  <a:lnTo>
                    <a:pt x="917386" y="0"/>
                  </a:lnTo>
                  <a:lnTo>
                    <a:pt x="917386" y="96567"/>
                  </a:lnTo>
                  <a:lnTo>
                    <a:pt x="0" y="965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10879107" y="5460207"/>
              <a:ext cx="917385" cy="96566"/>
            </a:xfrm>
            <a:custGeom>
              <a:avLst/>
              <a:gdLst/>
              <a:ahLst/>
              <a:cxnLst/>
              <a:rect l="l" t="t" r="r" b="b"/>
              <a:pathLst>
                <a:path w="917385" h="96566" extrusionOk="0">
                  <a:moveTo>
                    <a:pt x="0" y="0"/>
                  </a:moveTo>
                  <a:lnTo>
                    <a:pt x="917386" y="0"/>
                  </a:lnTo>
                  <a:lnTo>
                    <a:pt x="917386" y="96567"/>
                  </a:lnTo>
                  <a:lnTo>
                    <a:pt x="0" y="965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10879107" y="5653341"/>
              <a:ext cx="917385" cy="96566"/>
            </a:xfrm>
            <a:custGeom>
              <a:avLst/>
              <a:gdLst/>
              <a:ahLst/>
              <a:cxnLst/>
              <a:rect l="l" t="t" r="r" b="b"/>
              <a:pathLst>
                <a:path w="917385" h="96566" extrusionOk="0">
                  <a:moveTo>
                    <a:pt x="0" y="0"/>
                  </a:moveTo>
                  <a:lnTo>
                    <a:pt x="917386" y="0"/>
                  </a:lnTo>
                  <a:lnTo>
                    <a:pt x="917386" y="96567"/>
                  </a:lnTo>
                  <a:lnTo>
                    <a:pt x="0" y="965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51" name="Google Shape;351;p10"/>
          <p:cNvGrpSpPr/>
          <p:nvPr/>
        </p:nvGrpSpPr>
        <p:grpSpPr>
          <a:xfrm>
            <a:off x="6834421" y="3221269"/>
            <a:ext cx="1656367" cy="2130328"/>
            <a:chOff x="6844157" y="4174840"/>
            <a:chExt cx="1656367" cy="2130328"/>
          </a:xfrm>
        </p:grpSpPr>
        <p:grpSp>
          <p:nvGrpSpPr>
            <p:cNvPr id="352" name="Google Shape;352;p10"/>
            <p:cNvGrpSpPr/>
            <p:nvPr/>
          </p:nvGrpSpPr>
          <p:grpSpPr>
            <a:xfrm>
              <a:off x="6844157" y="4174840"/>
              <a:ext cx="1444625" cy="1926166"/>
              <a:chOff x="6844157" y="4174840"/>
              <a:chExt cx="1444625" cy="1926166"/>
            </a:xfrm>
          </p:grpSpPr>
          <p:sp>
            <p:nvSpPr>
              <p:cNvPr id="353" name="Google Shape;353;p10"/>
              <p:cNvSpPr/>
              <p:nvPr/>
            </p:nvSpPr>
            <p:spPr>
              <a:xfrm>
                <a:off x="7084928" y="4993461"/>
                <a:ext cx="963083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963083" h="48154" extrusionOk="0">
                    <a:moveTo>
                      <a:pt x="0" y="0"/>
                    </a:moveTo>
                    <a:lnTo>
                      <a:pt x="963083" y="0"/>
                    </a:lnTo>
                    <a:lnTo>
                      <a:pt x="963083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4" name="Google Shape;354;p10"/>
              <p:cNvSpPr/>
              <p:nvPr/>
            </p:nvSpPr>
            <p:spPr>
              <a:xfrm>
                <a:off x="7084928" y="4800844"/>
                <a:ext cx="457464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457464" h="48154" extrusionOk="0">
                    <a:moveTo>
                      <a:pt x="0" y="0"/>
                    </a:moveTo>
                    <a:lnTo>
                      <a:pt x="457465" y="0"/>
                    </a:lnTo>
                    <a:lnTo>
                      <a:pt x="457465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5" name="Google Shape;355;p10"/>
              <p:cNvSpPr/>
              <p:nvPr/>
            </p:nvSpPr>
            <p:spPr>
              <a:xfrm>
                <a:off x="7084928" y="5186078"/>
                <a:ext cx="963083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963083" h="48154" extrusionOk="0">
                    <a:moveTo>
                      <a:pt x="0" y="0"/>
                    </a:moveTo>
                    <a:lnTo>
                      <a:pt x="963083" y="0"/>
                    </a:lnTo>
                    <a:lnTo>
                      <a:pt x="963083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6" name="Google Shape;356;p10"/>
              <p:cNvSpPr/>
              <p:nvPr/>
            </p:nvSpPr>
            <p:spPr>
              <a:xfrm>
                <a:off x="7084928" y="5378694"/>
                <a:ext cx="963083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963083" h="48154" extrusionOk="0">
                    <a:moveTo>
                      <a:pt x="0" y="0"/>
                    </a:moveTo>
                    <a:lnTo>
                      <a:pt x="963083" y="0"/>
                    </a:lnTo>
                    <a:lnTo>
                      <a:pt x="963083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7" name="Google Shape;357;p10"/>
              <p:cNvSpPr/>
              <p:nvPr/>
            </p:nvSpPr>
            <p:spPr>
              <a:xfrm>
                <a:off x="7084928" y="5571311"/>
                <a:ext cx="963083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963083" h="48154" extrusionOk="0">
                    <a:moveTo>
                      <a:pt x="0" y="0"/>
                    </a:moveTo>
                    <a:lnTo>
                      <a:pt x="963083" y="0"/>
                    </a:lnTo>
                    <a:lnTo>
                      <a:pt x="963083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8" name="Google Shape;358;p10"/>
              <p:cNvSpPr/>
              <p:nvPr/>
            </p:nvSpPr>
            <p:spPr>
              <a:xfrm>
                <a:off x="7084928" y="5763928"/>
                <a:ext cx="963083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963083" h="48154" extrusionOk="0">
                    <a:moveTo>
                      <a:pt x="0" y="0"/>
                    </a:moveTo>
                    <a:lnTo>
                      <a:pt x="963083" y="0"/>
                    </a:lnTo>
                    <a:lnTo>
                      <a:pt x="963083" y="48154"/>
                    </a:lnTo>
                    <a:lnTo>
                      <a:pt x="0" y="48154"/>
                    </a:lnTo>
                    <a:close/>
                  </a:path>
                </a:pathLst>
              </a:custGeom>
              <a:solidFill>
                <a:srgbClr val="3F3F3F"/>
              </a:solidFill>
              <a:ln w="19050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59" name="Google Shape;359;p10"/>
              <p:cNvSpPr/>
              <p:nvPr/>
            </p:nvSpPr>
            <p:spPr>
              <a:xfrm>
                <a:off x="6844157" y="4174840"/>
                <a:ext cx="1444625" cy="1926166"/>
              </a:xfrm>
              <a:custGeom>
                <a:avLst/>
                <a:gdLst/>
                <a:ahLst/>
                <a:cxnLst/>
                <a:rect l="l" t="t" r="r" b="b"/>
                <a:pathLst>
                  <a:path w="1444625" h="1926166" extrusionOk="0">
                    <a:moveTo>
                      <a:pt x="0" y="0"/>
                    </a:moveTo>
                    <a:lnTo>
                      <a:pt x="0" y="1926167"/>
                    </a:lnTo>
                    <a:lnTo>
                      <a:pt x="1444625" y="1926167"/>
                    </a:lnTo>
                    <a:lnTo>
                      <a:pt x="1444625" y="519728"/>
                    </a:lnTo>
                    <a:lnTo>
                      <a:pt x="924897" y="0"/>
                    </a:lnTo>
                    <a:close/>
                    <a:moveTo>
                      <a:pt x="939416" y="82608"/>
                    </a:moveTo>
                    <a:lnTo>
                      <a:pt x="1362017" y="505209"/>
                    </a:lnTo>
                    <a:cubicBezTo>
                      <a:pt x="1362110" y="505303"/>
                      <a:pt x="1362108" y="505457"/>
                      <a:pt x="1362014" y="505549"/>
                    </a:cubicBezTo>
                    <a:cubicBezTo>
                      <a:pt x="1361968" y="505592"/>
                      <a:pt x="1361911" y="505619"/>
                      <a:pt x="1361848" y="505619"/>
                    </a:cubicBezTo>
                    <a:lnTo>
                      <a:pt x="939006" y="505619"/>
                    </a:lnTo>
                    <a:lnTo>
                      <a:pt x="939006" y="82777"/>
                    </a:lnTo>
                    <a:cubicBezTo>
                      <a:pt x="939009" y="82645"/>
                      <a:pt x="939117" y="82539"/>
                      <a:pt x="939249" y="82539"/>
                    </a:cubicBezTo>
                    <a:cubicBezTo>
                      <a:pt x="939312" y="82541"/>
                      <a:pt x="939372" y="82565"/>
                      <a:pt x="939416" y="82608"/>
                    </a:cubicBezTo>
                    <a:close/>
                    <a:moveTo>
                      <a:pt x="48154" y="1878013"/>
                    </a:moveTo>
                    <a:lnTo>
                      <a:pt x="48154" y="48154"/>
                    </a:lnTo>
                    <a:lnTo>
                      <a:pt x="890852" y="48154"/>
                    </a:lnTo>
                    <a:lnTo>
                      <a:pt x="890852" y="553773"/>
                    </a:lnTo>
                    <a:lnTo>
                      <a:pt x="1396471" y="553773"/>
                    </a:lnTo>
                    <a:lnTo>
                      <a:pt x="1396471" y="1878013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360" name="Google Shape;360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333279" y="5137923"/>
              <a:ext cx="1167245" cy="11672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1" name="Google Shape;361;p10"/>
          <p:cNvSpPr/>
          <p:nvPr/>
        </p:nvSpPr>
        <p:spPr>
          <a:xfrm>
            <a:off x="8825815" y="3900165"/>
            <a:ext cx="960718" cy="77253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6BA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6887361" y="5741186"/>
            <a:ext cx="14978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OCR</a:t>
            </a:r>
            <a:endParaRPr/>
          </a:p>
        </p:txBody>
      </p:sp>
      <p:sp>
        <p:nvSpPr>
          <p:cNvPr id="363" name="Google Shape;363;p10"/>
          <p:cNvSpPr txBox="1"/>
          <p:nvPr/>
        </p:nvSpPr>
        <p:spPr>
          <a:xfrm>
            <a:off x="10331172" y="5716692"/>
            <a:ext cx="21711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Text Document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Acquisition: PDF to Text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11"/>
          <p:cNvSpPr txBox="1">
            <a:spLocks noGrp="1"/>
          </p:cNvSpPr>
          <p:nvPr>
            <p:ph type="body" idx="2"/>
          </p:nvPr>
        </p:nvSpPr>
        <p:spPr>
          <a:xfrm>
            <a:off x="1622014" y="1512833"/>
            <a:ext cx="13011972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PDF is a common format for storing textual data due to its versatility and ability to maintain document formatting.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1" name="Google Shape;371;p11"/>
          <p:cNvGrpSpPr/>
          <p:nvPr/>
        </p:nvGrpSpPr>
        <p:grpSpPr>
          <a:xfrm>
            <a:off x="1758074" y="3602428"/>
            <a:ext cx="4381469" cy="3165698"/>
            <a:chOff x="7199324" y="3732522"/>
            <a:chExt cx="7772400" cy="5181600"/>
          </a:xfrm>
        </p:grpSpPr>
        <p:pic>
          <p:nvPicPr>
            <p:cNvPr id="372" name="Google Shape;372;p11" descr="A person sitting on the floor with a computer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199324" y="3732522"/>
              <a:ext cx="7772400" cy="518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1" descr="PDF - Wikipe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41329" y="4997989"/>
              <a:ext cx="617260" cy="7582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11"/>
          <p:cNvSpPr txBox="1"/>
          <p:nvPr/>
        </p:nvSpPr>
        <p:spPr>
          <a:xfrm>
            <a:off x="8531086" y="5276066"/>
            <a:ext cx="6107477" cy="161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In python 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there are various 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libraries can be used to extract text from PDF files, which include PyMuPDF, PyPDF2, pdfminer.six, PyPDFium, etc.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7677150" y="3219450"/>
            <a:ext cx="7143750" cy="4114800"/>
          </a:xfrm>
          <a:prstGeom prst="roundRect">
            <a:avLst>
              <a:gd name="adj" fmla="val 11037"/>
            </a:avLst>
          </a:prstGeom>
          <a:noFill/>
          <a:ln w="19050" cap="flat" cmpd="sng">
            <a:solidFill>
              <a:srgbClr val="306B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8531087" y="3704514"/>
            <a:ext cx="6107477" cy="125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Many documents, including reports, articles, and manuals, are often distributed or archived in PDF format. 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7" name="Google Shape;37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51800" y="3832805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0849" y="5399446"/>
            <a:ext cx="346217" cy="3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/>
          <p:nvPr/>
        </p:nvSpPr>
        <p:spPr>
          <a:xfrm>
            <a:off x="5601725" y="816324"/>
            <a:ext cx="507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Acquisition: Data Augmentation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12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Data augmentation refers to the process of artificially expanding a dataset by generating diverse variations of existing textual data. 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3959943" y="5602179"/>
            <a:ext cx="9335803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Commonly used techniques include text synonym replacement, back translation, and random swap, among others.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4808261" y="816324"/>
            <a:ext cx="664392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3959943" y="3958723"/>
            <a:ext cx="9335803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Data augmentation techniques aim to improve the robustness and generalization of machine learning models. 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2306782" y="3219450"/>
            <a:ext cx="12514118" cy="411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06BA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0" name="Google Shape;39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0254" y="4139337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8846" y="5832909"/>
            <a:ext cx="346217" cy="3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Text Cleaning and Text Preprocessing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Cleaning and Pre-processing Steps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1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Like any other type of data source, text data also requires cleaning and preprocessing.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 Below are some of the typical steps in text cleaning and preprocessing:</a:t>
            </a:r>
            <a:endParaRPr/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14"/>
          <p:cNvSpPr txBox="1"/>
          <p:nvPr/>
        </p:nvSpPr>
        <p:spPr>
          <a:xfrm>
            <a:off x="3029277" y="7332940"/>
            <a:ext cx="10809363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Python l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ibraries like regular expression (re), natural language toolkit (NLTK), and </a:t>
            </a: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SpaCy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are used here.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640835" y="7031034"/>
            <a:ext cx="13065765" cy="1296641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58AF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027586" y="6804072"/>
            <a:ext cx="1532100" cy="449100"/>
          </a:xfrm>
          <a:prstGeom prst="roundRect">
            <a:avLst>
              <a:gd name="adj" fmla="val 16667"/>
            </a:avLst>
          </a:prstGeom>
          <a:solidFill>
            <a:srgbClr val="44A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6" name="Google Shape;406;p14"/>
          <p:cNvSpPr txBox="1"/>
          <p:nvPr/>
        </p:nvSpPr>
        <p:spPr>
          <a:xfrm>
            <a:off x="2382790" y="6815172"/>
            <a:ext cx="11007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200" b="1" i="1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Note</a:t>
            </a:r>
            <a:endParaRPr sz="2200" b="1" i="1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4762000" y="816324"/>
            <a:ext cx="6732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08" name="Google Shape;408;p14"/>
          <p:cNvGrpSpPr/>
          <p:nvPr/>
        </p:nvGrpSpPr>
        <p:grpSpPr>
          <a:xfrm>
            <a:off x="2659102" y="3155429"/>
            <a:ext cx="12204000" cy="2800082"/>
            <a:chOff x="1291857" y="2907203"/>
            <a:chExt cx="14020800" cy="3216937"/>
          </a:xfrm>
        </p:grpSpPr>
        <p:sp>
          <p:nvSpPr>
            <p:cNvPr id="409" name="Google Shape;409;p14"/>
            <p:cNvSpPr/>
            <p:nvPr/>
          </p:nvSpPr>
          <p:spPr>
            <a:xfrm>
              <a:off x="1291857" y="2907203"/>
              <a:ext cx="14020800" cy="3216937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11493708" y="3569719"/>
              <a:ext cx="1878767" cy="1878768"/>
            </a:xfrm>
            <a:prstGeom prst="ellipse">
              <a:avLst/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11799983" y="3856209"/>
              <a:ext cx="1305789" cy="1305789"/>
            </a:xfrm>
            <a:prstGeom prst="ellipse">
              <a:avLst/>
            </a:prstGeom>
            <a:solidFill>
              <a:srgbClr val="FA4655"/>
            </a:solidFill>
            <a:ln>
              <a:noFill/>
            </a:ln>
            <a:effectLst>
              <a:outerShdw blurRad="25400" dist="12700" dir="8100000" algn="tr" rotWithShape="0">
                <a:srgbClr val="000000">
                  <a:alpha val="38823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6815011" y="3569719"/>
              <a:ext cx="1878767" cy="1878768"/>
            </a:xfrm>
            <a:prstGeom prst="ellipse">
              <a:avLst/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7120772" y="3856209"/>
              <a:ext cx="1305789" cy="1305789"/>
            </a:xfrm>
            <a:prstGeom prst="ellipse">
              <a:avLst/>
            </a:prstGeom>
            <a:solidFill>
              <a:srgbClr val="96C83C"/>
            </a:solidFill>
            <a:ln>
              <a:noFill/>
            </a:ln>
            <a:effectLst>
              <a:outerShdw blurRad="25400" dist="12700" dir="8100000" algn="tr" rotWithShape="0">
                <a:srgbClr val="000000">
                  <a:alpha val="38823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2136312" y="3569719"/>
              <a:ext cx="1878767" cy="1878768"/>
            </a:xfrm>
            <a:prstGeom prst="ellipse">
              <a:avLst/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2441561" y="3856209"/>
              <a:ext cx="1305789" cy="1305789"/>
            </a:xfrm>
            <a:prstGeom prst="ellipse">
              <a:avLst/>
            </a:prstGeom>
            <a:solidFill>
              <a:srgbClr val="14B4EB"/>
            </a:solidFill>
            <a:ln>
              <a:noFill/>
            </a:ln>
            <a:effectLst>
              <a:outerShdw blurRad="25400" dist="12700" dir="8100000" algn="tr" rotWithShape="0">
                <a:srgbClr val="000000">
                  <a:alpha val="38823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9154360" y="3569719"/>
              <a:ext cx="1878767" cy="1878768"/>
            </a:xfrm>
            <a:prstGeom prst="ellipse">
              <a:avLst/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9460377" y="3856209"/>
              <a:ext cx="1305789" cy="1305789"/>
            </a:xfrm>
            <a:prstGeom prst="ellipse">
              <a:avLst/>
            </a:prstGeom>
            <a:solidFill>
              <a:srgbClr val="FFAF28"/>
            </a:solidFill>
            <a:ln>
              <a:noFill/>
            </a:ln>
            <a:effectLst>
              <a:outerShdw blurRad="25400" dist="12700" dir="8100000" algn="tr" rotWithShape="0">
                <a:srgbClr val="000000">
                  <a:alpha val="38823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4475661" y="3569719"/>
              <a:ext cx="1878767" cy="1878768"/>
            </a:xfrm>
            <a:prstGeom prst="ellipse">
              <a:avLst/>
            </a:prstGeom>
            <a:solidFill>
              <a:srgbClr val="E4E6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4781166" y="3856209"/>
              <a:ext cx="1305789" cy="1305789"/>
            </a:xfrm>
            <a:prstGeom prst="ellipse">
              <a:avLst/>
            </a:prstGeom>
            <a:solidFill>
              <a:srgbClr val="3CBEB4"/>
            </a:solidFill>
            <a:ln>
              <a:noFill/>
            </a:ln>
            <a:effectLst>
              <a:outerShdw blurRad="25400" dist="12700" dir="8100000" algn="tr" rotWithShape="0">
                <a:srgbClr val="000000">
                  <a:alpha val="38823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20" name="Google Shape;420;p14" descr="Badge 1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13084" y="405190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4" descr="Badge with solid fi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58310" y="405190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4" descr="Badge 5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975891" y="405190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14" descr="Badge 4 with solid fill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624857" y="405190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14" descr="Badge 3 with solid fill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280600" y="405190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p14"/>
          <p:cNvSpPr txBox="1"/>
          <p:nvPr/>
        </p:nvSpPr>
        <p:spPr>
          <a:xfrm>
            <a:off x="2886127" y="3080215"/>
            <a:ext cx="264190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Tokenization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14"/>
          <p:cNvSpPr txBox="1"/>
          <p:nvPr/>
        </p:nvSpPr>
        <p:spPr>
          <a:xfrm>
            <a:off x="4943608" y="5588027"/>
            <a:ext cx="264190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Noise entity removal</a:t>
            </a:r>
            <a:endParaRPr sz="2200" b="1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14"/>
          <p:cNvSpPr txBox="1"/>
          <p:nvPr/>
        </p:nvSpPr>
        <p:spPr>
          <a:xfrm>
            <a:off x="7051351" y="2890005"/>
            <a:ext cx="264190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 and lemmatization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8761102" y="5683902"/>
            <a:ext cx="264190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Part of speech tagging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10869208" y="2910937"/>
            <a:ext cx="264190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Named entity recognition</a:t>
            </a:r>
            <a:endParaRPr sz="22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Tokenization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062449" y="6490979"/>
            <a:ext cx="9912443" cy="108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127000" cap="rnd" cmpd="sng">
            <a:solidFill>
              <a:srgbClr val="49B2C7">
                <a:alpha val="3372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066224" y="3691302"/>
            <a:ext cx="9934744" cy="1080000"/>
          </a:xfrm>
          <a:prstGeom prst="hexagon">
            <a:avLst>
              <a:gd name="adj" fmla="val 25000"/>
              <a:gd name="vf" fmla="val 115470"/>
            </a:avLst>
          </a:prstGeom>
          <a:noFill/>
          <a:ln w="127000" cap="rnd" cmpd="sng">
            <a:solidFill>
              <a:srgbClr val="49B2C7">
                <a:alpha val="3372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15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Tokenization involves segmenting unstructured data and natural language text into distinct units or elements, shaping the foundation for further analysis.</a:t>
            </a:r>
            <a:endParaRPr/>
          </a:p>
        </p:txBody>
      </p:sp>
      <p:pic>
        <p:nvPicPr>
          <p:cNvPr id="438" name="Google Shape;438;p15" descr="Output Icons - Free SVG &amp; PNG Output Images - Noun Proj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6087" y="6430791"/>
            <a:ext cx="1144885" cy="1200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5"/>
          <p:cNvSpPr txBox="1"/>
          <p:nvPr/>
        </p:nvSpPr>
        <p:spPr>
          <a:xfrm>
            <a:off x="5591019" y="3979283"/>
            <a:ext cx="6885155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"Natural language processing is a fascinating field."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6223581" y="2662865"/>
            <a:ext cx="383355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Let's consider the sentence:</a:t>
            </a:r>
            <a:endParaRPr/>
          </a:p>
        </p:txBody>
      </p:sp>
      <p:sp>
        <p:nvSpPr>
          <p:cNvPr id="441" name="Google Shape;441;p15"/>
          <p:cNvSpPr txBox="1"/>
          <p:nvPr/>
        </p:nvSpPr>
        <p:spPr>
          <a:xfrm>
            <a:off x="3859287" y="5229510"/>
            <a:ext cx="9912443" cy="84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Tokenization of this sentence would involve breaking it down into individual words or tokens:</a:t>
            </a: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4239534" y="6802391"/>
            <a:ext cx="9558272" cy="45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["Natural", "language", "processing", "is", "a", "fascinating", "field", "."]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6965895" y="816324"/>
            <a:ext cx="232865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4" name="Google Shape;444;p15" descr="Input icon PNG and SVG Vector Free Downloa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1749" y="3691302"/>
            <a:ext cx="925385" cy="11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Cleaning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p16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text data contains a lot of noise. These entities don't contribute any value to the analysis and therefore should be removed from the text. These noise entities include:</a:t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6865791" y="816324"/>
            <a:ext cx="256152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3047382" y="3289564"/>
            <a:ext cx="11621560" cy="25648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1676266" y="4048201"/>
            <a:ext cx="2300867" cy="1047599"/>
          </a:xfrm>
          <a:prstGeom prst="roundRect">
            <a:avLst>
              <a:gd name="adj" fmla="val 16667"/>
            </a:avLst>
          </a:prstGeom>
          <a:solidFill>
            <a:srgbClr val="FBE4D4"/>
          </a:solidFill>
          <a:ln w="19050" cap="flat" cmpd="sng">
            <a:solidFill>
              <a:srgbClr val="EE7D3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4" name="Google Shape;454;p16"/>
          <p:cNvSpPr txBox="1"/>
          <p:nvPr/>
        </p:nvSpPr>
        <p:spPr>
          <a:xfrm>
            <a:off x="1974426" y="4344662"/>
            <a:ext cx="1769972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Stop Words</a:t>
            </a:r>
            <a:endParaRPr/>
          </a:p>
        </p:txBody>
      </p:sp>
      <p:sp>
        <p:nvSpPr>
          <p:cNvPr id="455" name="Google Shape;455;p16"/>
          <p:cNvSpPr txBox="1"/>
          <p:nvPr/>
        </p:nvSpPr>
        <p:spPr>
          <a:xfrm>
            <a:off x="4275293" y="3701634"/>
            <a:ext cx="10485222" cy="174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"Stop words refer to common words that are often removed during text preprocessing to focus on more meaningful terms. </a:t>
            </a:r>
            <a:endParaRPr/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Common stop words in English include 'the,' 'and' 'is,' 'in,' 'it,' 'for,' 'to,' 'of,' 'with,' and 'that’.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2;p16">
            <a:extLst>
              <a:ext uri="{FF2B5EF4-FFF2-40B4-BE49-F238E27FC236}">
                <a16:creationId xmlns:a16="http://schemas.microsoft.com/office/drawing/2014/main" id="{0382456F-F60C-27F1-DB66-480772B8F63A}"/>
              </a:ext>
            </a:extLst>
          </p:cNvPr>
          <p:cNvSpPr/>
          <p:nvPr/>
        </p:nvSpPr>
        <p:spPr>
          <a:xfrm>
            <a:off x="3047382" y="3289564"/>
            <a:ext cx="11621560" cy="25648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49B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Cleaning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7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text data contains a lot of noise. These entities don't contribute any value to the analysis and therefore should be removed from the text. These noise entities include: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1652303" y="4048201"/>
            <a:ext cx="2300867" cy="1047599"/>
          </a:xfrm>
          <a:prstGeom prst="roundRect">
            <a:avLst>
              <a:gd name="adj" fmla="val 16667"/>
            </a:avLst>
          </a:prstGeom>
          <a:solidFill>
            <a:srgbClr val="D5EDF2"/>
          </a:solidFill>
          <a:ln w="19050" cap="flat" cmpd="sng">
            <a:solidFill>
              <a:srgbClr val="49B2C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1908079" y="4344662"/>
            <a:ext cx="1925527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Punctuation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4183720" y="3701634"/>
            <a:ext cx="10317391" cy="174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Punctuation marks like commas (,)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periods (.), exclamation marks (!)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question marks (?)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semicolons (;)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colons (:) are often eliminated to simplify the text and reduce noise.</a:t>
            </a:r>
            <a:endParaRPr/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This</a:t>
            </a:r>
            <a:r>
              <a:rPr lang="en-US" sz="220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allows the model to focus on meaningful content.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6865791" y="816324"/>
            <a:ext cx="256152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2;p16">
            <a:extLst>
              <a:ext uri="{FF2B5EF4-FFF2-40B4-BE49-F238E27FC236}">
                <a16:creationId xmlns:a16="http://schemas.microsoft.com/office/drawing/2014/main" id="{682267EC-1251-A85A-8072-51F898E8F045}"/>
              </a:ext>
            </a:extLst>
          </p:cNvPr>
          <p:cNvSpPr/>
          <p:nvPr/>
        </p:nvSpPr>
        <p:spPr>
          <a:xfrm>
            <a:off x="3047382" y="3289564"/>
            <a:ext cx="11621560" cy="25648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93CF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Text Cleaning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2" name="Google Shape;472;p1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The text data contains a lot of noise. These entities don't contribute any value to the analysis and therefore should be removed from the text. These noise entities include: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1720408" y="4048201"/>
            <a:ext cx="2300867" cy="1047599"/>
          </a:xfrm>
          <a:prstGeom prst="roundRect">
            <a:avLst>
              <a:gd name="adj" fmla="val 16667"/>
            </a:avLst>
          </a:prstGeom>
          <a:solidFill>
            <a:srgbClr val="C9E6CF"/>
          </a:solidFill>
          <a:ln w="19050" cap="flat" cmpd="sng">
            <a:solidFill>
              <a:srgbClr val="93CFA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5" name="Google Shape;475;p18"/>
          <p:cNvSpPr txBox="1"/>
          <p:nvPr/>
        </p:nvSpPr>
        <p:spPr>
          <a:xfrm>
            <a:off x="2052072" y="4151693"/>
            <a:ext cx="1682143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Special characters</a:t>
            </a:r>
            <a:endParaRPr/>
          </a:p>
        </p:txBody>
      </p:sp>
      <p:sp>
        <p:nvSpPr>
          <p:cNvPr id="476" name="Google Shape;476;p18"/>
          <p:cNvSpPr txBox="1"/>
          <p:nvPr/>
        </p:nvSpPr>
        <p:spPr>
          <a:xfrm>
            <a:off x="4518445" y="4133722"/>
            <a:ext cx="9653326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symbols @, #, $, </a:t>
            </a:r>
            <a:r>
              <a:rPr lang="en-US" sz="2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%, ^</a:t>
            </a:r>
            <a:r>
              <a:rPr lang="en-US" sz="2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&amp; </a:t>
            </a:r>
            <a:r>
              <a:rPr lang="en-US" sz="2200" i="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-US" sz="220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are often removed to reduce noise and simplify the text for analysis.</a:t>
            </a:r>
            <a:endParaRPr sz="2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6865791" y="816324"/>
            <a:ext cx="256152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 and Lemmatization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9927288" y="3092588"/>
            <a:ext cx="2296273" cy="682443"/>
          </a:xfrm>
          <a:prstGeom prst="roundRect">
            <a:avLst>
              <a:gd name="adj" fmla="val 16667"/>
            </a:avLst>
          </a:prstGeom>
          <a:solidFill>
            <a:srgbClr val="05B9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3575957" y="3117101"/>
            <a:ext cx="2296273" cy="682443"/>
          </a:xfrm>
          <a:prstGeom prst="roundRect">
            <a:avLst>
              <a:gd name="adj" fmla="val 16667"/>
            </a:avLst>
          </a:prstGeom>
          <a:solidFill>
            <a:srgbClr val="05B9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19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Stemming and lemmatization serve to simplify text by reducing words to their fundamental forms, aiding in the reduction of vocabulary size.</a:t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5401129" y="816324"/>
            <a:ext cx="549084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872316" y="4248580"/>
            <a:ext cx="2057400" cy="898071"/>
          </a:xfrm>
          <a:prstGeom prst="roundRect">
            <a:avLst>
              <a:gd name="adj" fmla="val 16667"/>
            </a:avLst>
          </a:prstGeom>
          <a:solidFill>
            <a:srgbClr val="D5EDF2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leafs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872316" y="5620200"/>
            <a:ext cx="2057400" cy="898071"/>
          </a:xfrm>
          <a:prstGeom prst="roundRect">
            <a:avLst>
              <a:gd name="adj" fmla="val 16667"/>
            </a:avLst>
          </a:prstGeom>
          <a:solidFill>
            <a:srgbClr val="D5EDF2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leaves</a:t>
            </a:r>
            <a:endParaRPr/>
          </a:p>
        </p:txBody>
      </p:sp>
      <p:cxnSp>
        <p:nvCxnSpPr>
          <p:cNvPr id="489" name="Google Shape;489;p19"/>
          <p:cNvCxnSpPr>
            <a:stCxn id="487" idx="3"/>
          </p:cNvCxnSpPr>
          <p:nvPr/>
        </p:nvCxnSpPr>
        <p:spPr>
          <a:xfrm>
            <a:off x="3929716" y="4697616"/>
            <a:ext cx="913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0" name="Google Shape;490;p19"/>
          <p:cNvCxnSpPr/>
          <p:nvPr/>
        </p:nvCxnSpPr>
        <p:spPr>
          <a:xfrm rot="10800000" flipH="1">
            <a:off x="3929716" y="6069235"/>
            <a:ext cx="913814" cy="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1" name="Google Shape;491;p19"/>
          <p:cNvSpPr/>
          <p:nvPr/>
        </p:nvSpPr>
        <p:spPr>
          <a:xfrm>
            <a:off x="4843530" y="5620200"/>
            <a:ext cx="2057400" cy="89807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leav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843530" y="4248579"/>
            <a:ext cx="2057400" cy="89807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leaf</a:t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8512629" y="4248580"/>
            <a:ext cx="2057400" cy="898071"/>
          </a:xfrm>
          <a:prstGeom prst="roundRect">
            <a:avLst>
              <a:gd name="adj" fmla="val 16667"/>
            </a:avLst>
          </a:prstGeom>
          <a:solidFill>
            <a:srgbClr val="D5EDF2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leafs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8512629" y="5620200"/>
            <a:ext cx="2057400" cy="898071"/>
          </a:xfrm>
          <a:prstGeom prst="roundRect">
            <a:avLst>
              <a:gd name="adj" fmla="val 16667"/>
            </a:avLst>
          </a:prstGeom>
          <a:solidFill>
            <a:srgbClr val="D5EDF2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leaves</a:t>
            </a:r>
            <a:endParaRPr/>
          </a:p>
        </p:txBody>
      </p:sp>
      <p:cxnSp>
        <p:nvCxnSpPr>
          <p:cNvPr id="495" name="Google Shape;495;p19"/>
          <p:cNvCxnSpPr>
            <a:cxnSpLocks/>
            <a:stCxn id="493" idx="3"/>
          </p:cNvCxnSpPr>
          <p:nvPr/>
        </p:nvCxnSpPr>
        <p:spPr>
          <a:xfrm>
            <a:off x="10570029" y="4697616"/>
            <a:ext cx="1505859" cy="532377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6" name="Google Shape;496;p19"/>
          <p:cNvCxnSpPr>
            <a:cxnSpLocks/>
            <a:stCxn id="494" idx="3"/>
          </p:cNvCxnSpPr>
          <p:nvPr/>
        </p:nvCxnSpPr>
        <p:spPr>
          <a:xfrm flipV="1">
            <a:off x="10570029" y="5481224"/>
            <a:ext cx="1505859" cy="58801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7" name="Google Shape;497;p19"/>
          <p:cNvSpPr/>
          <p:nvPr/>
        </p:nvSpPr>
        <p:spPr>
          <a:xfrm>
            <a:off x="12075888" y="4919934"/>
            <a:ext cx="2057400" cy="89807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leaf</a:t>
            </a:r>
            <a:endParaRPr/>
          </a:p>
        </p:txBody>
      </p:sp>
      <p:sp>
        <p:nvSpPr>
          <p:cNvPr id="498" name="Google Shape;498;p19"/>
          <p:cNvSpPr txBox="1"/>
          <p:nvPr/>
        </p:nvSpPr>
        <p:spPr>
          <a:xfrm>
            <a:off x="3962506" y="3242879"/>
            <a:ext cx="15231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Stemming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10002053" y="3218366"/>
            <a:ext cx="21467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Lemmatization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0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5" name="Google Shape;505;p20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Stemming generally refers to a straightforward heuristic approach that shortens word endings with the goal of achieving accurate results most of the time, often involving the removal of derivational affixes.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06" name="Google Shape;506;p20"/>
          <p:cNvGraphicFramePr/>
          <p:nvPr/>
        </p:nvGraphicFramePr>
        <p:xfrm>
          <a:off x="4232685" y="3716118"/>
          <a:ext cx="7392300" cy="22343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369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Original Work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Stemming Result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Jumps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Jump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Flying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Running</a:t>
                      </a:r>
                      <a:endParaRPr sz="22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7" name="Google Shape;507;p20"/>
          <p:cNvSpPr/>
          <p:nvPr/>
        </p:nvSpPr>
        <p:spPr>
          <a:xfrm>
            <a:off x="7184297" y="816324"/>
            <a:ext cx="192450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7683902" y="4416850"/>
            <a:ext cx="489857" cy="3102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CD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7683902" y="4961321"/>
            <a:ext cx="489857" cy="3102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CD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7683902" y="5505792"/>
            <a:ext cx="489857" cy="3102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CD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 Variants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p21"/>
          <p:cNvSpPr txBox="1">
            <a:spLocks noGrp="1"/>
          </p:cNvSpPr>
          <p:nvPr>
            <p:ph type="body" idx="2"/>
          </p:nvPr>
        </p:nvSpPr>
        <p:spPr>
          <a:xfrm>
            <a:off x="1351040" y="1526074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Stemming operation can be performed using several algorithms. The most used algorithms include:</a:t>
            </a:r>
            <a:endParaRPr/>
          </a:p>
        </p:txBody>
      </p:sp>
      <p:sp>
        <p:nvSpPr>
          <p:cNvPr id="517" name="Google Shape;517;p21"/>
          <p:cNvSpPr/>
          <p:nvPr/>
        </p:nvSpPr>
        <p:spPr>
          <a:xfrm>
            <a:off x="2167473" y="3484213"/>
            <a:ext cx="11921055" cy="4614758"/>
          </a:xfrm>
          <a:prstGeom prst="roundRect">
            <a:avLst>
              <a:gd name="adj" fmla="val 11119"/>
            </a:avLst>
          </a:prstGeom>
          <a:noFill/>
          <a:ln w="19050" cap="flat" cmpd="sng">
            <a:solidFill>
              <a:srgbClr val="49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18" name="Google Shape;518;p21"/>
          <p:cNvGrpSpPr/>
          <p:nvPr/>
        </p:nvGrpSpPr>
        <p:grpSpPr>
          <a:xfrm>
            <a:off x="6243444" y="2654096"/>
            <a:ext cx="3769113" cy="1440000"/>
            <a:chOff x="2810106" y="3631171"/>
            <a:chExt cx="3769113" cy="1440000"/>
          </a:xfrm>
        </p:grpSpPr>
        <p:sp>
          <p:nvSpPr>
            <p:cNvPr id="519" name="Google Shape;519;p21"/>
            <p:cNvSpPr/>
            <p:nvPr/>
          </p:nvSpPr>
          <p:spPr>
            <a:xfrm>
              <a:off x="2810106" y="3631171"/>
              <a:ext cx="3769113" cy="1440000"/>
            </a:xfrm>
            <a:prstGeom prst="roundRect">
              <a:avLst>
                <a:gd name="adj" fmla="val 16667"/>
              </a:avLst>
            </a:prstGeom>
            <a:solidFill>
              <a:srgbClr val="49B2C7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3107667" y="3901171"/>
              <a:ext cx="3173990" cy="90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1" name="Google Shape;521;p21"/>
            <p:cNvSpPr txBox="1"/>
            <p:nvPr/>
          </p:nvSpPr>
          <p:spPr>
            <a:xfrm>
              <a:off x="3230449" y="4135728"/>
              <a:ext cx="292842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Porter Stemmer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22" name="Google Shape;522;p21"/>
          <p:cNvGrpSpPr/>
          <p:nvPr/>
        </p:nvGrpSpPr>
        <p:grpSpPr>
          <a:xfrm>
            <a:off x="3245757" y="4447912"/>
            <a:ext cx="9764486" cy="2833062"/>
            <a:chOff x="3982974" y="4447912"/>
            <a:chExt cx="9764486" cy="2833062"/>
          </a:xfrm>
        </p:grpSpPr>
        <p:sp>
          <p:nvSpPr>
            <p:cNvPr id="523" name="Google Shape;523;p21"/>
            <p:cNvSpPr txBox="1"/>
            <p:nvPr/>
          </p:nvSpPr>
          <p:spPr>
            <a:xfrm>
              <a:off x="3982974" y="4447912"/>
              <a:ext cx="9764486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It was introduced in 1980 and stands out as one of the most widely adopted stemming methods.</a:t>
              </a:r>
              <a:endParaRPr/>
            </a:p>
          </p:txBody>
        </p:sp>
        <p:sp>
          <p:nvSpPr>
            <p:cNvPr id="524" name="Google Shape;524;p21"/>
            <p:cNvSpPr txBox="1"/>
            <p:nvPr/>
          </p:nvSpPr>
          <p:spPr>
            <a:xfrm>
              <a:off x="3982974" y="5443883"/>
              <a:ext cx="8899070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Its approach revolves around the concept that English language suffixes consist of combinations of smaller, simpler suffixes. </a:t>
              </a:r>
              <a:r>
                <a:rPr lang="en-US" sz="2200" b="0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5" name="Google Shape;525;p21"/>
            <p:cNvSpPr txBox="1"/>
            <p:nvPr/>
          </p:nvSpPr>
          <p:spPr>
            <a:xfrm>
              <a:off x="3982975" y="6440359"/>
              <a:ext cx="9764485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Renowned for its speed and simplicity, it remains a popular choice in various applications.</a:t>
              </a:r>
              <a:endParaRPr/>
            </a:p>
          </p:txBody>
        </p:sp>
      </p:grpSp>
      <p:pic>
        <p:nvPicPr>
          <p:cNvPr id="526" name="Google Shape;52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7" y="4585651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7" y="5553919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6" y="6522187"/>
            <a:ext cx="346217" cy="3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1"/>
          <p:cNvSpPr/>
          <p:nvPr/>
        </p:nvSpPr>
        <p:spPr>
          <a:xfrm>
            <a:off x="6409201" y="816324"/>
            <a:ext cx="345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2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 Variants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22"/>
          <p:cNvSpPr txBox="1">
            <a:spLocks noGrp="1"/>
          </p:cNvSpPr>
          <p:nvPr>
            <p:ph type="body" idx="2"/>
          </p:nvPr>
        </p:nvSpPr>
        <p:spPr>
          <a:xfrm>
            <a:off x="1351040" y="1526074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Stemming operation can be performed using several algorithms. The most used algorithms include:</a:t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2167473" y="3484213"/>
            <a:ext cx="11921055" cy="4614758"/>
          </a:xfrm>
          <a:prstGeom prst="roundRect">
            <a:avLst>
              <a:gd name="adj" fmla="val 11383"/>
            </a:avLst>
          </a:prstGeom>
          <a:noFill/>
          <a:ln w="19050" cap="flat" cmpd="sng">
            <a:solidFill>
              <a:srgbClr val="49B2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37" name="Google Shape;537;p22"/>
          <p:cNvGrpSpPr/>
          <p:nvPr/>
        </p:nvGrpSpPr>
        <p:grpSpPr>
          <a:xfrm>
            <a:off x="6243444" y="2654096"/>
            <a:ext cx="3769113" cy="1440000"/>
            <a:chOff x="2810106" y="3631171"/>
            <a:chExt cx="3769113" cy="1440000"/>
          </a:xfrm>
        </p:grpSpPr>
        <p:sp>
          <p:nvSpPr>
            <p:cNvPr id="538" name="Google Shape;538;p22"/>
            <p:cNvSpPr/>
            <p:nvPr/>
          </p:nvSpPr>
          <p:spPr>
            <a:xfrm>
              <a:off x="2810106" y="3631171"/>
              <a:ext cx="3769113" cy="1440000"/>
            </a:xfrm>
            <a:prstGeom prst="roundRect">
              <a:avLst>
                <a:gd name="adj" fmla="val 16667"/>
              </a:avLst>
            </a:prstGeom>
            <a:solidFill>
              <a:srgbClr val="49B2C7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3107667" y="3901171"/>
              <a:ext cx="3173990" cy="90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0" name="Google Shape;540;p22"/>
            <p:cNvSpPr txBox="1"/>
            <p:nvPr/>
          </p:nvSpPr>
          <p:spPr>
            <a:xfrm>
              <a:off x="3230449" y="4135728"/>
              <a:ext cx="2928427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Snowball Stemmer</a:t>
              </a:r>
              <a:endParaRPr/>
            </a:p>
          </p:txBody>
        </p:sp>
      </p:grpSp>
      <p:grpSp>
        <p:nvGrpSpPr>
          <p:cNvPr id="541" name="Google Shape;541;p22"/>
          <p:cNvGrpSpPr/>
          <p:nvPr/>
        </p:nvGrpSpPr>
        <p:grpSpPr>
          <a:xfrm>
            <a:off x="3245757" y="4447912"/>
            <a:ext cx="9764486" cy="2833062"/>
            <a:chOff x="3982974" y="4447912"/>
            <a:chExt cx="9764486" cy="2833062"/>
          </a:xfrm>
        </p:grpSpPr>
        <p:sp>
          <p:nvSpPr>
            <p:cNvPr id="542" name="Google Shape;542;p22"/>
            <p:cNvSpPr txBox="1"/>
            <p:nvPr/>
          </p:nvSpPr>
          <p:spPr>
            <a:xfrm>
              <a:off x="3982974" y="4447912"/>
              <a:ext cx="9764486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Snowball stemmer also known as a multi-lingual stemmer, extends its reach beyond English words. </a:t>
              </a:r>
              <a:endParaRPr/>
            </a:p>
          </p:txBody>
        </p:sp>
        <p:sp>
          <p:nvSpPr>
            <p:cNvPr id="543" name="Google Shape;543;p22"/>
            <p:cNvSpPr txBox="1"/>
            <p:nvPr/>
          </p:nvSpPr>
          <p:spPr>
            <a:xfrm>
              <a:off x="3982974" y="5443883"/>
              <a:ext cx="8899070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Its approach revolves around the concept that English language suffixes consist of combinations of smaller, simpler suffixes. </a:t>
              </a:r>
              <a:r>
                <a:rPr lang="en-US" sz="2200" b="0" i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44" name="Google Shape;544;p22"/>
            <p:cNvSpPr txBox="1"/>
            <p:nvPr/>
          </p:nvSpPr>
          <p:spPr>
            <a:xfrm>
              <a:off x="3982975" y="6440359"/>
              <a:ext cx="9764485" cy="840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Renowned for its speed and simplicity, it remains a popular choice in various applications.</a:t>
              </a:r>
              <a:endParaRPr/>
            </a:p>
          </p:txBody>
        </p:sp>
      </p:grpSp>
      <p:pic>
        <p:nvPicPr>
          <p:cNvPr id="545" name="Google Shape;5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7" y="4585651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7" y="5553919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4036" y="6522187"/>
            <a:ext cx="346217" cy="3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2"/>
          <p:cNvSpPr/>
          <p:nvPr/>
        </p:nvSpPr>
        <p:spPr>
          <a:xfrm>
            <a:off x="6409201" y="816324"/>
            <a:ext cx="345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Lemmatization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23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1" i="0">
                <a:latin typeface="Open Sans"/>
                <a:ea typeface="Open Sans"/>
                <a:cs typeface="Open Sans"/>
                <a:sym typeface="Open Sans"/>
              </a:rPr>
              <a:t>Lemmatization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 involves reducing words to their basic form by utilizing vocabulary and morphological analysis, with the goal of returning the base or dictionary form of a word, referred to as the </a:t>
            </a:r>
            <a:r>
              <a:rPr lang="en-US" b="1" i="0">
                <a:latin typeface="Open Sans"/>
                <a:ea typeface="Open Sans"/>
                <a:cs typeface="Open Sans"/>
                <a:sym typeface="Open Sans"/>
              </a:rPr>
              <a:t>lemma</a:t>
            </a: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2334523" y="4754093"/>
            <a:ext cx="5321079" cy="301331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3CF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3735062" y="3312000"/>
            <a:ext cx="2520000" cy="2520000"/>
          </a:xfrm>
          <a:prstGeom prst="ellipse">
            <a:avLst/>
          </a:prstGeom>
          <a:solidFill>
            <a:srgbClr val="93CF9F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3892562" y="3502158"/>
            <a:ext cx="2205000" cy="2205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8" name="Google Shape;558;p23"/>
          <p:cNvSpPr txBox="1"/>
          <p:nvPr/>
        </p:nvSpPr>
        <p:spPr>
          <a:xfrm>
            <a:off x="3708035" y="4018002"/>
            <a:ext cx="257405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WordNet </a:t>
            </a: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Lemmatizer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(NLTK</a:t>
            </a: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2200" b="0" i="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2657000" y="5896246"/>
            <a:ext cx="4676124" cy="161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An early and extensively utilized </a:t>
            </a:r>
            <a:r>
              <a:rPr lang="en-US" sz="2200" b="0" i="0" dirty="0" err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lemmatizer</a:t>
            </a:r>
            <a:r>
              <a:rPr lang="en-US" sz="2200" b="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leveraging a vast, freely accessible lexical database for the English language.</a:t>
            </a:r>
            <a:endParaRPr dirty="0"/>
          </a:p>
        </p:txBody>
      </p:sp>
      <p:sp>
        <p:nvSpPr>
          <p:cNvPr id="560" name="Google Shape;560;p23"/>
          <p:cNvSpPr/>
          <p:nvPr/>
        </p:nvSpPr>
        <p:spPr>
          <a:xfrm>
            <a:off x="8442899" y="4754093"/>
            <a:ext cx="5321079" cy="301331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3CF9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61" name="Google Shape;561;p23"/>
          <p:cNvGrpSpPr/>
          <p:nvPr/>
        </p:nvGrpSpPr>
        <p:grpSpPr>
          <a:xfrm>
            <a:off x="9843438" y="3312000"/>
            <a:ext cx="2520000" cy="2520000"/>
            <a:chOff x="6582241" y="2699096"/>
            <a:chExt cx="1440000" cy="1440000"/>
          </a:xfrm>
        </p:grpSpPr>
        <p:sp>
          <p:nvSpPr>
            <p:cNvPr id="562" name="Google Shape;562;p23"/>
            <p:cNvSpPr/>
            <p:nvPr/>
          </p:nvSpPr>
          <p:spPr>
            <a:xfrm>
              <a:off x="6582241" y="2699096"/>
              <a:ext cx="1440000" cy="1440000"/>
            </a:xfrm>
            <a:prstGeom prst="ellipse">
              <a:avLst/>
            </a:prstGeom>
            <a:solidFill>
              <a:srgbClr val="93CF9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6672241" y="2789096"/>
              <a:ext cx="1260000" cy="126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64" name="Google Shape;564;p23"/>
          <p:cNvSpPr txBox="1"/>
          <p:nvPr/>
        </p:nvSpPr>
        <p:spPr>
          <a:xfrm>
            <a:off x="9816411" y="4187279"/>
            <a:ext cx="257405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TextBlob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Lemmatizer</a:t>
            </a:r>
            <a:endParaRPr sz="22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8765376" y="6004115"/>
            <a:ext cx="4676124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 robust, speedy, and user-friendly NLP package that internally employs WordNet for lemmatization.</a:t>
            </a:r>
            <a:endParaRPr/>
          </a:p>
        </p:txBody>
      </p:sp>
      <p:sp>
        <p:nvSpPr>
          <p:cNvPr id="566" name="Google Shape;566;p23"/>
          <p:cNvSpPr/>
          <p:nvPr/>
        </p:nvSpPr>
        <p:spPr>
          <a:xfrm>
            <a:off x="6709102" y="816324"/>
            <a:ext cx="285619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Stemming vs Lemmatization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2" name="Google Shape;572;p2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The decision between stemming and lemmatization relies on the requirements and objectives of the specific natural language processing (NLP) task.</a:t>
            </a:r>
            <a:endParaRPr/>
          </a:p>
        </p:txBody>
      </p:sp>
      <p:graphicFrame>
        <p:nvGraphicFramePr>
          <p:cNvPr id="573" name="Google Shape;573;p24"/>
          <p:cNvGraphicFramePr/>
          <p:nvPr>
            <p:extLst>
              <p:ext uri="{D42A27DB-BD31-4B8C-83A1-F6EECF244321}">
                <p14:modId xmlns:p14="http://schemas.microsoft.com/office/powerpoint/2010/main" val="1078431359"/>
              </p:ext>
            </p:extLst>
          </p:nvPr>
        </p:nvGraphicFramePr>
        <p:xfrm>
          <a:off x="2215589" y="3188901"/>
          <a:ext cx="12459400" cy="4442275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29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Stemming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Lemmatization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Linguistic Analysis</a:t>
                      </a:r>
                      <a:endParaRPr sz="2200" b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Rule-based and does not consider the context or part of speech.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Lemmatization considers the context and grammatical structure.</a:t>
                      </a:r>
                      <a:endParaRPr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Output Form</a:t>
                      </a:r>
                      <a:endParaRPr sz="2200" b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Stemming may result in stems that are not actual words.</a:t>
                      </a:r>
                      <a:endParaRPr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Lemmatization always returns valid words from the language.</a:t>
                      </a:r>
                      <a:endParaRPr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0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Computational Cost</a:t>
                      </a:r>
                      <a:endParaRPr sz="2200" b="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Stemming is less precise but computationally faster.</a:t>
                      </a:r>
                      <a:endParaRPr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Lemmatization is more accurate but can be computationally more intensive.</a:t>
                      </a:r>
                      <a:endParaRPr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4" name="Google Shape;574;p24"/>
          <p:cNvSpPr/>
          <p:nvPr/>
        </p:nvSpPr>
        <p:spPr>
          <a:xfrm>
            <a:off x="5607236" y="816324"/>
            <a:ext cx="505993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5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Parts of Speech Tagging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25"/>
          <p:cNvSpPr txBox="1">
            <a:spLocks noGrp="1"/>
          </p:cNvSpPr>
          <p:nvPr>
            <p:ph type="body" idx="2"/>
          </p:nvPr>
        </p:nvSpPr>
        <p:spPr>
          <a:xfrm>
            <a:off x="992441" y="1464369"/>
            <a:ext cx="1428951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Part of speech (</a:t>
            </a:r>
            <a:r>
              <a:rPr lang="en-US" dirty="0" err="1">
                <a:latin typeface="Open Sans"/>
                <a:ea typeface="Open Sans"/>
                <a:cs typeface="Open Sans"/>
                <a:sym typeface="Open Sans"/>
              </a:rPr>
              <a:t>PoS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) tagging provides essential information about the syntactic and semantic characteristics of words in any given text, enabling more accurate language understanding and processing.</a:t>
            </a:r>
            <a:endParaRPr dirty="0"/>
          </a:p>
        </p:txBody>
      </p:sp>
      <p:sp>
        <p:nvSpPr>
          <p:cNvPr id="581" name="Google Shape;581;p25"/>
          <p:cNvSpPr/>
          <p:nvPr/>
        </p:nvSpPr>
        <p:spPr>
          <a:xfrm>
            <a:off x="5652556" y="5430326"/>
            <a:ext cx="2276137" cy="2193878"/>
          </a:xfrm>
          <a:custGeom>
            <a:avLst/>
            <a:gdLst/>
            <a:ahLst/>
            <a:cxnLst/>
            <a:rect l="l" t="t" r="r" b="b"/>
            <a:pathLst>
              <a:path w="2845818" h="1866900" extrusionOk="0">
                <a:moveTo>
                  <a:pt x="0" y="0"/>
                </a:moveTo>
                <a:lnTo>
                  <a:pt x="2845818" y="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A29F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5652556" y="3236448"/>
            <a:ext cx="2276137" cy="2193878"/>
          </a:xfrm>
          <a:custGeom>
            <a:avLst/>
            <a:gdLst/>
            <a:ahLst/>
            <a:cxnLst/>
            <a:rect l="l" t="t" r="r" b="b"/>
            <a:pathLst>
              <a:path w="2845818" h="1866900" extrusionOk="0">
                <a:moveTo>
                  <a:pt x="0" y="0"/>
                </a:moveTo>
                <a:lnTo>
                  <a:pt x="2845818" y="1866900"/>
                </a:lnTo>
                <a:lnTo>
                  <a:pt x="0" y="1866900"/>
                </a:lnTo>
                <a:lnTo>
                  <a:pt x="0" y="933450"/>
                </a:lnTo>
                <a:close/>
              </a:path>
            </a:pathLst>
          </a:custGeom>
          <a:solidFill>
            <a:srgbClr val="7CB0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5652557" y="5430326"/>
            <a:ext cx="2276136" cy="1096940"/>
          </a:xfrm>
          <a:custGeom>
            <a:avLst/>
            <a:gdLst/>
            <a:ahLst/>
            <a:cxnLst/>
            <a:rect l="l" t="t" r="r" b="b"/>
            <a:pathLst>
              <a:path w="2845817" h="933450" extrusionOk="0">
                <a:moveTo>
                  <a:pt x="0" y="0"/>
                </a:moveTo>
                <a:lnTo>
                  <a:pt x="2845817" y="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7CB0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5652557" y="4333387"/>
            <a:ext cx="2276136" cy="1096939"/>
          </a:xfrm>
          <a:custGeom>
            <a:avLst/>
            <a:gdLst/>
            <a:ahLst/>
            <a:cxnLst/>
            <a:rect l="l" t="t" r="r" b="b"/>
            <a:pathLst>
              <a:path w="2845817" h="933450" extrusionOk="0">
                <a:moveTo>
                  <a:pt x="0" y="0"/>
                </a:moveTo>
                <a:lnTo>
                  <a:pt x="2845817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A29F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2959273" y="3236448"/>
            <a:ext cx="2693284" cy="1096939"/>
          </a:xfrm>
          <a:prstGeom prst="rect">
            <a:avLst/>
          </a:prstGeom>
          <a:solidFill>
            <a:srgbClr val="93CF9F"/>
          </a:solidFill>
          <a:ln>
            <a:noFill/>
          </a:ln>
        </p:spPr>
        <p:txBody>
          <a:bodyPr spcFirstLastPara="1" wrap="square" lIns="365750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2959273" y="4333387"/>
            <a:ext cx="2693284" cy="1096939"/>
          </a:xfrm>
          <a:prstGeom prst="rect">
            <a:avLst/>
          </a:prstGeom>
          <a:solidFill>
            <a:srgbClr val="D8D5C4"/>
          </a:solidFill>
          <a:ln>
            <a:noFill/>
          </a:ln>
        </p:spPr>
        <p:txBody>
          <a:bodyPr spcFirstLastPara="1" wrap="square" lIns="365750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2959273" y="5430326"/>
            <a:ext cx="2693284" cy="1096939"/>
          </a:xfrm>
          <a:prstGeom prst="rect">
            <a:avLst/>
          </a:prstGeom>
          <a:solidFill>
            <a:srgbClr val="93CF9F"/>
          </a:solidFill>
          <a:ln>
            <a:noFill/>
          </a:ln>
        </p:spPr>
        <p:txBody>
          <a:bodyPr spcFirstLastPara="1" wrap="square" lIns="365750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2959273" y="6527264"/>
            <a:ext cx="2693284" cy="1096939"/>
          </a:xfrm>
          <a:prstGeom prst="rect">
            <a:avLst/>
          </a:prstGeom>
          <a:solidFill>
            <a:srgbClr val="D8D5C4"/>
          </a:solidFill>
          <a:ln>
            <a:noFill/>
          </a:ln>
        </p:spPr>
        <p:txBody>
          <a:bodyPr spcFirstLastPara="1" wrap="square" lIns="365750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2142969" y="3361837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548135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RB</a:t>
            </a:r>
            <a:endParaRPr/>
          </a:p>
        </p:txBody>
      </p:sp>
      <p:sp>
        <p:nvSpPr>
          <p:cNvPr id="590" name="Google Shape;590;p25"/>
          <p:cNvSpPr/>
          <p:nvPr/>
        </p:nvSpPr>
        <p:spPr>
          <a:xfrm>
            <a:off x="2142969" y="4463568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DBAAC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DT</a:t>
            </a:r>
            <a:endParaRPr sz="2200">
              <a:solidFill>
                <a:srgbClr val="F7CA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2142969" y="5560507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548135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CC</a:t>
            </a:r>
            <a:endParaRPr/>
          </a:p>
        </p:txBody>
      </p:sp>
      <p:sp>
        <p:nvSpPr>
          <p:cNvPr id="592" name="Google Shape;592;p25"/>
          <p:cNvSpPr/>
          <p:nvPr/>
        </p:nvSpPr>
        <p:spPr>
          <a:xfrm>
            <a:off x="2142969" y="6657446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DBAAC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endParaRPr/>
          </a:p>
        </p:txBody>
      </p:sp>
      <p:sp>
        <p:nvSpPr>
          <p:cNvPr id="593" name="Google Shape;593;p25"/>
          <p:cNvSpPr/>
          <p:nvPr/>
        </p:nvSpPr>
        <p:spPr>
          <a:xfrm flipH="1">
            <a:off x="8175604" y="5430326"/>
            <a:ext cx="2274851" cy="2193878"/>
          </a:xfrm>
          <a:custGeom>
            <a:avLst/>
            <a:gdLst/>
            <a:ahLst/>
            <a:cxnLst/>
            <a:rect l="l" t="t" r="r" b="b"/>
            <a:pathLst>
              <a:path w="2845818" h="1866900" extrusionOk="0">
                <a:moveTo>
                  <a:pt x="0" y="0"/>
                </a:moveTo>
                <a:lnTo>
                  <a:pt x="2845818" y="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A29F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" name="Google Shape;594;p25"/>
          <p:cNvSpPr/>
          <p:nvPr/>
        </p:nvSpPr>
        <p:spPr>
          <a:xfrm flipH="1">
            <a:off x="8175604" y="3236448"/>
            <a:ext cx="2274851" cy="2193878"/>
          </a:xfrm>
          <a:custGeom>
            <a:avLst/>
            <a:gdLst/>
            <a:ahLst/>
            <a:cxnLst/>
            <a:rect l="l" t="t" r="r" b="b"/>
            <a:pathLst>
              <a:path w="2845818" h="1866900" extrusionOk="0">
                <a:moveTo>
                  <a:pt x="0" y="0"/>
                </a:moveTo>
                <a:lnTo>
                  <a:pt x="2845818" y="1866900"/>
                </a:lnTo>
                <a:lnTo>
                  <a:pt x="0" y="1866900"/>
                </a:lnTo>
                <a:lnTo>
                  <a:pt x="0" y="933450"/>
                </a:lnTo>
                <a:close/>
              </a:path>
            </a:pathLst>
          </a:custGeom>
          <a:solidFill>
            <a:srgbClr val="7CB0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5" name="Google Shape;595;p25"/>
          <p:cNvSpPr/>
          <p:nvPr/>
        </p:nvSpPr>
        <p:spPr>
          <a:xfrm flipH="1">
            <a:off x="8175604" y="5430326"/>
            <a:ext cx="2274850" cy="1096940"/>
          </a:xfrm>
          <a:custGeom>
            <a:avLst/>
            <a:gdLst/>
            <a:ahLst/>
            <a:cxnLst/>
            <a:rect l="l" t="t" r="r" b="b"/>
            <a:pathLst>
              <a:path w="2845817" h="933450" extrusionOk="0">
                <a:moveTo>
                  <a:pt x="0" y="0"/>
                </a:moveTo>
                <a:lnTo>
                  <a:pt x="2845817" y="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7CB0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5"/>
          <p:cNvSpPr/>
          <p:nvPr/>
        </p:nvSpPr>
        <p:spPr>
          <a:xfrm flipH="1">
            <a:off x="8175604" y="4333387"/>
            <a:ext cx="2274850" cy="1096939"/>
          </a:xfrm>
          <a:custGeom>
            <a:avLst/>
            <a:gdLst/>
            <a:ahLst/>
            <a:cxnLst/>
            <a:rect l="l" t="t" r="r" b="b"/>
            <a:pathLst>
              <a:path w="2845817" h="933450" extrusionOk="0">
                <a:moveTo>
                  <a:pt x="0" y="0"/>
                </a:moveTo>
                <a:lnTo>
                  <a:pt x="2845817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A29F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10448932" y="3236448"/>
            <a:ext cx="2693284" cy="1096939"/>
          </a:xfrm>
          <a:prstGeom prst="rect">
            <a:avLst/>
          </a:prstGeom>
          <a:solidFill>
            <a:srgbClr val="93CF9F"/>
          </a:solidFill>
          <a:ln>
            <a:noFill/>
          </a:ln>
        </p:spPr>
        <p:txBody>
          <a:bodyPr spcFirstLastPara="1" wrap="square" lIns="91425" tIns="45700" rIns="365750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10448932" y="4333387"/>
            <a:ext cx="2693284" cy="1096939"/>
          </a:xfrm>
          <a:prstGeom prst="rect">
            <a:avLst/>
          </a:prstGeom>
          <a:solidFill>
            <a:srgbClr val="D8D5C4"/>
          </a:solidFill>
          <a:ln>
            <a:noFill/>
          </a:ln>
        </p:spPr>
        <p:txBody>
          <a:bodyPr spcFirstLastPara="1" wrap="square" lIns="91425" tIns="45700" rIns="365750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10448932" y="5430326"/>
            <a:ext cx="2693284" cy="1096939"/>
          </a:xfrm>
          <a:prstGeom prst="rect">
            <a:avLst/>
          </a:prstGeom>
          <a:solidFill>
            <a:srgbClr val="93CF9F"/>
          </a:solidFill>
          <a:ln>
            <a:noFill/>
          </a:ln>
        </p:spPr>
        <p:txBody>
          <a:bodyPr spcFirstLastPara="1" wrap="square" lIns="91425" tIns="45700" rIns="365750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10448932" y="6527264"/>
            <a:ext cx="2693284" cy="1096939"/>
          </a:xfrm>
          <a:prstGeom prst="rect">
            <a:avLst/>
          </a:prstGeom>
          <a:solidFill>
            <a:srgbClr val="D8D5C4"/>
          </a:solidFill>
          <a:ln>
            <a:noFill/>
          </a:ln>
        </p:spPr>
        <p:txBody>
          <a:bodyPr spcFirstLastPara="1" wrap="square" lIns="91425" tIns="45700" rIns="365750" bIns="45700" anchor="ctr" anchorCtr="0">
            <a:noAutofit/>
          </a:bodyPr>
          <a:lstStyle/>
          <a:p>
            <a:pPr marL="0" marR="0" lvl="0" indent="0" algn="just" rtl="0">
              <a:lnSpc>
                <a:spcPct val="5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12922081" y="3361837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548135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NN</a:t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>
            <a:off x="12922081" y="4463568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DBAAC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VB</a:t>
            </a:r>
            <a:endParaRPr/>
          </a:p>
        </p:txBody>
      </p:sp>
      <p:sp>
        <p:nvSpPr>
          <p:cNvPr id="603" name="Google Shape;603;p25"/>
          <p:cNvSpPr/>
          <p:nvPr/>
        </p:nvSpPr>
        <p:spPr>
          <a:xfrm>
            <a:off x="12922081" y="5560507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548135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PRP</a:t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12922081" y="6657446"/>
            <a:ext cx="1039245" cy="84616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DBAAC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JJ</a:t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6968332" y="5715423"/>
            <a:ext cx="664575" cy="423015"/>
          </a:xfrm>
          <a:custGeom>
            <a:avLst/>
            <a:gdLst/>
            <a:ahLst/>
            <a:cxnLst/>
            <a:rect l="l" t="t" r="r" b="b"/>
            <a:pathLst>
              <a:path w="627679" h="423015" extrusionOk="0">
                <a:moveTo>
                  <a:pt x="0" y="0"/>
                </a:moveTo>
                <a:lnTo>
                  <a:pt x="627679" y="0"/>
                </a:lnTo>
                <a:lnTo>
                  <a:pt x="213169" y="423015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8471222" y="5715422"/>
            <a:ext cx="664742" cy="423278"/>
          </a:xfrm>
          <a:custGeom>
            <a:avLst/>
            <a:gdLst/>
            <a:ahLst/>
            <a:cxnLst/>
            <a:rect l="l" t="t" r="r" b="b"/>
            <a:pathLst>
              <a:path w="627836" h="423278" extrusionOk="0">
                <a:moveTo>
                  <a:pt x="0" y="0"/>
                </a:moveTo>
                <a:lnTo>
                  <a:pt x="627836" y="0"/>
                </a:lnTo>
                <a:lnTo>
                  <a:pt x="414534" y="42327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7022584" y="4457922"/>
            <a:ext cx="2059126" cy="1944806"/>
          </a:xfrm>
          <a:prstGeom prst="octagon">
            <a:avLst>
              <a:gd name="adj" fmla="val 33500"/>
            </a:avLst>
          </a:prstGeom>
          <a:solidFill>
            <a:srgbClr val="46A69D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Parts of speech</a:t>
            </a:r>
            <a:endParaRPr/>
          </a:p>
        </p:txBody>
      </p:sp>
      <p:sp>
        <p:nvSpPr>
          <p:cNvPr id="608" name="Google Shape;608;p25"/>
          <p:cNvSpPr txBox="1"/>
          <p:nvPr/>
        </p:nvSpPr>
        <p:spPr>
          <a:xfrm>
            <a:off x="3420039" y="3523562"/>
            <a:ext cx="12722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Adverbs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25"/>
          <p:cNvSpPr txBox="1"/>
          <p:nvPr/>
        </p:nvSpPr>
        <p:spPr>
          <a:xfrm>
            <a:off x="3420039" y="4697190"/>
            <a:ext cx="19610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Determiner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0" name="Google Shape;610;p25"/>
          <p:cNvSpPr txBox="1"/>
          <p:nvPr/>
        </p:nvSpPr>
        <p:spPr>
          <a:xfrm>
            <a:off x="3420039" y="5794129"/>
            <a:ext cx="177175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Conjuctions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25"/>
          <p:cNvSpPr txBox="1"/>
          <p:nvPr/>
        </p:nvSpPr>
        <p:spPr>
          <a:xfrm>
            <a:off x="3420039" y="6891068"/>
            <a:ext cx="20371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Prepositions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2" name="Google Shape;612;p25"/>
          <p:cNvSpPr txBox="1"/>
          <p:nvPr/>
        </p:nvSpPr>
        <p:spPr>
          <a:xfrm>
            <a:off x="11299650" y="3524400"/>
            <a:ext cx="127225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Nouns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25"/>
          <p:cNvSpPr txBox="1"/>
          <p:nvPr/>
        </p:nvSpPr>
        <p:spPr>
          <a:xfrm>
            <a:off x="10610818" y="4698000"/>
            <a:ext cx="19610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Verbs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4" name="Google Shape;614;p25"/>
          <p:cNvSpPr txBox="1"/>
          <p:nvPr/>
        </p:nvSpPr>
        <p:spPr>
          <a:xfrm>
            <a:off x="10800154" y="5792400"/>
            <a:ext cx="177175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Pronouns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25"/>
          <p:cNvSpPr txBox="1"/>
          <p:nvPr/>
        </p:nvSpPr>
        <p:spPr>
          <a:xfrm>
            <a:off x="10534767" y="6890400"/>
            <a:ext cx="20371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Adjectives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6046321" y="816324"/>
            <a:ext cx="418176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Parts of Speech Tagging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1453889" y="4438187"/>
            <a:ext cx="4232799" cy="13158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p26"/>
          <p:cNvSpPr txBox="1"/>
          <p:nvPr/>
        </p:nvSpPr>
        <p:spPr>
          <a:xfrm>
            <a:off x="1453889" y="5096108"/>
            <a:ext cx="42505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"I love coding with Python."</a:t>
            </a:r>
            <a:endParaRPr/>
          </a:p>
        </p:txBody>
      </p:sp>
      <p:graphicFrame>
        <p:nvGraphicFramePr>
          <p:cNvPr id="624" name="Google Shape;624;p26"/>
          <p:cNvGraphicFramePr/>
          <p:nvPr/>
        </p:nvGraphicFramePr>
        <p:xfrm>
          <a:off x="6827752" y="3433647"/>
          <a:ext cx="8095775" cy="389929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14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Part of speech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Part of speech tag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Personal pronoun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PRP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love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Verb, non-3rd person singular present 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VBP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coding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Verb, gerund or present participle 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VBG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with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Preposition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Python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Proper Noun, singular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NNP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25" name="Google Shape;625;p26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9217" y="4021706"/>
            <a:ext cx="619876" cy="832958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6"/>
          <p:cNvSpPr txBox="1">
            <a:spLocks noGrp="1"/>
          </p:cNvSpPr>
          <p:nvPr>
            <p:ph type="body" idx="2"/>
          </p:nvPr>
        </p:nvSpPr>
        <p:spPr>
          <a:xfrm>
            <a:off x="1279500" y="1480325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 err="1"/>
              <a:t>PoS</a:t>
            </a:r>
            <a:r>
              <a:rPr lang="en-US" dirty="0"/>
              <a:t> tagging involves assigning words in a text corpus to specific parts of speech based on their definitions and contextual usage.</a:t>
            </a:r>
            <a:endParaRPr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 Given below is an example for </a:t>
            </a:r>
            <a:r>
              <a:rPr lang="en-US" dirty="0" err="1"/>
              <a:t>PoS</a:t>
            </a:r>
            <a:r>
              <a:rPr lang="en-US" dirty="0"/>
              <a:t> tagging:</a:t>
            </a:r>
            <a:endParaRPr dirty="0"/>
          </a:p>
        </p:txBody>
      </p:sp>
      <p:sp>
        <p:nvSpPr>
          <p:cNvPr id="627" name="Google Shape;627;p26"/>
          <p:cNvSpPr/>
          <p:nvPr/>
        </p:nvSpPr>
        <p:spPr>
          <a:xfrm>
            <a:off x="6046321" y="816324"/>
            <a:ext cx="418176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Named Entity Recognition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p27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NER, or Named Entity Recognition, is like a detective for finding and sorting important things in text. </a:t>
            </a:r>
            <a:endParaRPr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 dirty="0"/>
              <a:t>It looks for specific types of things, such as names of organizations, people, places, and more.</a:t>
            </a:r>
            <a:endParaRPr dirty="0"/>
          </a:p>
        </p:txBody>
      </p:sp>
      <p:sp>
        <p:nvSpPr>
          <p:cNvPr id="634" name="Google Shape;634;p27"/>
          <p:cNvSpPr/>
          <p:nvPr/>
        </p:nvSpPr>
        <p:spPr>
          <a:xfrm>
            <a:off x="1453889" y="4438187"/>
            <a:ext cx="4232799" cy="13158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1489229" y="5081575"/>
            <a:ext cx="42505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"I visited Paris last summer."</a:t>
            </a:r>
            <a:endParaRPr/>
          </a:p>
        </p:txBody>
      </p:sp>
      <p:graphicFrame>
        <p:nvGraphicFramePr>
          <p:cNvPr id="636" name="Google Shape;636;p27"/>
          <p:cNvGraphicFramePr/>
          <p:nvPr/>
        </p:nvGraphicFramePr>
        <p:xfrm>
          <a:off x="6827751" y="3433647"/>
          <a:ext cx="7245100" cy="335145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20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Named Entity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Other (O)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visited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Other (O)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Paris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Location (LOC)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last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Other (O)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summer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Other (O)</a:t>
                      </a:r>
                      <a:endParaRPr sz="2200">
                        <a:solidFill>
                          <a:srgbClr val="3F3F3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37" name="Google Shape;637;p27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9217" y="4021706"/>
            <a:ext cx="619876" cy="832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7"/>
          <p:cNvSpPr/>
          <p:nvPr/>
        </p:nvSpPr>
        <p:spPr>
          <a:xfrm>
            <a:off x="5820904" y="816324"/>
            <a:ext cx="4644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8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Feature Engineering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9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 and Feature Extraction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9" name="Google Shape;649;p29"/>
          <p:cNvSpPr txBox="1">
            <a:spLocks noGrp="1"/>
          </p:cNvSpPr>
          <p:nvPr>
            <p:ph type="body" idx="2"/>
          </p:nvPr>
        </p:nvSpPr>
        <p:spPr>
          <a:xfrm>
            <a:off x="1291857" y="1377598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/>
              <a:t>In natural language processing (NLP), vocabulary and feature extraction are fundamental aspects of transforming raw text data into a format suitable for machine learning models.</a:t>
            </a:r>
            <a:endParaRPr dirty="0"/>
          </a:p>
        </p:txBody>
      </p:sp>
      <p:sp>
        <p:nvSpPr>
          <p:cNvPr id="650" name="Google Shape;650;p29"/>
          <p:cNvSpPr txBox="1"/>
          <p:nvPr/>
        </p:nvSpPr>
        <p:spPr>
          <a:xfrm>
            <a:off x="8097496" y="4682277"/>
            <a:ext cx="5543550" cy="202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vocabulary comprises the set of distinct words found in a corpus or a collection of texts. It is formed by identifying unique tokens throughout the entire corpus.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51" name="Google Shape;651;p29" descr="A colorful speech bubble with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6250" r="1817" b="10477"/>
          <a:stretch/>
        </p:blipFill>
        <p:spPr>
          <a:xfrm>
            <a:off x="2810844" y="4339521"/>
            <a:ext cx="3192286" cy="270749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9"/>
          <p:cNvSpPr/>
          <p:nvPr/>
        </p:nvSpPr>
        <p:spPr>
          <a:xfrm>
            <a:off x="5110257" y="816324"/>
            <a:ext cx="603993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53" name="Google Shape;653;p29"/>
          <p:cNvGrpSpPr/>
          <p:nvPr/>
        </p:nvGrpSpPr>
        <p:grpSpPr>
          <a:xfrm>
            <a:off x="6371605" y="2755680"/>
            <a:ext cx="3512790" cy="1076130"/>
            <a:chOff x="2810106" y="3631171"/>
            <a:chExt cx="3769113" cy="1440000"/>
          </a:xfrm>
        </p:grpSpPr>
        <p:sp>
          <p:nvSpPr>
            <p:cNvPr id="654" name="Google Shape;654;p29"/>
            <p:cNvSpPr/>
            <p:nvPr/>
          </p:nvSpPr>
          <p:spPr>
            <a:xfrm>
              <a:off x="2810106" y="3631171"/>
              <a:ext cx="3769113" cy="1440000"/>
            </a:xfrm>
            <a:prstGeom prst="roundRect">
              <a:avLst>
                <a:gd name="adj" fmla="val 16667"/>
              </a:avLst>
            </a:prstGeom>
            <a:solidFill>
              <a:srgbClr val="5A6E5A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3107667" y="3901171"/>
              <a:ext cx="3173990" cy="90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44450" dist="27940" dir="5400000" algn="ctr">
                <a:srgbClr val="000000">
                  <a:alpha val="31764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56" name="Google Shape;656;p29"/>
            <p:cNvSpPr txBox="1"/>
            <p:nvPr/>
          </p:nvSpPr>
          <p:spPr>
            <a:xfrm>
              <a:off x="3230449" y="4046200"/>
              <a:ext cx="2928427" cy="639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Vocabulary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57" name="Google Shape;657;p29"/>
          <p:cNvSpPr/>
          <p:nvPr/>
        </p:nvSpPr>
        <p:spPr>
          <a:xfrm>
            <a:off x="7730836" y="4170881"/>
            <a:ext cx="6380019" cy="310861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856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0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2914650" y="4034686"/>
            <a:ext cx="10829924" cy="138480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30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Let’s look at an example of creating vocabulary.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5" name="Google Shape;665;p30"/>
          <p:cNvSpPr txBox="1"/>
          <p:nvPr/>
        </p:nvSpPr>
        <p:spPr>
          <a:xfrm>
            <a:off x="3437412" y="4242661"/>
            <a:ext cx="11551444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1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: "Text classification identifies document categories."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: "Named Entity Recognition extracts entities from text."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7071743" y="816324"/>
            <a:ext cx="211695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7" name="Google Shape;667;p30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1957" y="4108729"/>
            <a:ext cx="622668" cy="1078218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30"/>
          <p:cNvSpPr txBox="1"/>
          <p:nvPr/>
        </p:nvSpPr>
        <p:spPr>
          <a:xfrm>
            <a:off x="3684239" y="2894322"/>
            <a:ext cx="8887522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Consider the following statements as input: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2726128" y="3321011"/>
            <a:ext cx="12131064" cy="145409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5" name="Google Shape;675;p31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Let’s look at an example of creating vocabulary.</a:t>
            </a:r>
            <a:endParaRPr/>
          </a:p>
        </p:txBody>
      </p:sp>
      <p:sp>
        <p:nvSpPr>
          <p:cNvPr id="676" name="Google Shape;676;p31"/>
          <p:cNvSpPr txBox="1"/>
          <p:nvPr/>
        </p:nvSpPr>
        <p:spPr>
          <a:xfrm>
            <a:off x="2998092" y="3603145"/>
            <a:ext cx="10693424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Sentence 1</a:t>
            </a:r>
            <a:r>
              <a:rPr lang="en-US" sz="2200" b="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: "Text classification identifies document categories." </a:t>
            </a:r>
            <a:endParaRPr sz="2200" dirty="0"/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Sentence 2:</a:t>
            </a:r>
            <a:r>
              <a:rPr lang="en-US" sz="2200" b="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"Named Entity Recognition extracts entities from text."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7" name="Google Shape;677;p31"/>
          <p:cNvSpPr txBox="1"/>
          <p:nvPr/>
        </p:nvSpPr>
        <p:spPr>
          <a:xfrm>
            <a:off x="3684239" y="2547947"/>
            <a:ext cx="8887522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Obtain tokens from these statements:</a:t>
            </a:r>
            <a:endParaRPr/>
          </a:p>
        </p:txBody>
      </p:sp>
      <p:sp>
        <p:nvSpPr>
          <p:cNvPr id="678" name="Google Shape;678;p31"/>
          <p:cNvSpPr txBox="1"/>
          <p:nvPr/>
        </p:nvSpPr>
        <p:spPr>
          <a:xfrm>
            <a:off x="2998092" y="5649131"/>
            <a:ext cx="11990764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1 Tokens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: ["Text", "classification", "identifies", "document", "categories"]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2 Tokens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: ["Named", "Entity", "Recognition", "extracts", "entities", "from", "text"]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2726127" y="5406512"/>
            <a:ext cx="12131064" cy="145409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0" name="Google Shape;680;p31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527" y="3485404"/>
            <a:ext cx="622668" cy="1078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31" descr="Output Icons - Free SVG &amp; PNG Output Images - Noun Projec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2351" y="5411595"/>
            <a:ext cx="903776" cy="1191018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1"/>
          <p:cNvSpPr/>
          <p:nvPr/>
        </p:nvSpPr>
        <p:spPr>
          <a:xfrm>
            <a:off x="7071743" y="816324"/>
            <a:ext cx="211695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8" name="Google Shape;688;p32"/>
          <p:cNvSpPr/>
          <p:nvPr/>
        </p:nvSpPr>
        <p:spPr>
          <a:xfrm>
            <a:off x="2691626" y="3088842"/>
            <a:ext cx="12407145" cy="189679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9" name="Google Shape;689;p32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8935" y="3395053"/>
            <a:ext cx="622668" cy="107821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2"/>
          <p:cNvSpPr txBox="1"/>
          <p:nvPr/>
        </p:nvSpPr>
        <p:spPr>
          <a:xfrm>
            <a:off x="1995157" y="1723706"/>
            <a:ext cx="13213114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These tokes are then used to create a vocabulary using the unique words from both the sentences.</a:t>
            </a:r>
            <a:endParaRPr/>
          </a:p>
        </p:txBody>
      </p:sp>
      <p:sp>
        <p:nvSpPr>
          <p:cNvPr id="691" name="Google Shape;691;p32"/>
          <p:cNvSpPr/>
          <p:nvPr/>
        </p:nvSpPr>
        <p:spPr>
          <a:xfrm>
            <a:off x="2715855" y="5300513"/>
            <a:ext cx="12382915" cy="189679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2" name="Google Shape;692;p32" descr="Output Icons - Free SVG &amp; PNG Output Images - Noun Projec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8970" y="5628664"/>
            <a:ext cx="870610" cy="1147313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2"/>
          <p:cNvSpPr txBox="1"/>
          <p:nvPr/>
        </p:nvSpPr>
        <p:spPr>
          <a:xfrm>
            <a:off x="2956570" y="3506048"/>
            <a:ext cx="12407146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1 Tokens: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["Text", "classification", "identifies", "document", "categories"] 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2 Tokens: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["Named", "Entity", "Recognition", "extracts", "entities", "from", "text"]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4" name="Google Shape;694;p32"/>
          <p:cNvSpPr txBox="1"/>
          <p:nvPr/>
        </p:nvSpPr>
        <p:spPr>
          <a:xfrm>
            <a:off x="2768600" y="5571514"/>
            <a:ext cx="11942373" cy="137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Vocabulary</a:t>
            </a:r>
            <a:endParaRPr dirty="0"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["categories", "classification", "document", "Entity", "entities", "extracts", "from", "identifies", "Named", "Recognition", "text", "Text"]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7071743" y="816324"/>
            <a:ext cx="2116959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3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1" name="Google Shape;701;p33"/>
          <p:cNvSpPr txBox="1">
            <a:spLocks noGrp="1"/>
          </p:cNvSpPr>
          <p:nvPr>
            <p:ph type="body" idx="2"/>
          </p:nvPr>
        </p:nvSpPr>
        <p:spPr>
          <a:xfrm>
            <a:off x="1436426" y="1512833"/>
            <a:ext cx="13812952" cy="1047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 data is inherently unstructured, necessitating conversion into a numerical format for use in machine learning models. 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02" name="Google Shape;702;p33"/>
          <p:cNvGrpSpPr/>
          <p:nvPr/>
        </p:nvGrpSpPr>
        <p:grpSpPr>
          <a:xfrm>
            <a:off x="4534219" y="3962410"/>
            <a:ext cx="7187562" cy="2520000"/>
            <a:chOff x="3850257" y="3962410"/>
            <a:chExt cx="7187562" cy="2520000"/>
          </a:xfrm>
        </p:grpSpPr>
        <p:sp>
          <p:nvSpPr>
            <p:cNvPr id="703" name="Google Shape;703;p33"/>
            <p:cNvSpPr txBox="1"/>
            <p:nvPr/>
          </p:nvSpPr>
          <p:spPr>
            <a:xfrm>
              <a:off x="4438357" y="5006967"/>
              <a:ext cx="184731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 rot="5400000">
              <a:off x="3850257" y="3962410"/>
              <a:ext cx="2520000" cy="2520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5A6E5A">
                <a:alpha val="15686"/>
              </a:srgbClr>
            </a:solidFill>
            <a:ln w="381000" cap="rnd" cmpd="sng">
              <a:solidFill>
                <a:srgbClr val="28B2C7">
                  <a:alpha val="6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5" name="Google Shape;705;p33"/>
            <p:cNvSpPr txBox="1"/>
            <p:nvPr/>
          </p:nvSpPr>
          <p:spPr>
            <a:xfrm>
              <a:off x="4029328" y="4837710"/>
              <a:ext cx="2161857" cy="76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Fundamental sparse </a:t>
              </a:r>
              <a:r>
                <a:rPr lang="en-US" sz="2200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m</a:t>
              </a:r>
              <a:r>
                <a:rPr lang="en-US" sz="2200" i="0" u="none" strike="noStrike" cap="none" dirty="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rPr>
                <a:t>atrix</a:t>
              </a:r>
              <a:endParaRPr dirty="0"/>
            </a:p>
          </p:txBody>
        </p:sp>
        <p:sp>
          <p:nvSpPr>
            <p:cNvPr id="706" name="Google Shape;706;p33"/>
            <p:cNvSpPr/>
            <p:nvPr/>
          </p:nvSpPr>
          <p:spPr>
            <a:xfrm rot="5400000">
              <a:off x="8517819" y="3962410"/>
              <a:ext cx="2520000" cy="2520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5A6E5A">
                <a:alpha val="15686"/>
              </a:srgbClr>
            </a:solidFill>
            <a:ln w="381000" cap="rnd" cmpd="sng">
              <a:solidFill>
                <a:srgbClr val="28B2C7">
                  <a:alpha val="6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Open Sans"/>
                <a:buNone/>
              </a:pPr>
              <a:endParaRPr sz="2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07" name="Google Shape;707;p33"/>
            <p:cNvSpPr txBox="1"/>
            <p:nvPr/>
          </p:nvSpPr>
          <p:spPr>
            <a:xfrm>
              <a:off x="8741499" y="4668433"/>
              <a:ext cx="2072640" cy="11079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200"/>
                <a:buFont typeface="Open Sans"/>
                <a:buNone/>
              </a:pPr>
              <a:r>
                <a:rPr lang="en-US" sz="220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Positive and negative </a:t>
              </a: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f</a:t>
              </a:r>
              <a:r>
                <a:rPr lang="en-US" sz="2200" i="0" u="none" strike="noStrike" cap="none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requencies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08" name="Google Shape;708;p33"/>
          <p:cNvSpPr txBox="1"/>
          <p:nvPr/>
        </p:nvSpPr>
        <p:spPr>
          <a:xfrm>
            <a:off x="3124200" y="2878430"/>
            <a:ext cx="1087596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he foundational methods which help to create features from text data include: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9" name="Google Shape;709;p33"/>
          <p:cNvSpPr/>
          <p:nvPr/>
        </p:nvSpPr>
        <p:spPr>
          <a:xfrm>
            <a:off x="6425530" y="816324"/>
            <a:ext cx="3409384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4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Sparse Matrix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p34"/>
          <p:cNvSpPr/>
          <p:nvPr/>
        </p:nvSpPr>
        <p:spPr>
          <a:xfrm>
            <a:off x="4836376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16" name="Google Shape;716;p34"/>
          <p:cNvSpPr/>
          <p:nvPr/>
        </p:nvSpPr>
        <p:spPr>
          <a:xfrm>
            <a:off x="2890405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17" name="Google Shape;717;p34"/>
          <p:cNvSpPr/>
          <p:nvPr/>
        </p:nvSpPr>
        <p:spPr>
          <a:xfrm>
            <a:off x="6782347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18" name="Google Shape;718;p34"/>
          <p:cNvSpPr/>
          <p:nvPr/>
        </p:nvSpPr>
        <p:spPr>
          <a:xfrm>
            <a:off x="8728318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19" name="Google Shape;719;p34"/>
          <p:cNvSpPr/>
          <p:nvPr/>
        </p:nvSpPr>
        <p:spPr>
          <a:xfrm>
            <a:off x="10674289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20" name="Google Shape;720;p34"/>
          <p:cNvSpPr/>
          <p:nvPr/>
        </p:nvSpPr>
        <p:spPr>
          <a:xfrm>
            <a:off x="12620262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21" name="Google Shape;721;p34"/>
          <p:cNvSpPr txBox="1">
            <a:spLocks noGrp="1"/>
          </p:cNvSpPr>
          <p:nvPr>
            <p:ph type="body" idx="2"/>
          </p:nvPr>
        </p:nvSpPr>
        <p:spPr>
          <a:xfrm>
            <a:off x="1436426" y="1512832"/>
            <a:ext cx="13796140" cy="877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vocabulary generated previously is used to generate the sparse matrix as below: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2" name="Google Shape;722;p34"/>
          <p:cNvSpPr/>
          <p:nvPr/>
        </p:nvSpPr>
        <p:spPr>
          <a:xfrm>
            <a:off x="2919534" y="2536787"/>
            <a:ext cx="10829924" cy="88768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34"/>
          <p:cNvSpPr txBox="1"/>
          <p:nvPr/>
        </p:nvSpPr>
        <p:spPr>
          <a:xfrm>
            <a:off x="3277393" y="2748140"/>
            <a:ext cx="970121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1: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"Text classification identifies document categories."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24" name="Google Shape;724;p34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3859" y="2536787"/>
            <a:ext cx="506686" cy="8773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5" name="Google Shape;725;p34"/>
          <p:cNvGraphicFramePr/>
          <p:nvPr>
            <p:extLst>
              <p:ext uri="{D42A27DB-BD31-4B8C-83A1-F6EECF244321}">
                <p14:modId xmlns:p14="http://schemas.microsoft.com/office/powerpoint/2010/main" val="54751372"/>
              </p:ext>
            </p:extLst>
          </p:nvPr>
        </p:nvGraphicFramePr>
        <p:xfrm>
          <a:off x="2312329" y="3897081"/>
          <a:ext cx="11664000" cy="7620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classification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document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entities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extracts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from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6" name="Google Shape;726;p34"/>
          <p:cNvGraphicFramePr/>
          <p:nvPr/>
        </p:nvGraphicFramePr>
        <p:xfrm>
          <a:off x="2312329" y="6172080"/>
          <a:ext cx="11664000" cy="7620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Entity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Recognition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27" name="Google Shape;727;p34"/>
          <p:cNvCxnSpPr/>
          <p:nvPr/>
        </p:nvCxnSpPr>
        <p:spPr>
          <a:xfrm>
            <a:off x="5189099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8" name="Google Shape;728;p34"/>
          <p:cNvCxnSpPr/>
          <p:nvPr/>
        </p:nvCxnSpPr>
        <p:spPr>
          <a:xfrm>
            <a:off x="12978606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9" name="Google Shape;729;p34"/>
          <p:cNvCxnSpPr/>
          <p:nvPr/>
        </p:nvCxnSpPr>
        <p:spPr>
          <a:xfrm>
            <a:off x="3241722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0" name="Google Shape;730;p34"/>
          <p:cNvCxnSpPr/>
          <p:nvPr/>
        </p:nvCxnSpPr>
        <p:spPr>
          <a:xfrm>
            <a:off x="7136476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1" name="Google Shape;731;p34"/>
          <p:cNvCxnSpPr/>
          <p:nvPr/>
        </p:nvCxnSpPr>
        <p:spPr>
          <a:xfrm>
            <a:off x="9083853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2" name="Google Shape;732;p34"/>
          <p:cNvCxnSpPr/>
          <p:nvPr/>
        </p:nvCxnSpPr>
        <p:spPr>
          <a:xfrm>
            <a:off x="11031230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3" name="Google Shape;733;p34"/>
          <p:cNvCxnSpPr/>
          <p:nvPr/>
        </p:nvCxnSpPr>
        <p:spPr>
          <a:xfrm>
            <a:off x="51876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4" name="Google Shape;734;p34"/>
          <p:cNvCxnSpPr/>
          <p:nvPr/>
        </p:nvCxnSpPr>
        <p:spPr>
          <a:xfrm>
            <a:off x="129780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5" name="Google Shape;735;p34"/>
          <p:cNvCxnSpPr/>
          <p:nvPr/>
        </p:nvCxnSpPr>
        <p:spPr>
          <a:xfrm>
            <a:off x="3250405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6" name="Google Shape;736;p34"/>
          <p:cNvCxnSpPr/>
          <p:nvPr/>
        </p:nvCxnSpPr>
        <p:spPr>
          <a:xfrm>
            <a:off x="71352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7" name="Google Shape;737;p34"/>
          <p:cNvCxnSpPr/>
          <p:nvPr/>
        </p:nvCxnSpPr>
        <p:spPr>
          <a:xfrm>
            <a:off x="90828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8" name="Google Shape;738;p34"/>
          <p:cNvCxnSpPr/>
          <p:nvPr/>
        </p:nvCxnSpPr>
        <p:spPr>
          <a:xfrm>
            <a:off x="110304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9" name="Google Shape;739;p34"/>
          <p:cNvSpPr/>
          <p:nvPr/>
        </p:nvSpPr>
        <p:spPr>
          <a:xfrm>
            <a:off x="4836376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40" name="Google Shape;740;p34"/>
          <p:cNvSpPr/>
          <p:nvPr/>
        </p:nvSpPr>
        <p:spPr>
          <a:xfrm>
            <a:off x="2890405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>
            <a:off x="6782347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8728318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10674289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12620262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5110257" y="816324"/>
            <a:ext cx="603993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5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Sparse Matrix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1" name="Google Shape;751;p35"/>
          <p:cNvSpPr/>
          <p:nvPr/>
        </p:nvSpPr>
        <p:spPr>
          <a:xfrm>
            <a:off x="4836376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52" name="Google Shape;752;p35"/>
          <p:cNvSpPr/>
          <p:nvPr/>
        </p:nvSpPr>
        <p:spPr>
          <a:xfrm>
            <a:off x="2890405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53" name="Google Shape;753;p35"/>
          <p:cNvSpPr/>
          <p:nvPr/>
        </p:nvSpPr>
        <p:spPr>
          <a:xfrm>
            <a:off x="6782347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54" name="Google Shape;754;p35"/>
          <p:cNvSpPr/>
          <p:nvPr/>
        </p:nvSpPr>
        <p:spPr>
          <a:xfrm>
            <a:off x="8728318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55" name="Google Shape;755;p35"/>
          <p:cNvSpPr/>
          <p:nvPr/>
        </p:nvSpPr>
        <p:spPr>
          <a:xfrm>
            <a:off x="10674289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56" name="Google Shape;756;p35"/>
          <p:cNvSpPr/>
          <p:nvPr/>
        </p:nvSpPr>
        <p:spPr>
          <a:xfrm>
            <a:off x="12620262" y="4954278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57" name="Google Shape;757;p35"/>
          <p:cNvSpPr txBox="1">
            <a:spLocks noGrp="1"/>
          </p:cNvSpPr>
          <p:nvPr>
            <p:ph type="body" idx="2"/>
          </p:nvPr>
        </p:nvSpPr>
        <p:spPr>
          <a:xfrm>
            <a:off x="1436426" y="1512832"/>
            <a:ext cx="13796140" cy="877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vocabulary generated previously is used to generate the sparse matrix as below: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58" name="Google Shape;758;p35"/>
          <p:cNvSpPr/>
          <p:nvPr/>
        </p:nvSpPr>
        <p:spPr>
          <a:xfrm>
            <a:off x="2919534" y="2536787"/>
            <a:ext cx="10829924" cy="88768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35"/>
          <p:cNvSpPr txBox="1"/>
          <p:nvPr/>
        </p:nvSpPr>
        <p:spPr>
          <a:xfrm>
            <a:off x="3277393" y="2748140"/>
            <a:ext cx="970121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2: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"Named Entity Recognition extracts entities from text."</a:t>
            </a:r>
            <a:endParaRPr sz="2200" b="0" i="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0" name="Google Shape;760;p35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3859" y="2536787"/>
            <a:ext cx="506686" cy="8773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1" name="Google Shape;761;p35"/>
          <p:cNvGraphicFramePr/>
          <p:nvPr/>
        </p:nvGraphicFramePr>
        <p:xfrm>
          <a:off x="2312329" y="3897081"/>
          <a:ext cx="11664000" cy="7620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categories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classification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document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entities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extracts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from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2" name="Google Shape;762;p35"/>
          <p:cNvGraphicFramePr/>
          <p:nvPr/>
        </p:nvGraphicFramePr>
        <p:xfrm>
          <a:off x="2312329" y="6172080"/>
          <a:ext cx="11664000" cy="7620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Entity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Recognition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Text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3" name="Google Shape;763;p35"/>
          <p:cNvCxnSpPr/>
          <p:nvPr/>
        </p:nvCxnSpPr>
        <p:spPr>
          <a:xfrm>
            <a:off x="5189099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4" name="Google Shape;764;p35"/>
          <p:cNvCxnSpPr/>
          <p:nvPr/>
        </p:nvCxnSpPr>
        <p:spPr>
          <a:xfrm>
            <a:off x="12978606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5" name="Google Shape;765;p35"/>
          <p:cNvCxnSpPr/>
          <p:nvPr/>
        </p:nvCxnSpPr>
        <p:spPr>
          <a:xfrm>
            <a:off x="3241722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6" name="Google Shape;766;p35"/>
          <p:cNvCxnSpPr/>
          <p:nvPr/>
        </p:nvCxnSpPr>
        <p:spPr>
          <a:xfrm>
            <a:off x="7136476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7" name="Google Shape;767;p35"/>
          <p:cNvCxnSpPr/>
          <p:nvPr/>
        </p:nvCxnSpPr>
        <p:spPr>
          <a:xfrm>
            <a:off x="9083853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8" name="Google Shape;768;p35"/>
          <p:cNvCxnSpPr/>
          <p:nvPr/>
        </p:nvCxnSpPr>
        <p:spPr>
          <a:xfrm>
            <a:off x="11031230" y="4653643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9" name="Google Shape;769;p35"/>
          <p:cNvCxnSpPr/>
          <p:nvPr/>
        </p:nvCxnSpPr>
        <p:spPr>
          <a:xfrm>
            <a:off x="51876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0" name="Google Shape;770;p35"/>
          <p:cNvCxnSpPr/>
          <p:nvPr/>
        </p:nvCxnSpPr>
        <p:spPr>
          <a:xfrm>
            <a:off x="129780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1" name="Google Shape;771;p35"/>
          <p:cNvCxnSpPr/>
          <p:nvPr/>
        </p:nvCxnSpPr>
        <p:spPr>
          <a:xfrm>
            <a:off x="32400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2" name="Google Shape;772;p35"/>
          <p:cNvCxnSpPr/>
          <p:nvPr/>
        </p:nvCxnSpPr>
        <p:spPr>
          <a:xfrm>
            <a:off x="71352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3" name="Google Shape;773;p35"/>
          <p:cNvCxnSpPr/>
          <p:nvPr/>
        </p:nvCxnSpPr>
        <p:spPr>
          <a:xfrm>
            <a:off x="90828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74" name="Google Shape;774;p35"/>
          <p:cNvCxnSpPr/>
          <p:nvPr/>
        </p:nvCxnSpPr>
        <p:spPr>
          <a:xfrm>
            <a:off x="11030400" y="6928756"/>
            <a:ext cx="0" cy="315145"/>
          </a:xfrm>
          <a:prstGeom prst="straightConnector1">
            <a:avLst/>
          </a:prstGeom>
          <a:noFill/>
          <a:ln w="9525" cap="flat" cmpd="sng">
            <a:solidFill>
              <a:srgbClr val="46A69D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5" name="Google Shape;775;p35"/>
          <p:cNvSpPr/>
          <p:nvPr/>
        </p:nvSpPr>
        <p:spPr>
          <a:xfrm>
            <a:off x="4821136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76" name="Google Shape;776;p35"/>
          <p:cNvSpPr/>
          <p:nvPr/>
        </p:nvSpPr>
        <p:spPr>
          <a:xfrm>
            <a:off x="2871355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77" name="Google Shape;777;p35"/>
          <p:cNvSpPr/>
          <p:nvPr/>
        </p:nvSpPr>
        <p:spPr>
          <a:xfrm>
            <a:off x="6770917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78" name="Google Shape;778;p35"/>
          <p:cNvSpPr/>
          <p:nvPr/>
        </p:nvSpPr>
        <p:spPr>
          <a:xfrm>
            <a:off x="8720698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79" name="Google Shape;779;p35"/>
          <p:cNvSpPr/>
          <p:nvPr/>
        </p:nvSpPr>
        <p:spPr>
          <a:xfrm>
            <a:off x="10670479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780" name="Google Shape;780;p35"/>
          <p:cNvSpPr/>
          <p:nvPr/>
        </p:nvSpPr>
        <p:spPr>
          <a:xfrm>
            <a:off x="12620262" y="7262049"/>
            <a:ext cx="720000" cy="720000"/>
          </a:xfrm>
          <a:prstGeom prst="ellipse">
            <a:avLst/>
          </a:prstGeom>
          <a:solidFill>
            <a:srgbClr val="91CD9E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endParaRPr/>
          </a:p>
        </p:txBody>
      </p:sp>
      <p:sp>
        <p:nvSpPr>
          <p:cNvPr id="781" name="Google Shape;781;p35"/>
          <p:cNvSpPr/>
          <p:nvPr/>
        </p:nvSpPr>
        <p:spPr>
          <a:xfrm>
            <a:off x="5110257" y="816324"/>
            <a:ext cx="603993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6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Sparse Matrix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7" name="Google Shape;787;p36"/>
          <p:cNvSpPr/>
          <p:nvPr/>
        </p:nvSpPr>
        <p:spPr>
          <a:xfrm>
            <a:off x="2919534" y="3812573"/>
            <a:ext cx="10829923" cy="847316"/>
          </a:xfrm>
          <a:prstGeom prst="roundRect">
            <a:avLst>
              <a:gd name="adj" fmla="val 16667"/>
            </a:avLst>
          </a:prstGeom>
          <a:solidFill>
            <a:srgbClr val="5A6E5A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8" name="Google Shape;788;p36"/>
          <p:cNvSpPr txBox="1">
            <a:spLocks noGrp="1"/>
          </p:cNvSpPr>
          <p:nvPr>
            <p:ph type="body" idx="2"/>
          </p:nvPr>
        </p:nvSpPr>
        <p:spPr>
          <a:xfrm>
            <a:off x="1436426" y="1512832"/>
            <a:ext cx="13796140" cy="877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The vocabulary generated previously is used to generate the sparse matrix as below: </a:t>
            </a:r>
            <a:endParaRPr/>
          </a:p>
        </p:txBody>
      </p:sp>
      <p:sp>
        <p:nvSpPr>
          <p:cNvPr id="789" name="Google Shape;789;p36"/>
          <p:cNvSpPr/>
          <p:nvPr/>
        </p:nvSpPr>
        <p:spPr>
          <a:xfrm>
            <a:off x="2919534" y="2536787"/>
            <a:ext cx="10829924" cy="88768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0" name="Google Shape;790;p36"/>
          <p:cNvSpPr txBox="1"/>
          <p:nvPr/>
        </p:nvSpPr>
        <p:spPr>
          <a:xfrm>
            <a:off x="3277393" y="2748140"/>
            <a:ext cx="970121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1: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"Text classification identifies document categories."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91" name="Google Shape;791;p36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3859" y="2536787"/>
            <a:ext cx="506686" cy="87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36"/>
          <p:cNvSpPr txBox="1"/>
          <p:nvPr/>
        </p:nvSpPr>
        <p:spPr>
          <a:xfrm>
            <a:off x="3575319" y="4008893"/>
            <a:ext cx="9518352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F2F2F2"/>
                </a:solidFill>
                <a:latin typeface="Open Sans"/>
                <a:ea typeface="Open Sans"/>
                <a:cs typeface="Open Sans"/>
                <a:sym typeface="Open Sans"/>
              </a:rPr>
              <a:t>Binary vector based on the vocabulary:  </a:t>
            </a:r>
            <a:r>
              <a:rPr lang="en-US" sz="2200" b="1">
                <a:solidFill>
                  <a:srgbClr val="F5C265"/>
                </a:solidFill>
                <a:latin typeface="Open Sans"/>
                <a:ea typeface="Open Sans"/>
                <a:cs typeface="Open Sans"/>
                <a:sym typeface="Open Sans"/>
              </a:rPr>
              <a:t>[ 1, 1, 1, 0, 0, 0, 1, 0, 0, 0, 0, 1 ] </a:t>
            </a:r>
            <a:endParaRPr sz="2200" b="1">
              <a:solidFill>
                <a:srgbClr val="F5C26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3" name="Google Shape;793;p36"/>
          <p:cNvSpPr/>
          <p:nvPr/>
        </p:nvSpPr>
        <p:spPr>
          <a:xfrm>
            <a:off x="2919534" y="5275688"/>
            <a:ext cx="10829924" cy="887684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36"/>
          <p:cNvSpPr txBox="1"/>
          <p:nvPr/>
        </p:nvSpPr>
        <p:spPr>
          <a:xfrm>
            <a:off x="3277393" y="5487041"/>
            <a:ext cx="970121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 2: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"Named Entity Recognition extracts entities from text."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95" name="Google Shape;795;p36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3859" y="5275688"/>
            <a:ext cx="506686" cy="87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6"/>
          <p:cNvSpPr/>
          <p:nvPr/>
        </p:nvSpPr>
        <p:spPr>
          <a:xfrm>
            <a:off x="2919534" y="6783852"/>
            <a:ext cx="10829923" cy="847316"/>
          </a:xfrm>
          <a:prstGeom prst="roundRect">
            <a:avLst>
              <a:gd name="adj" fmla="val 16667"/>
            </a:avLst>
          </a:prstGeom>
          <a:solidFill>
            <a:srgbClr val="5A6E5A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7" name="Google Shape;797;p36"/>
          <p:cNvSpPr txBox="1"/>
          <p:nvPr/>
        </p:nvSpPr>
        <p:spPr>
          <a:xfrm>
            <a:off x="3503829" y="6980710"/>
            <a:ext cx="9661332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2F2F2"/>
                </a:solidFill>
                <a:latin typeface="Open Sans"/>
                <a:ea typeface="Open Sans"/>
                <a:cs typeface="Open Sans"/>
                <a:sym typeface="Open Sans"/>
              </a:rPr>
              <a:t>Binary vector based on the vocabulary</a:t>
            </a:r>
            <a:r>
              <a:rPr lang="en-US" sz="2200" dirty="0">
                <a:solidFill>
                  <a:srgbClr val="F2F2F2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2200" b="1" dirty="0">
                <a:solidFill>
                  <a:srgbClr val="F2F2F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00" b="1" i="0" dirty="0">
                <a:solidFill>
                  <a:srgbClr val="F5C265"/>
                </a:solidFill>
                <a:latin typeface="Open Sans"/>
                <a:ea typeface="Open Sans"/>
                <a:cs typeface="Open Sans"/>
                <a:sym typeface="Open Sans"/>
              </a:rPr>
              <a:t>[ 0, 0, 0, 1, 1, 1, 0, 0, 1, 1, 1, 1  ] </a:t>
            </a:r>
            <a:endParaRPr sz="2200" b="1" dirty="0">
              <a:solidFill>
                <a:srgbClr val="F5C26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36"/>
          <p:cNvSpPr/>
          <p:nvPr/>
        </p:nvSpPr>
        <p:spPr>
          <a:xfrm>
            <a:off x="5110257" y="816324"/>
            <a:ext cx="603993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7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Problems With Sparse Representation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4" name="Google Shape;804;p37"/>
          <p:cNvSpPr/>
          <p:nvPr/>
        </p:nvSpPr>
        <p:spPr>
          <a:xfrm>
            <a:off x="8685768" y="3493233"/>
            <a:ext cx="4928839" cy="209642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5" name="Google Shape;805;p37"/>
          <p:cNvSpPr/>
          <p:nvPr/>
        </p:nvSpPr>
        <p:spPr>
          <a:xfrm>
            <a:off x="2623535" y="3493233"/>
            <a:ext cx="4928839" cy="209642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6" name="Google Shape;806;p37"/>
          <p:cNvSpPr txBox="1">
            <a:spLocks noGrp="1"/>
          </p:cNvSpPr>
          <p:nvPr>
            <p:ph type="body" idx="2"/>
          </p:nvPr>
        </p:nvSpPr>
        <p:spPr>
          <a:xfrm>
            <a:off x="1345172" y="1549521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 lot many zeroes create high degree of redundancy in the train data.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Consider the earlier example, the binary vectors created for the two sentences are as below: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07" name="Google Shape;807;p37"/>
          <p:cNvGrpSpPr/>
          <p:nvPr/>
        </p:nvGrpSpPr>
        <p:grpSpPr>
          <a:xfrm>
            <a:off x="2012950" y="6629598"/>
            <a:ext cx="12230100" cy="1224643"/>
            <a:chOff x="1986546" y="6629598"/>
            <a:chExt cx="12230100" cy="1224643"/>
          </a:xfrm>
        </p:grpSpPr>
        <p:sp>
          <p:nvSpPr>
            <p:cNvPr id="808" name="Google Shape;808;p37"/>
            <p:cNvSpPr/>
            <p:nvPr/>
          </p:nvSpPr>
          <p:spPr>
            <a:xfrm>
              <a:off x="1986546" y="6629598"/>
              <a:ext cx="12230100" cy="1224643"/>
            </a:xfrm>
            <a:prstGeom prst="roundRect">
              <a:avLst>
                <a:gd name="adj" fmla="val 16667"/>
              </a:avLst>
            </a:prstGeom>
            <a:solidFill>
              <a:srgbClr val="D8D5C4"/>
            </a:solidFill>
            <a:ln w="12700" cap="flat" cmpd="sng">
              <a:solidFill>
                <a:srgbClr val="D8D5C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09" name="Google Shape;809;p37"/>
            <p:cNvSpPr txBox="1"/>
            <p:nvPr/>
          </p:nvSpPr>
          <p:spPr>
            <a:xfrm>
              <a:off x="2811317" y="6821612"/>
              <a:ext cx="10580558" cy="864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Hence, the fundamental sparse representation is highly inefficient for training and testing the model.</a:t>
              </a:r>
              <a:endParaRPr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0" name="Google Shape;810;p37"/>
          <p:cNvSpPr/>
          <p:nvPr/>
        </p:nvSpPr>
        <p:spPr>
          <a:xfrm>
            <a:off x="4808261" y="816324"/>
            <a:ext cx="6643923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1" name="Google Shape;811;p37"/>
          <p:cNvSpPr txBox="1"/>
          <p:nvPr/>
        </p:nvSpPr>
        <p:spPr>
          <a:xfrm>
            <a:off x="1345172" y="4057020"/>
            <a:ext cx="7530170" cy="96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Binary vector for sentence 1: </a:t>
            </a:r>
            <a:endParaRPr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[1, 1, 1,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1,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1] 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2" name="Google Shape;812;p37"/>
          <p:cNvSpPr txBox="1"/>
          <p:nvPr/>
        </p:nvSpPr>
        <p:spPr>
          <a:xfrm>
            <a:off x="7385102" y="4057020"/>
            <a:ext cx="7530170" cy="99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Binary vector for sentence 2: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[</a:t>
            </a:r>
            <a:r>
              <a:rPr lang="en-US" sz="2200" b="1" i="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1, 1, 1, </a:t>
            </a:r>
            <a:r>
              <a:rPr lang="en-US" sz="2200" b="1" i="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00" b="1" i="0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lang="en-US" sz="2200" b="0" i="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1, 1, 1, 1 ] </a:t>
            </a:r>
            <a:endParaRPr sz="2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8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8" name="Google Shape;818;p3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Positive and negative frequency count is one approach to feature extraction, particularly when working with sentiment analysis or other classification tasks.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19" name="Google Shape;819;p38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0" name="Google Shape;820;p38"/>
          <p:cNvSpPr txBox="1"/>
          <p:nvPr/>
        </p:nvSpPr>
        <p:spPr>
          <a:xfrm>
            <a:off x="2840946" y="5356231"/>
            <a:ext cx="3075181" cy="125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Getting counts for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Open Sans"/>
              </a:rPr>
              <a:t> </a:t>
            </a: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positive and negative occurrences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1" name="Google Shape;821;p38"/>
          <p:cNvSpPr txBox="1"/>
          <p:nvPr/>
        </p:nvSpPr>
        <p:spPr>
          <a:xfrm>
            <a:off x="10631636" y="5576426"/>
            <a:ext cx="3430050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Creation of feature vector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2" name="Google Shape;822;p38"/>
          <p:cNvSpPr txBox="1"/>
          <p:nvPr/>
        </p:nvSpPr>
        <p:spPr>
          <a:xfrm>
            <a:off x="2404942" y="4556950"/>
            <a:ext cx="3666523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3" name="Google Shape;823;p38"/>
          <p:cNvSpPr txBox="1"/>
          <p:nvPr/>
        </p:nvSpPr>
        <p:spPr>
          <a:xfrm>
            <a:off x="10532530" y="4545172"/>
            <a:ext cx="3666523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sz="2200" b="1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24" name="Google Shape;824;p38"/>
          <p:cNvGrpSpPr/>
          <p:nvPr/>
        </p:nvGrpSpPr>
        <p:grpSpPr>
          <a:xfrm>
            <a:off x="2780170" y="3012320"/>
            <a:ext cx="11144149" cy="5172289"/>
            <a:chOff x="2860609" y="2202747"/>
            <a:chExt cx="10481057" cy="4702089"/>
          </a:xfrm>
        </p:grpSpPr>
        <p:grpSp>
          <p:nvGrpSpPr>
            <p:cNvPr id="825" name="Google Shape;825;p38"/>
            <p:cNvGrpSpPr/>
            <p:nvPr/>
          </p:nvGrpSpPr>
          <p:grpSpPr>
            <a:xfrm>
              <a:off x="5770894" y="2221293"/>
              <a:ext cx="4665000" cy="4665000"/>
              <a:chOff x="5770894" y="2221293"/>
              <a:chExt cx="4665000" cy="4665000"/>
            </a:xfrm>
          </p:grpSpPr>
          <p:grpSp>
            <p:nvGrpSpPr>
              <p:cNvPr id="826" name="Google Shape;826;p38"/>
              <p:cNvGrpSpPr/>
              <p:nvPr/>
            </p:nvGrpSpPr>
            <p:grpSpPr>
              <a:xfrm>
                <a:off x="6242866" y="2695819"/>
                <a:ext cx="3716543" cy="3716542"/>
                <a:chOff x="6242866" y="2695819"/>
                <a:chExt cx="3716543" cy="3716542"/>
              </a:xfrm>
            </p:grpSpPr>
            <p:sp>
              <p:nvSpPr>
                <p:cNvPr id="827" name="Google Shape;827;p38"/>
                <p:cNvSpPr/>
                <p:nvPr/>
              </p:nvSpPr>
              <p:spPr>
                <a:xfrm>
                  <a:off x="6242866" y="2695819"/>
                  <a:ext cx="1858271" cy="37165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271" h="3716542" extrusionOk="0">
                      <a:moveTo>
                        <a:pt x="0" y="1858271"/>
                      </a:moveTo>
                      <a:cubicBezTo>
                        <a:pt x="0" y="2884410"/>
                        <a:pt x="832133" y="3716543"/>
                        <a:pt x="1858271" y="3716543"/>
                      </a:cubicBezTo>
                      <a:lnTo>
                        <a:pt x="1858271" y="0"/>
                      </a:lnTo>
                      <a:cubicBezTo>
                        <a:pt x="832133" y="0"/>
                        <a:pt x="0" y="831536"/>
                        <a:pt x="0" y="1858271"/>
                      </a:cubicBezTo>
                      <a:close/>
                    </a:path>
                  </a:pathLst>
                </a:custGeom>
                <a:solidFill>
                  <a:srgbClr val="03B9A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828" name="Google Shape;828;p38"/>
                <p:cNvSpPr/>
                <p:nvPr/>
              </p:nvSpPr>
              <p:spPr>
                <a:xfrm>
                  <a:off x="8101138" y="2695819"/>
                  <a:ext cx="1858271" cy="3715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271" h="3715945" extrusionOk="0">
                      <a:moveTo>
                        <a:pt x="0" y="0"/>
                      </a:moveTo>
                      <a:lnTo>
                        <a:pt x="0" y="3715946"/>
                      </a:lnTo>
                      <a:cubicBezTo>
                        <a:pt x="1026138" y="3715946"/>
                        <a:pt x="1858272" y="2883813"/>
                        <a:pt x="1858272" y="1857674"/>
                      </a:cubicBezTo>
                      <a:cubicBezTo>
                        <a:pt x="1858272" y="831536"/>
                        <a:pt x="1026138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C80C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829" name="Google Shape;829;p38"/>
              <p:cNvSpPr/>
              <p:nvPr/>
            </p:nvSpPr>
            <p:spPr>
              <a:xfrm rot="-2700000">
                <a:off x="6454067" y="2904466"/>
                <a:ext cx="3298653" cy="3298653"/>
              </a:xfrm>
              <a:custGeom>
                <a:avLst/>
                <a:gdLst/>
                <a:ahLst/>
                <a:cxnLst/>
                <a:rect l="l" t="t" r="r" b="b"/>
                <a:pathLst>
                  <a:path w="3298653" h="3298653" extrusionOk="0">
                    <a:moveTo>
                      <a:pt x="3298654" y="1649327"/>
                    </a:moveTo>
                    <a:cubicBezTo>
                      <a:pt x="3298654" y="2560225"/>
                      <a:pt x="2560225" y="3298654"/>
                      <a:pt x="1649327" y="3298654"/>
                    </a:cubicBezTo>
                    <a:cubicBezTo>
                      <a:pt x="738429" y="3298654"/>
                      <a:pt x="0" y="2560225"/>
                      <a:pt x="0" y="1649327"/>
                    </a:cubicBezTo>
                    <a:cubicBezTo>
                      <a:pt x="0" y="738429"/>
                      <a:pt x="738429" y="0"/>
                      <a:pt x="1649327" y="0"/>
                    </a:cubicBezTo>
                    <a:cubicBezTo>
                      <a:pt x="2560225" y="0"/>
                      <a:pt x="3298654" y="738429"/>
                      <a:pt x="3298654" y="16493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30" name="Google Shape;830;p38"/>
            <p:cNvGrpSpPr/>
            <p:nvPr/>
          </p:nvGrpSpPr>
          <p:grpSpPr>
            <a:xfrm>
              <a:off x="2860609" y="2202747"/>
              <a:ext cx="5367676" cy="3856823"/>
              <a:chOff x="2860609" y="2202747"/>
              <a:chExt cx="5367676" cy="3856823"/>
            </a:xfrm>
          </p:grpSpPr>
          <p:sp>
            <p:nvSpPr>
              <p:cNvPr id="831" name="Google Shape;831;p38"/>
              <p:cNvSpPr/>
              <p:nvPr/>
            </p:nvSpPr>
            <p:spPr>
              <a:xfrm>
                <a:off x="5509228" y="3028911"/>
                <a:ext cx="89540" cy="89540"/>
              </a:xfrm>
              <a:custGeom>
                <a:avLst/>
                <a:gdLst/>
                <a:ahLst/>
                <a:cxnLst/>
                <a:rect l="l" t="t" r="r" b="b"/>
                <a:pathLst>
                  <a:path w="89540" h="89540" extrusionOk="0">
                    <a:moveTo>
                      <a:pt x="44770" y="89541"/>
                    </a:moveTo>
                    <a:cubicBezTo>
                      <a:pt x="69245" y="89541"/>
                      <a:pt x="89541" y="69842"/>
                      <a:pt x="89541" y="44770"/>
                    </a:cubicBezTo>
                    <a:cubicBezTo>
                      <a:pt x="89541" y="20296"/>
                      <a:pt x="69842" y="0"/>
                      <a:pt x="44770" y="0"/>
                    </a:cubicBezTo>
                    <a:cubicBezTo>
                      <a:pt x="20296" y="0"/>
                      <a:pt x="0" y="19699"/>
                      <a:pt x="0" y="44770"/>
                    </a:cubicBezTo>
                    <a:cubicBezTo>
                      <a:pt x="597" y="69842"/>
                      <a:pt x="20296" y="89541"/>
                      <a:pt x="44770" y="89541"/>
                    </a:cubicBezTo>
                    <a:close/>
                  </a:path>
                </a:pathLst>
              </a:custGeom>
              <a:solidFill>
                <a:srgbClr val="03B9A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32" name="Google Shape;832;p38"/>
              <p:cNvSpPr/>
              <p:nvPr/>
            </p:nvSpPr>
            <p:spPr>
              <a:xfrm>
                <a:off x="2860609" y="2202747"/>
                <a:ext cx="5367676" cy="3856823"/>
              </a:xfrm>
              <a:custGeom>
                <a:avLst/>
                <a:gdLst/>
                <a:ahLst/>
                <a:cxnLst/>
                <a:rect l="l" t="t" r="r" b="b"/>
                <a:pathLst>
                  <a:path w="5367676" h="3856823" extrusionOk="0">
                    <a:moveTo>
                      <a:pt x="5240528" y="0"/>
                    </a:moveTo>
                    <a:cubicBezTo>
                      <a:pt x="5177850" y="0"/>
                      <a:pt x="5125916" y="45367"/>
                      <a:pt x="5115171" y="105061"/>
                    </a:cubicBezTo>
                    <a:cubicBezTo>
                      <a:pt x="4576135" y="134908"/>
                      <a:pt x="4066349" y="357567"/>
                      <a:pt x="3677145" y="733638"/>
                    </a:cubicBezTo>
                    <a:cubicBezTo>
                      <a:pt x="3283762" y="1115082"/>
                      <a:pt x="3042599" y="1624271"/>
                      <a:pt x="2999022" y="2168083"/>
                    </a:cubicBezTo>
                    <a:cubicBezTo>
                      <a:pt x="2994247" y="2228374"/>
                      <a:pt x="2991859" y="2289859"/>
                      <a:pt x="2991859" y="2351343"/>
                    </a:cubicBezTo>
                    <a:cubicBezTo>
                      <a:pt x="2991859" y="2412231"/>
                      <a:pt x="2994247" y="2473119"/>
                      <a:pt x="2999022" y="2533410"/>
                    </a:cubicBezTo>
                    <a:lnTo>
                      <a:pt x="2999022" y="3500451"/>
                    </a:lnTo>
                    <a:cubicBezTo>
                      <a:pt x="2999022" y="3668788"/>
                      <a:pt x="2862323" y="3805487"/>
                      <a:pt x="2693986" y="3805487"/>
                    </a:cubicBezTo>
                    <a:lnTo>
                      <a:pt x="356373" y="3805487"/>
                    </a:lnTo>
                    <a:cubicBezTo>
                      <a:pt x="188036" y="3805487"/>
                      <a:pt x="51337" y="3668788"/>
                      <a:pt x="51337" y="3500451"/>
                    </a:cubicBezTo>
                    <a:lnTo>
                      <a:pt x="51337" y="1202235"/>
                    </a:lnTo>
                    <a:cubicBezTo>
                      <a:pt x="51337" y="1033899"/>
                      <a:pt x="188036" y="897199"/>
                      <a:pt x="356373" y="897199"/>
                    </a:cubicBezTo>
                    <a:lnTo>
                      <a:pt x="2569226" y="897199"/>
                    </a:lnTo>
                    <a:cubicBezTo>
                      <a:pt x="2581165" y="955103"/>
                      <a:pt x="2632502" y="998679"/>
                      <a:pt x="2693986" y="998679"/>
                    </a:cubicBezTo>
                    <a:cubicBezTo>
                      <a:pt x="2763828" y="998679"/>
                      <a:pt x="2821134" y="941373"/>
                      <a:pt x="2821134" y="871531"/>
                    </a:cubicBezTo>
                    <a:cubicBezTo>
                      <a:pt x="2821134" y="801689"/>
                      <a:pt x="2763828" y="744383"/>
                      <a:pt x="2693986" y="744383"/>
                    </a:cubicBezTo>
                    <a:cubicBezTo>
                      <a:pt x="2632502" y="744383"/>
                      <a:pt x="2581165" y="787960"/>
                      <a:pt x="2569226" y="845863"/>
                    </a:cubicBezTo>
                    <a:lnTo>
                      <a:pt x="356373" y="845863"/>
                    </a:lnTo>
                    <a:cubicBezTo>
                      <a:pt x="159980" y="845863"/>
                      <a:pt x="0" y="1005842"/>
                      <a:pt x="0" y="1202235"/>
                    </a:cubicBezTo>
                    <a:lnTo>
                      <a:pt x="0" y="3500451"/>
                    </a:lnTo>
                    <a:cubicBezTo>
                      <a:pt x="0" y="3696844"/>
                      <a:pt x="159980" y="3856824"/>
                      <a:pt x="356373" y="3856824"/>
                    </a:cubicBezTo>
                    <a:lnTo>
                      <a:pt x="2693986" y="3856824"/>
                    </a:lnTo>
                    <a:cubicBezTo>
                      <a:pt x="2890379" y="3856824"/>
                      <a:pt x="3050359" y="3696844"/>
                      <a:pt x="3050359" y="3500451"/>
                    </a:cubicBezTo>
                    <a:lnTo>
                      <a:pt x="3050359" y="2171068"/>
                    </a:lnTo>
                    <a:cubicBezTo>
                      <a:pt x="3138109" y="1079266"/>
                      <a:pt x="4024563" y="216689"/>
                      <a:pt x="5116962" y="156398"/>
                    </a:cubicBezTo>
                    <a:cubicBezTo>
                      <a:pt x="5130095" y="212510"/>
                      <a:pt x="5180835" y="254893"/>
                      <a:pt x="5240528" y="254893"/>
                    </a:cubicBezTo>
                    <a:cubicBezTo>
                      <a:pt x="5310370" y="254893"/>
                      <a:pt x="5367676" y="197587"/>
                      <a:pt x="5367676" y="127745"/>
                    </a:cubicBezTo>
                    <a:cubicBezTo>
                      <a:pt x="5367676" y="57306"/>
                      <a:pt x="5310967" y="0"/>
                      <a:pt x="5240528" y="0"/>
                    </a:cubicBezTo>
                    <a:close/>
                    <a:moveTo>
                      <a:pt x="2693389" y="795123"/>
                    </a:moveTo>
                    <a:cubicBezTo>
                      <a:pt x="2735175" y="795123"/>
                      <a:pt x="2769798" y="829148"/>
                      <a:pt x="2769798" y="871531"/>
                    </a:cubicBezTo>
                    <a:cubicBezTo>
                      <a:pt x="2769798" y="913317"/>
                      <a:pt x="2735772" y="947939"/>
                      <a:pt x="2693389" y="947939"/>
                    </a:cubicBezTo>
                    <a:cubicBezTo>
                      <a:pt x="2651603" y="947939"/>
                      <a:pt x="2616981" y="913914"/>
                      <a:pt x="2616981" y="871531"/>
                    </a:cubicBezTo>
                    <a:cubicBezTo>
                      <a:pt x="2616981" y="829148"/>
                      <a:pt x="2651603" y="795123"/>
                      <a:pt x="2693389" y="795123"/>
                    </a:cubicBezTo>
                    <a:close/>
                    <a:moveTo>
                      <a:pt x="5240528" y="203556"/>
                    </a:moveTo>
                    <a:cubicBezTo>
                      <a:pt x="5198743" y="203556"/>
                      <a:pt x="5164120" y="169531"/>
                      <a:pt x="5164120" y="127148"/>
                    </a:cubicBezTo>
                    <a:cubicBezTo>
                      <a:pt x="5164120" y="85362"/>
                      <a:pt x="5198146" y="50740"/>
                      <a:pt x="5240528" y="50740"/>
                    </a:cubicBezTo>
                    <a:cubicBezTo>
                      <a:pt x="5282314" y="50740"/>
                      <a:pt x="5316937" y="84765"/>
                      <a:pt x="5316937" y="127148"/>
                    </a:cubicBezTo>
                    <a:cubicBezTo>
                      <a:pt x="5316937" y="169531"/>
                      <a:pt x="5282911" y="203556"/>
                      <a:pt x="5240528" y="203556"/>
                    </a:cubicBezTo>
                    <a:close/>
                  </a:path>
                </a:pathLst>
              </a:custGeom>
              <a:solidFill>
                <a:srgbClr val="03B9A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33" name="Google Shape;833;p38"/>
            <p:cNvGrpSpPr/>
            <p:nvPr/>
          </p:nvGrpSpPr>
          <p:grpSpPr>
            <a:xfrm>
              <a:off x="7973990" y="3048610"/>
              <a:ext cx="5367676" cy="3856226"/>
              <a:chOff x="7973990" y="3048610"/>
              <a:chExt cx="5367676" cy="3856226"/>
            </a:xfrm>
          </p:grpSpPr>
          <p:sp>
            <p:nvSpPr>
              <p:cNvPr id="834" name="Google Shape;834;p38"/>
              <p:cNvSpPr/>
              <p:nvPr/>
            </p:nvSpPr>
            <p:spPr>
              <a:xfrm>
                <a:off x="7973990" y="3048610"/>
                <a:ext cx="5367676" cy="3856226"/>
              </a:xfrm>
              <a:custGeom>
                <a:avLst/>
                <a:gdLst/>
                <a:ahLst/>
                <a:cxnLst/>
                <a:rect l="l" t="t" r="r" b="b"/>
                <a:pathLst>
                  <a:path w="5367676" h="3856226" extrusionOk="0">
                    <a:moveTo>
                      <a:pt x="5011901" y="0"/>
                    </a:moveTo>
                    <a:lnTo>
                      <a:pt x="2674287" y="0"/>
                    </a:lnTo>
                    <a:cubicBezTo>
                      <a:pt x="2477894" y="0"/>
                      <a:pt x="2317915" y="159980"/>
                      <a:pt x="2317915" y="356373"/>
                    </a:cubicBezTo>
                    <a:lnTo>
                      <a:pt x="2317915" y="1685756"/>
                    </a:lnTo>
                    <a:cubicBezTo>
                      <a:pt x="2229567" y="2777558"/>
                      <a:pt x="1343113" y="3640135"/>
                      <a:pt x="250714" y="3700426"/>
                    </a:cubicBezTo>
                    <a:cubicBezTo>
                      <a:pt x="237582" y="3644313"/>
                      <a:pt x="186842" y="3601931"/>
                      <a:pt x="127148" y="3601931"/>
                    </a:cubicBezTo>
                    <a:cubicBezTo>
                      <a:pt x="57306" y="3601931"/>
                      <a:pt x="0" y="3659237"/>
                      <a:pt x="0" y="3729079"/>
                    </a:cubicBezTo>
                    <a:cubicBezTo>
                      <a:pt x="0" y="3798921"/>
                      <a:pt x="57306" y="3856227"/>
                      <a:pt x="127148" y="3856227"/>
                    </a:cubicBezTo>
                    <a:cubicBezTo>
                      <a:pt x="189827" y="3856227"/>
                      <a:pt x="241760" y="3810859"/>
                      <a:pt x="252505" y="3751165"/>
                    </a:cubicBezTo>
                    <a:cubicBezTo>
                      <a:pt x="791541" y="3721318"/>
                      <a:pt x="1301327" y="3498660"/>
                      <a:pt x="1690532" y="3122589"/>
                    </a:cubicBezTo>
                    <a:cubicBezTo>
                      <a:pt x="2083915" y="2741741"/>
                      <a:pt x="2325078" y="2232552"/>
                      <a:pt x="2368654" y="1688741"/>
                    </a:cubicBezTo>
                    <a:cubicBezTo>
                      <a:pt x="2373430" y="1628450"/>
                      <a:pt x="2375817" y="1566965"/>
                      <a:pt x="2375817" y="1505480"/>
                    </a:cubicBezTo>
                    <a:cubicBezTo>
                      <a:pt x="2375817" y="1444593"/>
                      <a:pt x="2373430" y="1383705"/>
                      <a:pt x="2368654" y="1323414"/>
                    </a:cubicBezTo>
                    <a:lnTo>
                      <a:pt x="2368654" y="356373"/>
                    </a:lnTo>
                    <a:cubicBezTo>
                      <a:pt x="2368654" y="188036"/>
                      <a:pt x="2505354" y="51337"/>
                      <a:pt x="2673690" y="51337"/>
                    </a:cubicBezTo>
                    <a:lnTo>
                      <a:pt x="5011304" y="51337"/>
                    </a:lnTo>
                    <a:cubicBezTo>
                      <a:pt x="5179641" y="51337"/>
                      <a:pt x="5316340" y="188036"/>
                      <a:pt x="5316340" y="356373"/>
                    </a:cubicBezTo>
                    <a:lnTo>
                      <a:pt x="5316340" y="2654588"/>
                    </a:lnTo>
                    <a:cubicBezTo>
                      <a:pt x="5316340" y="2822925"/>
                      <a:pt x="5179641" y="2959624"/>
                      <a:pt x="5011304" y="2959624"/>
                    </a:cubicBezTo>
                    <a:lnTo>
                      <a:pt x="2798450" y="2959624"/>
                    </a:lnTo>
                    <a:cubicBezTo>
                      <a:pt x="2786512" y="2901721"/>
                      <a:pt x="2735175" y="2858144"/>
                      <a:pt x="2673690" y="2858144"/>
                    </a:cubicBezTo>
                    <a:cubicBezTo>
                      <a:pt x="2603848" y="2858144"/>
                      <a:pt x="2546542" y="2915451"/>
                      <a:pt x="2546542" y="2985293"/>
                    </a:cubicBezTo>
                    <a:cubicBezTo>
                      <a:pt x="2546542" y="3055134"/>
                      <a:pt x="2603848" y="3112441"/>
                      <a:pt x="2673690" y="3112441"/>
                    </a:cubicBezTo>
                    <a:cubicBezTo>
                      <a:pt x="2735175" y="3112441"/>
                      <a:pt x="2786512" y="3068864"/>
                      <a:pt x="2798450" y="3010961"/>
                    </a:cubicBezTo>
                    <a:lnTo>
                      <a:pt x="5011304" y="3010961"/>
                    </a:lnTo>
                    <a:cubicBezTo>
                      <a:pt x="5207697" y="3010961"/>
                      <a:pt x="5367677" y="2850981"/>
                      <a:pt x="5367677" y="2654588"/>
                    </a:cubicBezTo>
                    <a:lnTo>
                      <a:pt x="5367677" y="356373"/>
                    </a:lnTo>
                    <a:cubicBezTo>
                      <a:pt x="5367677" y="159980"/>
                      <a:pt x="5208293" y="0"/>
                      <a:pt x="5011901" y="0"/>
                    </a:cubicBezTo>
                    <a:close/>
                    <a:moveTo>
                      <a:pt x="127148" y="3805487"/>
                    </a:moveTo>
                    <a:cubicBezTo>
                      <a:pt x="85362" y="3805487"/>
                      <a:pt x="50740" y="3771461"/>
                      <a:pt x="50740" y="3729079"/>
                    </a:cubicBezTo>
                    <a:cubicBezTo>
                      <a:pt x="50740" y="3687293"/>
                      <a:pt x="84765" y="3652670"/>
                      <a:pt x="127148" y="3652670"/>
                    </a:cubicBezTo>
                    <a:cubicBezTo>
                      <a:pt x="168934" y="3652670"/>
                      <a:pt x="203556" y="3686696"/>
                      <a:pt x="203556" y="3729079"/>
                    </a:cubicBezTo>
                    <a:cubicBezTo>
                      <a:pt x="203556" y="3770864"/>
                      <a:pt x="169530" y="3805487"/>
                      <a:pt x="127148" y="3805487"/>
                    </a:cubicBezTo>
                    <a:close/>
                    <a:moveTo>
                      <a:pt x="2674287" y="3061104"/>
                    </a:moveTo>
                    <a:cubicBezTo>
                      <a:pt x="2632501" y="3061104"/>
                      <a:pt x="2597879" y="3027078"/>
                      <a:pt x="2597879" y="2984695"/>
                    </a:cubicBezTo>
                    <a:cubicBezTo>
                      <a:pt x="2597879" y="2942910"/>
                      <a:pt x="2631904" y="2908287"/>
                      <a:pt x="2674287" y="2908287"/>
                    </a:cubicBezTo>
                    <a:cubicBezTo>
                      <a:pt x="2716670" y="2908287"/>
                      <a:pt x="2750695" y="2942313"/>
                      <a:pt x="2750695" y="2984695"/>
                    </a:cubicBezTo>
                    <a:cubicBezTo>
                      <a:pt x="2750695" y="3027078"/>
                      <a:pt x="2716670" y="3061104"/>
                      <a:pt x="2674287" y="3061104"/>
                    </a:cubicBezTo>
                    <a:close/>
                  </a:path>
                </a:pathLst>
              </a:custGeom>
              <a:solidFill>
                <a:srgbClr val="FFC8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35" name="Google Shape;835;p38"/>
              <p:cNvSpPr/>
              <p:nvPr/>
            </p:nvSpPr>
            <p:spPr>
              <a:xfrm>
                <a:off x="10603506" y="5989132"/>
                <a:ext cx="89540" cy="89540"/>
              </a:xfrm>
              <a:custGeom>
                <a:avLst/>
                <a:gdLst/>
                <a:ahLst/>
                <a:cxnLst/>
                <a:rect l="l" t="t" r="r" b="b"/>
                <a:pathLst>
                  <a:path w="89540" h="89540" extrusionOk="0">
                    <a:moveTo>
                      <a:pt x="44770" y="0"/>
                    </a:moveTo>
                    <a:cubicBezTo>
                      <a:pt x="20296" y="0"/>
                      <a:pt x="0" y="19699"/>
                      <a:pt x="0" y="44770"/>
                    </a:cubicBezTo>
                    <a:cubicBezTo>
                      <a:pt x="0" y="69245"/>
                      <a:pt x="19699" y="89541"/>
                      <a:pt x="44770" y="89541"/>
                    </a:cubicBezTo>
                    <a:cubicBezTo>
                      <a:pt x="69842" y="89541"/>
                      <a:pt x="89541" y="69842"/>
                      <a:pt x="89541" y="44770"/>
                    </a:cubicBezTo>
                    <a:cubicBezTo>
                      <a:pt x="89541" y="19699"/>
                      <a:pt x="69246" y="0"/>
                      <a:pt x="44770" y="0"/>
                    </a:cubicBezTo>
                    <a:close/>
                  </a:path>
                </a:pathLst>
              </a:custGeom>
              <a:solidFill>
                <a:srgbClr val="FFC8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836" name="Google Shape;836;p38"/>
          <p:cNvSpPr txBox="1"/>
          <p:nvPr/>
        </p:nvSpPr>
        <p:spPr>
          <a:xfrm>
            <a:off x="7296492" y="5211845"/>
            <a:ext cx="199337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9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2" name="Google Shape;842;p39"/>
          <p:cNvSpPr/>
          <p:nvPr/>
        </p:nvSpPr>
        <p:spPr>
          <a:xfrm>
            <a:off x="3380521" y="4094017"/>
            <a:ext cx="9940624" cy="2963789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5B9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3162300" y="1660790"/>
            <a:ext cx="9909496" cy="125819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8F8F8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4" name="Google Shape;844;p39"/>
          <p:cNvSpPr/>
          <p:nvPr/>
        </p:nvSpPr>
        <p:spPr>
          <a:xfrm>
            <a:off x="3380521" y="1786076"/>
            <a:ext cx="1976709" cy="100234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5B9AD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5" name="Google Shape;845;p39"/>
          <p:cNvSpPr txBox="1"/>
          <p:nvPr/>
        </p:nvSpPr>
        <p:spPr>
          <a:xfrm>
            <a:off x="3691147" y="2086193"/>
            <a:ext cx="1300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/>
          </a:p>
        </p:txBody>
      </p:sp>
      <p:sp>
        <p:nvSpPr>
          <p:cNvPr id="846" name="Google Shape;846;p39"/>
          <p:cNvSpPr txBox="1"/>
          <p:nvPr/>
        </p:nvSpPr>
        <p:spPr>
          <a:xfrm>
            <a:off x="5722614" y="2048131"/>
            <a:ext cx="6570616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Get the positive and negative frequency count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7" name="Google Shape;847;p39"/>
          <p:cNvSpPr txBox="1"/>
          <p:nvPr/>
        </p:nvSpPr>
        <p:spPr>
          <a:xfrm>
            <a:off x="4174840" y="4722236"/>
            <a:ext cx="6236851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reate the vocabulary using the statements.</a:t>
            </a:r>
            <a:endParaRPr/>
          </a:p>
        </p:txBody>
      </p:sp>
      <p:sp>
        <p:nvSpPr>
          <p:cNvPr id="848" name="Google Shape;848;p39"/>
          <p:cNvSpPr txBox="1"/>
          <p:nvPr/>
        </p:nvSpPr>
        <p:spPr>
          <a:xfrm>
            <a:off x="4341497" y="5575911"/>
            <a:ext cx="8293848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ount the occurrences of each word in the positive and negative documents separately.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9" name="Google Shape;84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7805" y="4771374"/>
            <a:ext cx="346217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7159" y="5712429"/>
            <a:ext cx="346217" cy="3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39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0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7" name="Google Shape;857;p40"/>
          <p:cNvSpPr/>
          <p:nvPr/>
        </p:nvSpPr>
        <p:spPr>
          <a:xfrm>
            <a:off x="3162300" y="1660790"/>
            <a:ext cx="9909496" cy="125819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8F8F8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8" name="Google Shape;858;p40"/>
          <p:cNvSpPr/>
          <p:nvPr/>
        </p:nvSpPr>
        <p:spPr>
          <a:xfrm>
            <a:off x="3380521" y="1786076"/>
            <a:ext cx="1976709" cy="100234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5B9AD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9" name="Google Shape;859;p40"/>
          <p:cNvSpPr txBox="1"/>
          <p:nvPr/>
        </p:nvSpPr>
        <p:spPr>
          <a:xfrm>
            <a:off x="3691147" y="2086193"/>
            <a:ext cx="1300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/>
          </a:p>
        </p:txBody>
      </p:sp>
      <p:sp>
        <p:nvSpPr>
          <p:cNvPr id="860" name="Google Shape;860;p40"/>
          <p:cNvSpPr txBox="1"/>
          <p:nvPr/>
        </p:nvSpPr>
        <p:spPr>
          <a:xfrm>
            <a:off x="5722614" y="2059909"/>
            <a:ext cx="6570616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Get the positive and negative frequency count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1" name="Google Shape;861;p40"/>
          <p:cNvSpPr txBox="1"/>
          <p:nvPr/>
        </p:nvSpPr>
        <p:spPr>
          <a:xfrm>
            <a:off x="4341496" y="3662651"/>
            <a:ext cx="8246123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Consider the example</a:t>
            </a: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here with three statements as input:</a:t>
            </a:r>
            <a:r>
              <a:rPr lang="en-US" sz="2200" b="0" i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2" name="Google Shape;862;p40" descr="Input icon PNG and SVG Vect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3484" y="4991507"/>
            <a:ext cx="506686" cy="877382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0"/>
          <p:cNvSpPr txBox="1"/>
          <p:nvPr/>
        </p:nvSpPr>
        <p:spPr>
          <a:xfrm>
            <a:off x="3358637" y="4900034"/>
            <a:ext cx="3166853" cy="96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Statement 1</a:t>
            </a:r>
            <a:r>
              <a:rPr lang="en-US" sz="2200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dirty="0"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"I love this movie.”</a:t>
            </a:r>
            <a:endParaRPr sz="2200" b="1" i="0" dirty="0">
              <a:solidFill>
                <a:srgbClr val="00B0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4" name="Google Shape;864;p40"/>
          <p:cNvSpPr txBox="1"/>
          <p:nvPr/>
        </p:nvSpPr>
        <p:spPr>
          <a:xfrm>
            <a:off x="6940964" y="4900034"/>
            <a:ext cx="3689130" cy="96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Statement 2:  </a:t>
            </a:r>
            <a:endParaRPr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"This movie is terrible.”</a:t>
            </a:r>
            <a:endParaRPr sz="2200" b="1" i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5" name="Google Shape;865;p40"/>
          <p:cNvSpPr txBox="1"/>
          <p:nvPr/>
        </p:nvSpPr>
        <p:spPr>
          <a:xfrm>
            <a:off x="11045568" y="4900034"/>
            <a:ext cx="3387436" cy="96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Statement 3: </a:t>
            </a:r>
            <a:endParaRPr/>
          </a:p>
          <a:p>
            <a:pPr marL="0" marR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2200" b="0" i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 acting is great.”</a:t>
            </a:r>
            <a:endParaRPr sz="2200" b="1">
              <a:solidFill>
                <a:srgbClr val="00B05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6" name="Google Shape;866;p40"/>
          <p:cNvSpPr/>
          <p:nvPr/>
        </p:nvSpPr>
        <p:spPr>
          <a:xfrm>
            <a:off x="3840977" y="6872643"/>
            <a:ext cx="2202173" cy="71970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65BB6C"/>
                </a:solidFill>
                <a:latin typeface="Open Sans"/>
                <a:ea typeface="Open Sans"/>
                <a:cs typeface="Open Sans"/>
                <a:sym typeface="Open Sans"/>
              </a:rPr>
              <a:t>positive</a:t>
            </a:r>
            <a:endParaRPr/>
          </a:p>
        </p:txBody>
      </p:sp>
      <p:sp>
        <p:nvSpPr>
          <p:cNvPr id="867" name="Google Shape;867;p40"/>
          <p:cNvSpPr/>
          <p:nvPr/>
        </p:nvSpPr>
        <p:spPr>
          <a:xfrm>
            <a:off x="7684443" y="6872643"/>
            <a:ext cx="2202173" cy="71970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C55A11"/>
                </a:solidFill>
                <a:latin typeface="Open Sans"/>
                <a:ea typeface="Open Sans"/>
                <a:cs typeface="Open Sans"/>
                <a:sym typeface="Open Sans"/>
              </a:rPr>
              <a:t>negative</a:t>
            </a:r>
            <a:endParaRPr/>
          </a:p>
        </p:txBody>
      </p:sp>
      <p:sp>
        <p:nvSpPr>
          <p:cNvPr id="868" name="Google Shape;868;p40"/>
          <p:cNvSpPr/>
          <p:nvPr/>
        </p:nvSpPr>
        <p:spPr>
          <a:xfrm>
            <a:off x="11638200" y="6872643"/>
            <a:ext cx="2202173" cy="71970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65BB6C"/>
                </a:solidFill>
                <a:latin typeface="Open Sans"/>
                <a:ea typeface="Open Sans"/>
                <a:cs typeface="Open Sans"/>
                <a:sym typeface="Open Sans"/>
              </a:rPr>
              <a:t>positive</a:t>
            </a:r>
            <a:endParaRPr/>
          </a:p>
        </p:txBody>
      </p:sp>
      <p:sp>
        <p:nvSpPr>
          <p:cNvPr id="869" name="Google Shape;869;p40"/>
          <p:cNvSpPr/>
          <p:nvPr/>
        </p:nvSpPr>
        <p:spPr>
          <a:xfrm>
            <a:off x="4699747" y="6168214"/>
            <a:ext cx="484632" cy="63365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0" name="Google Shape;870;p40"/>
          <p:cNvSpPr/>
          <p:nvPr/>
        </p:nvSpPr>
        <p:spPr>
          <a:xfrm>
            <a:off x="8543213" y="6168214"/>
            <a:ext cx="484632" cy="63365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1" name="Google Shape;871;p40"/>
          <p:cNvSpPr/>
          <p:nvPr/>
        </p:nvSpPr>
        <p:spPr>
          <a:xfrm>
            <a:off x="12496970" y="6168214"/>
            <a:ext cx="484632" cy="63365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2" name="Google Shape;872;p40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8" name="Google Shape;878;p41"/>
          <p:cNvSpPr txBox="1"/>
          <p:nvPr/>
        </p:nvSpPr>
        <p:spPr>
          <a:xfrm>
            <a:off x="2288859" y="3216460"/>
            <a:ext cx="11678282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positive negative frequency for the statements will be as below: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79" name="Google Shape;879;p41"/>
          <p:cNvGraphicFramePr/>
          <p:nvPr>
            <p:extLst>
              <p:ext uri="{D42A27DB-BD31-4B8C-83A1-F6EECF244321}">
                <p14:modId xmlns:p14="http://schemas.microsoft.com/office/powerpoint/2010/main" val="4264547456"/>
              </p:ext>
            </p:extLst>
          </p:nvPr>
        </p:nvGraphicFramePr>
        <p:xfrm>
          <a:off x="4341495" y="4032939"/>
          <a:ext cx="8364925" cy="43200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24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Vocabulary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 count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 count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love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this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movie</a:t>
                      </a:r>
                      <a:endParaRPr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terrible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acting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great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3F3F3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dirty="0"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80" name="Google Shape;880;p41"/>
          <p:cNvSpPr/>
          <p:nvPr/>
        </p:nvSpPr>
        <p:spPr>
          <a:xfrm>
            <a:off x="3162300" y="1660790"/>
            <a:ext cx="9909496" cy="125819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8F8F8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1" name="Google Shape;881;p41"/>
          <p:cNvSpPr/>
          <p:nvPr/>
        </p:nvSpPr>
        <p:spPr>
          <a:xfrm>
            <a:off x="3380521" y="1786076"/>
            <a:ext cx="1976709" cy="100234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5B9AD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2" name="Google Shape;882;p41"/>
          <p:cNvSpPr txBox="1"/>
          <p:nvPr/>
        </p:nvSpPr>
        <p:spPr>
          <a:xfrm>
            <a:off x="3691147" y="2086193"/>
            <a:ext cx="1300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/>
          </a:p>
        </p:txBody>
      </p:sp>
      <p:sp>
        <p:nvSpPr>
          <p:cNvPr id="883" name="Google Shape;883;p41"/>
          <p:cNvSpPr txBox="1"/>
          <p:nvPr/>
        </p:nvSpPr>
        <p:spPr>
          <a:xfrm>
            <a:off x="5722614" y="2048131"/>
            <a:ext cx="6570616" cy="4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Get the positive and negative frequency count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4" name="Google Shape;884;p41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2"/>
          <p:cNvSpPr/>
          <p:nvPr/>
        </p:nvSpPr>
        <p:spPr>
          <a:xfrm>
            <a:off x="3162300" y="1660790"/>
            <a:ext cx="9909496" cy="125819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8F8F8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881;p41">
            <a:extLst>
              <a:ext uri="{FF2B5EF4-FFF2-40B4-BE49-F238E27FC236}">
                <a16:creationId xmlns:a16="http://schemas.microsoft.com/office/drawing/2014/main" id="{DBFA00A1-AB9A-4E3D-C2D8-ABA615409E4B}"/>
              </a:ext>
            </a:extLst>
          </p:cNvPr>
          <p:cNvSpPr/>
          <p:nvPr/>
        </p:nvSpPr>
        <p:spPr>
          <a:xfrm>
            <a:off x="3380521" y="1786076"/>
            <a:ext cx="1976709" cy="100234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5" name="Google Shape;895;p42"/>
          <p:cNvSpPr txBox="1"/>
          <p:nvPr/>
        </p:nvSpPr>
        <p:spPr>
          <a:xfrm>
            <a:off x="5722614" y="2059909"/>
            <a:ext cx="6570616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Creation of feature vector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4" name="Google Shape;894;p42"/>
          <p:cNvSpPr txBox="1"/>
          <p:nvPr/>
        </p:nvSpPr>
        <p:spPr>
          <a:xfrm>
            <a:off x="3691147" y="2086193"/>
            <a:ext cx="1300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dirty="0"/>
          </a:p>
        </p:txBody>
      </p:sp>
      <p:sp>
        <p:nvSpPr>
          <p:cNvPr id="889" name="Google Shape;889;p42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0" name="Google Shape;890;p42"/>
          <p:cNvSpPr/>
          <p:nvPr/>
        </p:nvSpPr>
        <p:spPr>
          <a:xfrm>
            <a:off x="4472940" y="4572000"/>
            <a:ext cx="7315200" cy="1605372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6" name="Google Shape;896;p42"/>
          <p:cNvSpPr txBox="1"/>
          <p:nvPr/>
        </p:nvSpPr>
        <p:spPr>
          <a:xfrm>
            <a:off x="2780170" y="3318102"/>
            <a:ext cx="11372850" cy="84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Now, combine the positive and negative frequency counts to create a feature vector for each document.</a:t>
            </a:r>
            <a:endParaRPr/>
          </a:p>
        </p:txBody>
      </p:sp>
      <p:sp>
        <p:nvSpPr>
          <p:cNvPr id="897" name="Google Shape;897;p42"/>
          <p:cNvSpPr txBox="1"/>
          <p:nvPr/>
        </p:nvSpPr>
        <p:spPr>
          <a:xfrm>
            <a:off x="4898897" y="4860478"/>
            <a:ext cx="6463286" cy="9362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15982" r="-391" b="-17865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/>
          </a:p>
        </p:txBody>
      </p:sp>
      <p:cxnSp>
        <p:nvCxnSpPr>
          <p:cNvPr id="898" name="Google Shape;898;p42"/>
          <p:cNvCxnSpPr/>
          <p:nvPr/>
        </p:nvCxnSpPr>
        <p:spPr>
          <a:xfrm>
            <a:off x="7425350" y="5523693"/>
            <a:ext cx="0" cy="952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9" name="Google Shape;899;p42"/>
          <p:cNvSpPr/>
          <p:nvPr/>
        </p:nvSpPr>
        <p:spPr>
          <a:xfrm>
            <a:off x="5957835" y="6502871"/>
            <a:ext cx="2648615" cy="104775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Sum of positive frequencies</a:t>
            </a:r>
            <a:endParaRPr dirty="0"/>
          </a:p>
        </p:txBody>
      </p:sp>
      <p:sp>
        <p:nvSpPr>
          <p:cNvPr id="900" name="Google Shape;900;p42"/>
          <p:cNvSpPr/>
          <p:nvPr/>
        </p:nvSpPr>
        <p:spPr>
          <a:xfrm>
            <a:off x="9139510" y="6495243"/>
            <a:ext cx="2648615" cy="104775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Sum of negative frequencies</a:t>
            </a:r>
            <a:endParaRPr dirty="0"/>
          </a:p>
        </p:txBody>
      </p:sp>
      <p:cxnSp>
        <p:nvCxnSpPr>
          <p:cNvPr id="901" name="Google Shape;901;p42"/>
          <p:cNvCxnSpPr/>
          <p:nvPr/>
        </p:nvCxnSpPr>
        <p:spPr>
          <a:xfrm>
            <a:off x="10301900" y="5523693"/>
            <a:ext cx="0" cy="952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2" name="Google Shape;902;p42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Feature Extraction: Positive and Negative Frequency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8" name="Google Shape;908;p43"/>
          <p:cNvSpPr txBox="1"/>
          <p:nvPr/>
        </p:nvSpPr>
        <p:spPr>
          <a:xfrm>
            <a:off x="2241550" y="3569793"/>
            <a:ext cx="11772899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Based on the positive negative frequencies obtained in the previous step, the feature vector for the input statements is as below: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909" name="Google Shape;909;p43"/>
          <p:cNvGraphicFramePr/>
          <p:nvPr/>
        </p:nvGraphicFramePr>
        <p:xfrm>
          <a:off x="4356557" y="5061219"/>
          <a:ext cx="7936675" cy="1927100"/>
        </p:xfrm>
        <a:graphic>
          <a:graphicData uri="http://schemas.openxmlformats.org/drawingml/2006/table">
            <a:tbl>
              <a:tblPr firstRow="1" bandRow="1">
                <a:noFill/>
                <a:tableStyleId>{6814D297-90EE-4DFA-B4EC-A226CEF9400F}</a:tableStyleId>
              </a:tblPr>
              <a:tblGrid>
                <a:gridCol w="37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Sentence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5B9B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 vector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5B9B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2200"/>
                        <a:buFont typeface="Open Sans"/>
                        <a:buNone/>
                      </a:pPr>
                      <a:r>
                        <a:rPr lang="en-US" sz="2200" b="0" i="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"I love this movie.”</a:t>
                      </a:r>
                      <a:endParaRPr sz="2200" b="1" i="0">
                        <a:solidFill>
                          <a:srgbClr val="00B05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[1, 2, 1]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“This movie is terrible.”</a:t>
                      </a:r>
                      <a:endParaRPr sz="2200" u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[1, 1, 2]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</a:t>
                      </a:r>
                      <a:r>
                        <a:rPr lang="en-US" sz="2200" b="0" i="0">
                          <a:solidFill>
                            <a:srgbClr val="37415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acting is great.”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525" marR="9525" marT="9525" marB="0" anchor="ctr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[1, 2, 0]</a:t>
                      </a:r>
                      <a:endParaRPr/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5" name="Google Shape;915;p43"/>
          <p:cNvSpPr/>
          <p:nvPr/>
        </p:nvSpPr>
        <p:spPr>
          <a:xfrm>
            <a:off x="3266538" y="816324"/>
            <a:ext cx="9727368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892;p42">
            <a:extLst>
              <a:ext uri="{FF2B5EF4-FFF2-40B4-BE49-F238E27FC236}">
                <a16:creationId xmlns:a16="http://schemas.microsoft.com/office/drawing/2014/main" id="{973F37D0-824A-09E0-A522-595078A88E44}"/>
              </a:ext>
            </a:extLst>
          </p:cNvPr>
          <p:cNvSpPr/>
          <p:nvPr/>
        </p:nvSpPr>
        <p:spPr>
          <a:xfrm>
            <a:off x="3162300" y="1660790"/>
            <a:ext cx="9909496" cy="125819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8F8F8"/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881;p41">
            <a:extLst>
              <a:ext uri="{FF2B5EF4-FFF2-40B4-BE49-F238E27FC236}">
                <a16:creationId xmlns:a16="http://schemas.microsoft.com/office/drawing/2014/main" id="{2A81DDCC-B648-F3CF-4ABC-D27B71BC45F9}"/>
              </a:ext>
            </a:extLst>
          </p:cNvPr>
          <p:cNvSpPr/>
          <p:nvPr/>
        </p:nvSpPr>
        <p:spPr>
          <a:xfrm>
            <a:off x="3380521" y="1786076"/>
            <a:ext cx="1976709" cy="1002341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895;p42">
            <a:extLst>
              <a:ext uri="{FF2B5EF4-FFF2-40B4-BE49-F238E27FC236}">
                <a16:creationId xmlns:a16="http://schemas.microsoft.com/office/drawing/2014/main" id="{5BCBE977-07F9-AFE2-FC70-E436EA23E733}"/>
              </a:ext>
            </a:extLst>
          </p:cNvPr>
          <p:cNvSpPr txBox="1"/>
          <p:nvPr/>
        </p:nvSpPr>
        <p:spPr>
          <a:xfrm>
            <a:off x="5722614" y="2059909"/>
            <a:ext cx="6570616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Creation of feature vector</a:t>
            </a:r>
            <a:endParaRPr sz="2200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894;p42">
            <a:extLst>
              <a:ext uri="{FF2B5EF4-FFF2-40B4-BE49-F238E27FC236}">
                <a16:creationId xmlns:a16="http://schemas.microsoft.com/office/drawing/2014/main" id="{576282C7-484C-FCB6-1157-47AC57132D97}"/>
              </a:ext>
            </a:extLst>
          </p:cNvPr>
          <p:cNvSpPr txBox="1"/>
          <p:nvPr/>
        </p:nvSpPr>
        <p:spPr>
          <a:xfrm>
            <a:off x="3691147" y="2086193"/>
            <a:ext cx="1300700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4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Sentiment Analysis in Python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5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Revisiting Sentiment Analysis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6" name="Google Shape;926;p45"/>
          <p:cNvSpPr/>
          <p:nvPr/>
        </p:nvSpPr>
        <p:spPr>
          <a:xfrm>
            <a:off x="2329763" y="6534615"/>
            <a:ext cx="11753385" cy="1096552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46A6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7" name="Google Shape;927;p45"/>
          <p:cNvSpPr txBox="1">
            <a:spLocks noGrp="1"/>
          </p:cNvSpPr>
          <p:nvPr>
            <p:ph type="body" idx="2"/>
          </p:nvPr>
        </p:nvSpPr>
        <p:spPr>
          <a:xfrm>
            <a:off x="1052328" y="1512833"/>
            <a:ext cx="1415134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Sentiment analysis, also known as opinion mining, is the process of determining and extracting the sentiment or emotional tone expressed in a piece of text, such as a review, social media post, or comment.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8" name="Google Shape;928;p45"/>
          <p:cNvSpPr txBox="1"/>
          <p:nvPr/>
        </p:nvSpPr>
        <p:spPr>
          <a:xfrm>
            <a:off x="2742358" y="6727392"/>
            <a:ext cx="10928195" cy="8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The goal is to understand whether the expressed sentiment is positive, negative, or neutral. 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29" name="Google Shape;929;p45" descr="A group of emoticons with different color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25536" b="24028"/>
          <a:stretch/>
        </p:blipFill>
        <p:spPr>
          <a:xfrm>
            <a:off x="4320255" y="3367668"/>
            <a:ext cx="7772400" cy="281010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45"/>
          <p:cNvSpPr/>
          <p:nvPr/>
        </p:nvSpPr>
        <p:spPr>
          <a:xfrm>
            <a:off x="5450116" y="816324"/>
            <a:ext cx="5256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6"/>
          <p:cNvSpPr txBox="1"/>
          <p:nvPr/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Sentiment Analysis in Python</a:t>
            </a:r>
            <a:endParaRPr sz="2800" b="1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6" name="Google Shape;936;p46"/>
          <p:cNvSpPr/>
          <p:nvPr/>
        </p:nvSpPr>
        <p:spPr>
          <a:xfrm>
            <a:off x="4080107" y="7306019"/>
            <a:ext cx="8095786" cy="1023000"/>
          </a:xfrm>
          <a:prstGeom prst="roundRect">
            <a:avLst>
              <a:gd name="adj" fmla="val 16667"/>
            </a:avLst>
          </a:prstGeom>
          <a:solidFill>
            <a:srgbClr val="46A6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2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7" name="Google Shape;937;p46"/>
          <p:cNvSpPr txBox="1">
            <a:spLocks noGrp="1"/>
          </p:cNvSpPr>
          <p:nvPr>
            <p:ph type="body" idx="2"/>
          </p:nvPr>
        </p:nvSpPr>
        <p:spPr>
          <a:xfrm>
            <a:off x="2440184" y="1489836"/>
            <a:ext cx="11375631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Python provides various functions in different libraries for performing sentiment classification. These include: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8" name="Google Shape;938;p46"/>
          <p:cNvSpPr/>
          <p:nvPr/>
        </p:nvSpPr>
        <p:spPr>
          <a:xfrm>
            <a:off x="5552738" y="816324"/>
            <a:ext cx="5184000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9" name="Google Shape;939;p46"/>
          <p:cNvSpPr txBox="1"/>
          <p:nvPr/>
        </p:nvSpPr>
        <p:spPr>
          <a:xfrm>
            <a:off x="4379379" y="7590181"/>
            <a:ext cx="7497243" cy="45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Refer to the </a:t>
            </a:r>
            <a:r>
              <a:rPr lang="en-US" sz="2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-US" sz="2200" b="1" i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upyter notebooks for implementation.</a:t>
            </a:r>
            <a:endParaRPr sz="2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40" name="Google Shape;940;p46"/>
          <p:cNvGrpSpPr/>
          <p:nvPr/>
        </p:nvGrpSpPr>
        <p:grpSpPr>
          <a:xfrm>
            <a:off x="6563055" y="3012320"/>
            <a:ext cx="3286800" cy="3286800"/>
            <a:chOff x="4267200" y="1600200"/>
            <a:chExt cx="3657600" cy="3657600"/>
          </a:xfrm>
        </p:grpSpPr>
        <p:sp>
          <p:nvSpPr>
            <p:cNvPr id="941" name="Google Shape;941;p46"/>
            <p:cNvSpPr/>
            <p:nvPr/>
          </p:nvSpPr>
          <p:spPr>
            <a:xfrm>
              <a:off x="4267200" y="1600200"/>
              <a:ext cx="3657600" cy="3657600"/>
            </a:xfrm>
            <a:prstGeom prst="ellipse">
              <a:avLst/>
            </a:prstGeom>
            <a:solidFill>
              <a:schemeClr val="lt2">
                <a:alpha val="60000"/>
              </a:schemeClr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42" name="Google Shape;942;p46"/>
            <p:cNvSpPr/>
            <p:nvPr/>
          </p:nvSpPr>
          <p:spPr>
            <a:xfrm>
              <a:off x="4955745" y="2339256"/>
              <a:ext cx="2280511" cy="2280511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50000">
                  <a:srgbClr val="F2F2F2"/>
                </a:gs>
                <a:gs pos="100000">
                  <a:srgbClr val="D8D8D8"/>
                </a:gs>
              </a:gsLst>
              <a:lin ang="5400000" scaled="0"/>
            </a:gradFill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43" name="Google Shape;943;p46"/>
            <p:cNvGrpSpPr/>
            <p:nvPr/>
          </p:nvGrpSpPr>
          <p:grpSpPr>
            <a:xfrm>
              <a:off x="4267200" y="1600200"/>
              <a:ext cx="3657600" cy="3657600"/>
              <a:chOff x="3519416" y="856143"/>
              <a:chExt cx="5153167" cy="5153167"/>
            </a:xfrm>
          </p:grpSpPr>
          <p:sp>
            <p:nvSpPr>
              <p:cNvPr id="944" name="Google Shape;944;p46"/>
              <p:cNvSpPr/>
              <p:nvPr/>
            </p:nvSpPr>
            <p:spPr>
              <a:xfrm>
                <a:off x="3519416" y="856143"/>
                <a:ext cx="5153167" cy="5153167"/>
              </a:xfrm>
              <a:prstGeom prst="arc">
                <a:avLst>
                  <a:gd name="adj1" fmla="val 16679088"/>
                  <a:gd name="adj2" fmla="val 21157190"/>
                </a:avLst>
              </a:prstGeom>
              <a:noFill/>
              <a:ln w="241300" cap="rnd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5" name="Google Shape;945;p46"/>
              <p:cNvSpPr/>
              <p:nvPr/>
            </p:nvSpPr>
            <p:spPr>
              <a:xfrm>
                <a:off x="3519416" y="856143"/>
                <a:ext cx="5153167" cy="5153167"/>
              </a:xfrm>
              <a:prstGeom prst="arc">
                <a:avLst>
                  <a:gd name="adj1" fmla="val 11290348"/>
                  <a:gd name="adj2" fmla="val 15746271"/>
                </a:avLst>
              </a:prstGeom>
              <a:noFill/>
              <a:ln w="241300" cap="rnd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6" name="Google Shape;946;p46"/>
              <p:cNvSpPr/>
              <p:nvPr/>
            </p:nvSpPr>
            <p:spPr>
              <a:xfrm>
                <a:off x="3519416" y="856143"/>
                <a:ext cx="5153167" cy="5153167"/>
              </a:xfrm>
              <a:prstGeom prst="arc">
                <a:avLst>
                  <a:gd name="adj1" fmla="val 5889300"/>
                  <a:gd name="adj2" fmla="val 10394490"/>
                </a:avLst>
              </a:prstGeom>
              <a:noFill/>
              <a:ln w="241300" cap="rnd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7" name="Google Shape;947;p46"/>
              <p:cNvSpPr/>
              <p:nvPr/>
            </p:nvSpPr>
            <p:spPr>
              <a:xfrm>
                <a:off x="3519416" y="856143"/>
                <a:ext cx="5153167" cy="5153167"/>
              </a:xfrm>
              <a:prstGeom prst="arc">
                <a:avLst>
                  <a:gd name="adj1" fmla="val 496485"/>
                  <a:gd name="adj2" fmla="val 4970647"/>
                </a:avLst>
              </a:prstGeom>
              <a:noFill/>
              <a:ln w="241300" cap="rnd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rgbClr val="3F3F3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948" name="Google Shape;948;p46"/>
          <p:cNvSpPr txBox="1"/>
          <p:nvPr/>
        </p:nvSpPr>
        <p:spPr>
          <a:xfrm>
            <a:off x="7254658" y="4311864"/>
            <a:ext cx="1825976" cy="76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Sentiment analysis</a:t>
            </a:r>
            <a:endParaRPr/>
          </a:p>
        </p:txBody>
      </p:sp>
      <p:sp>
        <p:nvSpPr>
          <p:cNvPr id="949" name="Google Shape;949;p46"/>
          <p:cNvSpPr txBox="1"/>
          <p:nvPr/>
        </p:nvSpPr>
        <p:spPr>
          <a:xfrm>
            <a:off x="3352486" y="3012321"/>
            <a:ext cx="309781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Naïve Bayes classifier (NLTK)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0" name="Google Shape;950;p46"/>
          <p:cNvSpPr txBox="1"/>
          <p:nvPr/>
        </p:nvSpPr>
        <p:spPr>
          <a:xfrm>
            <a:off x="10371816" y="3046686"/>
            <a:ext cx="316871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TextBlob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sentiment analyzer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1" name="Google Shape;951;p46"/>
          <p:cNvSpPr txBox="1"/>
          <p:nvPr/>
        </p:nvSpPr>
        <p:spPr>
          <a:xfrm>
            <a:off x="10281887" y="5724150"/>
            <a:ext cx="325864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Flair: text sentiment classifier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2" name="Google Shape;952;p46"/>
          <p:cNvSpPr txBox="1"/>
          <p:nvPr/>
        </p:nvSpPr>
        <p:spPr>
          <a:xfrm>
            <a:off x="3198128" y="5582907"/>
            <a:ext cx="285536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Vader sentiment analysis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7"/>
          <p:cNvSpPr txBox="1">
            <a:spLocks noGrp="1"/>
          </p:cNvSpPr>
          <p:nvPr>
            <p:ph type="body" idx="1"/>
          </p:nvPr>
        </p:nvSpPr>
        <p:spPr>
          <a:xfrm>
            <a:off x="1332356" y="220811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>
                <a:latin typeface="Open Sans"/>
                <a:ea typeface="Open Sans"/>
                <a:cs typeface="Open Sans"/>
                <a:sym typeface="Open Sans"/>
              </a:rPr>
              <a:t>An NLP pipeline is a sequence of processing steps that are applied to a text document to extract useful information and insights. </a:t>
            </a:r>
            <a:endParaRPr/>
          </a:p>
        </p:txBody>
      </p:sp>
      <p:sp>
        <p:nvSpPr>
          <p:cNvPr id="958" name="Google Shape;958;p47"/>
          <p:cNvSpPr txBox="1">
            <a:spLocks noGrp="1"/>
          </p:cNvSpPr>
          <p:nvPr>
            <p:ph type="body" idx="2"/>
          </p:nvPr>
        </p:nvSpPr>
        <p:spPr>
          <a:xfrm>
            <a:off x="1332356" y="3362687"/>
            <a:ext cx="9445372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225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NLP pipeline includes steps like data acquisition, text cleaning, preprocessing, feature extraction, model development, and deployment.</a:t>
            </a:r>
            <a:endParaRPr dirty="0"/>
          </a:p>
        </p:txBody>
      </p:sp>
      <p:pic>
        <p:nvPicPr>
          <p:cNvPr id="959" name="Google Shape;959;p47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688" y="2298306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7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609930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47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5016454"/>
            <a:ext cx="396244" cy="387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47" descr="A blue and white circle with a white circle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636" y="3419255"/>
            <a:ext cx="396244" cy="387931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47"/>
          <p:cNvSpPr txBox="1"/>
          <p:nvPr/>
        </p:nvSpPr>
        <p:spPr>
          <a:xfrm>
            <a:off x="1332356" y="491268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225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Data acquisition can be done using various modes such as web-scrapping, image to text, pdf to text, and APIs.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64" name="Google Shape;964;p47"/>
          <p:cNvSpPr txBox="1"/>
          <p:nvPr/>
        </p:nvSpPr>
        <p:spPr>
          <a:xfrm>
            <a:off x="1332356" y="6042154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225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Text data is inherently unstructured, necessitating conversion into a numerical format for use in machine learning models.</a:t>
            </a:r>
            <a:endParaRPr sz="22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49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Identifying and extracting entities</a:t>
            </a:r>
            <a:endParaRPr/>
          </a:p>
        </p:txBody>
      </p:sp>
      <p:sp>
        <p:nvSpPr>
          <p:cNvPr id="974" name="Google Shape;974;p49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Converting text into a numerical format</a:t>
            </a:r>
            <a:endParaRPr/>
          </a:p>
        </p:txBody>
      </p:sp>
      <p:sp>
        <p:nvSpPr>
          <p:cNvPr id="975" name="Google Shape;975;p49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Breaking text into individual words or tokens</a:t>
            </a:r>
            <a:endParaRPr/>
          </a:p>
        </p:txBody>
      </p:sp>
      <p:sp>
        <p:nvSpPr>
          <p:cNvPr id="976" name="Google Shape;976;p49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Analyzing the sentiment of the text</a:t>
            </a:r>
            <a:endParaRPr/>
          </a:p>
        </p:txBody>
      </p:sp>
      <p:sp>
        <p:nvSpPr>
          <p:cNvPr id="977" name="Google Shape;977;p49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What is the primary purpose of the ”tokenization" step in the NLP pipeline?</a:t>
            </a:r>
            <a:endParaRPr/>
          </a:p>
        </p:txBody>
      </p:sp>
      <p:sp>
        <p:nvSpPr>
          <p:cNvPr id="978" name="Google Shape;978;p49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0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200"/>
              <a:buNone/>
            </a:pPr>
            <a:r>
              <a:rPr lang="en-US" sz="2200"/>
              <a:t>C</a:t>
            </a:r>
            <a:endParaRPr/>
          </a:p>
        </p:txBody>
      </p:sp>
      <p:sp>
        <p:nvSpPr>
          <p:cNvPr id="984" name="Google Shape;984;p50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Tokenization is the process of breaking text into individual words known as tokens.</a:t>
            </a:r>
            <a:endParaRPr/>
          </a:p>
        </p:txBody>
      </p:sp>
      <p:sp>
        <p:nvSpPr>
          <p:cNvPr id="985" name="Google Shape;985;p50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Analyzing the sentiment of the text</a:t>
            </a:r>
            <a:endParaRPr/>
          </a:p>
        </p:txBody>
      </p:sp>
      <p:sp>
        <p:nvSpPr>
          <p:cNvPr id="986" name="Google Shape;986;p50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Breaking text into individual words or tokens</a:t>
            </a:r>
            <a:endParaRPr/>
          </a:p>
        </p:txBody>
      </p:sp>
      <p:sp>
        <p:nvSpPr>
          <p:cNvPr id="987" name="Google Shape;987;p50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Converting text into a numerical format</a:t>
            </a:r>
            <a:endParaRPr/>
          </a:p>
        </p:txBody>
      </p:sp>
      <p:sp>
        <p:nvSpPr>
          <p:cNvPr id="988" name="Google Shape;988;p50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Identifying and extracting entities</a:t>
            </a:r>
            <a:endParaRPr/>
          </a:p>
        </p:txBody>
      </p:sp>
      <p:sp>
        <p:nvSpPr>
          <p:cNvPr id="989" name="Google Shape;989;p50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What is the primary purpose of the ”tokenization" step in the NLP pipeline?</a:t>
            </a:r>
            <a:endParaRPr/>
          </a:p>
        </p:txBody>
      </p:sp>
      <p:sp>
        <p:nvSpPr>
          <p:cNvPr id="990" name="Google Shape;990;p50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1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Named entity </a:t>
            </a:r>
            <a:r>
              <a:rPr lang="en-US"/>
              <a:t>r</a:t>
            </a:r>
            <a:r>
              <a:rPr lang="en-US" b="0" i="0"/>
              <a:t>ecognition (NER)</a:t>
            </a:r>
            <a:endParaRPr/>
          </a:p>
        </p:txBody>
      </p:sp>
      <p:sp>
        <p:nvSpPr>
          <p:cNvPr id="996" name="Google Shape;996;p51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Part-of-Speech (PoS) tagging</a:t>
            </a:r>
            <a:endParaRPr/>
          </a:p>
        </p:txBody>
      </p:sp>
      <p:sp>
        <p:nvSpPr>
          <p:cNvPr id="997" name="Google Shape;997;p51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Lemmatization</a:t>
            </a:r>
            <a:endParaRPr/>
          </a:p>
        </p:txBody>
      </p:sp>
      <p:sp>
        <p:nvSpPr>
          <p:cNvPr id="998" name="Google Shape;998;p51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 b="0" i="0"/>
              <a:t>Sentiment analysis</a:t>
            </a:r>
            <a:endParaRPr/>
          </a:p>
        </p:txBody>
      </p:sp>
      <p:sp>
        <p:nvSpPr>
          <p:cNvPr id="999" name="Google Shape;999;p51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Which component of the NLP pipeline is responsible for determining the grammatical structure of a sentence?</a:t>
            </a:r>
            <a:endParaRPr/>
          </a:p>
        </p:txBody>
      </p:sp>
      <p:sp>
        <p:nvSpPr>
          <p:cNvPr id="1000" name="Google Shape;1000;p51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2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200"/>
              <a:buNone/>
            </a:pPr>
            <a:r>
              <a:rPr lang="en-US" sz="2200"/>
              <a:t>B</a:t>
            </a:r>
            <a:endParaRPr/>
          </a:p>
        </p:txBody>
      </p:sp>
      <p:sp>
        <p:nvSpPr>
          <p:cNvPr id="1006" name="Google Shape;1006;p52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POS tagging involves assigning words in a text corpus to specific parts of speech based on their definitions and contextual usage. This helps in determining the grammatical structure of a sentence.</a:t>
            </a:r>
            <a:endParaRPr/>
          </a:p>
        </p:txBody>
      </p:sp>
      <p:sp>
        <p:nvSpPr>
          <p:cNvPr id="1007" name="Google Shape;1007;p52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Sentiment analysis</a:t>
            </a:r>
            <a:endParaRPr/>
          </a:p>
        </p:txBody>
      </p:sp>
      <p:sp>
        <p:nvSpPr>
          <p:cNvPr id="1008" name="Google Shape;1008;p52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Lemmatization</a:t>
            </a:r>
            <a:endParaRPr/>
          </a:p>
        </p:txBody>
      </p:sp>
      <p:sp>
        <p:nvSpPr>
          <p:cNvPr id="1009" name="Google Shape;1009;p52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Part-of-Speech (PoS) tagging</a:t>
            </a:r>
            <a:endParaRPr/>
          </a:p>
        </p:txBody>
      </p:sp>
      <p:sp>
        <p:nvSpPr>
          <p:cNvPr id="1010" name="Google Shape;1010;p52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Named entity </a:t>
            </a:r>
            <a:r>
              <a:rPr lang="en-US">
                <a:solidFill>
                  <a:srgbClr val="0F0F0F"/>
                </a:solidFill>
              </a:rPr>
              <a:t>r</a:t>
            </a:r>
            <a:r>
              <a:rPr lang="en-US" b="0" i="0">
                <a:solidFill>
                  <a:srgbClr val="0F0F0F"/>
                </a:solidFill>
              </a:rPr>
              <a:t>ecognition (NER)</a:t>
            </a:r>
            <a:endParaRPr/>
          </a:p>
        </p:txBody>
      </p:sp>
      <p:sp>
        <p:nvSpPr>
          <p:cNvPr id="1011" name="Google Shape;1011;p52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Which component of the NLP pipeline is responsible for determining the grammatical structure of a sentence?</a:t>
            </a:r>
            <a:endParaRPr/>
          </a:p>
        </p:txBody>
      </p:sp>
      <p:sp>
        <p:nvSpPr>
          <p:cNvPr id="1012" name="Google Shape;1012;p52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3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Analyzing the sentiment of the text</a:t>
            </a:r>
            <a:endParaRPr/>
          </a:p>
        </p:txBody>
      </p:sp>
      <p:sp>
        <p:nvSpPr>
          <p:cNvPr id="1018" name="Google Shape;1018;p53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Identifying and classifying entities such as names, locations, and organizations</a:t>
            </a:r>
            <a:endParaRPr/>
          </a:p>
        </p:txBody>
      </p:sp>
      <p:sp>
        <p:nvSpPr>
          <p:cNvPr id="1019" name="Google Shape;1019;p53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Breaking text into individual words or tokens</a:t>
            </a:r>
            <a:endParaRPr/>
          </a:p>
        </p:txBody>
      </p:sp>
      <p:sp>
        <p:nvSpPr>
          <p:cNvPr id="1020" name="Google Shape;1020;p53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Converting text into a numerical format</a:t>
            </a:r>
            <a:endParaRPr/>
          </a:p>
        </p:txBody>
      </p:sp>
      <p:sp>
        <p:nvSpPr>
          <p:cNvPr id="1021" name="Google Shape;1021;p53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In the context of the NLP pipeline, what does "Named Entity Recognition (NER)" 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focus on?</a:t>
            </a:r>
            <a:endParaRPr/>
          </a:p>
        </p:txBody>
      </p:sp>
      <p:sp>
        <p:nvSpPr>
          <p:cNvPr id="1022" name="Google Shape;1022;p53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4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200"/>
              <a:buNone/>
            </a:pPr>
            <a:r>
              <a:rPr lang="en-US" sz="2200"/>
              <a:t>B</a:t>
            </a:r>
            <a:endParaRPr/>
          </a:p>
        </p:txBody>
      </p:sp>
      <p:sp>
        <p:nvSpPr>
          <p:cNvPr id="1028" name="Google Shape;1028;p54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NER focusses on identifying and classifying entities such as names, locations, and organizations.</a:t>
            </a:r>
            <a:endParaRPr/>
          </a:p>
        </p:txBody>
      </p:sp>
      <p:sp>
        <p:nvSpPr>
          <p:cNvPr id="1029" name="Google Shape;1029;p54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Converting text into a numerical format</a:t>
            </a:r>
            <a:endParaRPr/>
          </a:p>
        </p:txBody>
      </p:sp>
      <p:sp>
        <p:nvSpPr>
          <p:cNvPr id="1030" name="Google Shape;1030;p54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Breaking text into individual words or tokens</a:t>
            </a:r>
            <a:endParaRPr/>
          </a:p>
        </p:txBody>
      </p:sp>
      <p:sp>
        <p:nvSpPr>
          <p:cNvPr id="1031" name="Google Shape;1031;p54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Identifying and classifying entities such as names, locations, and organizations</a:t>
            </a:r>
            <a:endParaRPr/>
          </a:p>
        </p:txBody>
      </p:sp>
      <p:sp>
        <p:nvSpPr>
          <p:cNvPr id="1032" name="Google Shape;1032;p54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000"/>
              <a:buNone/>
            </a:pPr>
            <a:r>
              <a:rPr lang="en-US" b="0" i="0">
                <a:solidFill>
                  <a:srgbClr val="0F0F0F"/>
                </a:solidFill>
              </a:rPr>
              <a:t>Analyzing the sentiment of the text</a:t>
            </a:r>
            <a:endParaRPr/>
          </a:p>
        </p:txBody>
      </p:sp>
      <p:sp>
        <p:nvSpPr>
          <p:cNvPr id="1033" name="Google Shape;1033;p54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In the context of the NLP pipeline, what does "Named Entity Recognition (NER)" 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focus on?</a:t>
            </a:r>
            <a:endParaRPr/>
          </a:p>
        </p:txBody>
      </p:sp>
      <p:sp>
        <p:nvSpPr>
          <p:cNvPr id="1034" name="Google Shape;1034;p54"/>
          <p:cNvSpPr txBox="1">
            <a:spLocks noGrp="1"/>
          </p:cNvSpPr>
          <p:nvPr>
            <p:ph type="body" idx="8"/>
          </p:nvPr>
        </p:nvSpPr>
        <p:spPr>
          <a:xfrm>
            <a:off x="156210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55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2932</Words>
  <Application>Microsoft Office PowerPoint</Application>
  <PresentationFormat>Custom</PresentationFormat>
  <Paragraphs>433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Open Sans</vt:lpstr>
      <vt:lpstr>Arial</vt:lpstr>
      <vt:lpstr>Calibri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NLP Pipeline</vt:lpstr>
      <vt:lpstr>PowerPoint Presentation</vt:lpstr>
      <vt:lpstr>NLP Pipeline: Data Acquisition</vt:lpstr>
      <vt:lpstr>Data Acquisition: Web Scraping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4</cp:revision>
  <dcterms:created xsi:type="dcterms:W3CDTF">2023-05-19T12:36:11Z</dcterms:created>
  <dcterms:modified xsi:type="dcterms:W3CDTF">2023-12-29T10:21:19Z</dcterms:modified>
</cp:coreProperties>
</file>